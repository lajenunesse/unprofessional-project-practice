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47"/>
  </p:handoutMasterIdLst>
  <p:sldIdLst>
    <p:sldId id="423" r:id="rId3"/>
    <p:sldId id="600" r:id="rId5"/>
    <p:sldId id="6661148" r:id="rId6"/>
    <p:sldId id="6661155" r:id="rId7"/>
    <p:sldId id="601" r:id="rId8"/>
    <p:sldId id="6661162" r:id="rId9"/>
    <p:sldId id="603" r:id="rId10"/>
    <p:sldId id="6661165" r:id="rId11"/>
    <p:sldId id="6661164" r:id="rId12"/>
    <p:sldId id="6661210" r:id="rId13"/>
    <p:sldId id="6661166" r:id="rId14"/>
    <p:sldId id="6661174" r:id="rId15"/>
    <p:sldId id="6661214" r:id="rId16"/>
    <p:sldId id="6661167" r:id="rId17"/>
    <p:sldId id="6661175" r:id="rId18"/>
    <p:sldId id="6661168" r:id="rId19"/>
    <p:sldId id="6661219" r:id="rId20"/>
    <p:sldId id="6661169" r:id="rId21"/>
    <p:sldId id="6661220" r:id="rId22"/>
    <p:sldId id="6661170" r:id="rId23"/>
    <p:sldId id="6661172" r:id="rId24"/>
    <p:sldId id="6661177" r:id="rId25"/>
    <p:sldId id="6661171" r:id="rId26"/>
    <p:sldId id="6661221" r:id="rId27"/>
    <p:sldId id="6661222" r:id="rId28"/>
    <p:sldId id="6661178" r:id="rId29"/>
    <p:sldId id="6661179" r:id="rId30"/>
    <p:sldId id="6661190" r:id="rId31"/>
    <p:sldId id="6661211" r:id="rId32"/>
    <p:sldId id="6661223" r:id="rId33"/>
    <p:sldId id="6661199" r:id="rId34"/>
    <p:sldId id="6661191" r:id="rId35"/>
    <p:sldId id="6661192" r:id="rId36"/>
    <p:sldId id="6661195" r:id="rId37"/>
    <p:sldId id="6661196" r:id="rId38"/>
    <p:sldId id="6661212" r:id="rId39"/>
    <p:sldId id="6661193" r:id="rId40"/>
    <p:sldId id="6661197" r:id="rId41"/>
    <p:sldId id="6661198" r:id="rId42"/>
    <p:sldId id="6661203" r:id="rId43"/>
    <p:sldId id="6661213" r:id="rId44"/>
    <p:sldId id="6661204" r:id="rId45"/>
    <p:sldId id="595" r:id="rId46"/>
  </p:sldIdLst>
  <p:sldSz cx="9144000" cy="5143500" type="screen16x9"/>
  <p:notesSz cx="6858000" cy="9144000"/>
  <p:custDataLst>
    <p:tags r:id="rId52"/>
  </p:custDataLst>
  <p:defaultTex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3429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685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0287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1714500" algn="l" defTabSz="685800" rtl="0" eaLnBrk="1" latinLnBrk="0" hangingPunct="1">
      <a:defRPr kern="1200">
        <a:solidFill>
          <a:schemeClr val="tx1"/>
        </a:solidFill>
        <a:latin typeface="Calibri" panose="020F0502020204030204" charset="0"/>
        <a:ea typeface="宋体" panose="02010600030101010101" pitchFamily="2" charset="-122"/>
        <a:cs typeface="+mn-cs"/>
      </a:defRPr>
    </a:lvl6pPr>
    <a:lvl7pPr marL="2057400" algn="l" defTabSz="685800" rtl="0" eaLnBrk="1" latinLnBrk="0" hangingPunct="1">
      <a:defRPr kern="1200">
        <a:solidFill>
          <a:schemeClr val="tx1"/>
        </a:solidFill>
        <a:latin typeface="Calibri" panose="020F0502020204030204" charset="0"/>
        <a:ea typeface="宋体" panose="02010600030101010101" pitchFamily="2" charset="-122"/>
        <a:cs typeface="+mn-cs"/>
      </a:defRPr>
    </a:lvl7pPr>
    <a:lvl8pPr marL="2400300" algn="l" defTabSz="685800" rtl="0" eaLnBrk="1" latinLnBrk="0" hangingPunct="1">
      <a:defRPr kern="1200">
        <a:solidFill>
          <a:schemeClr val="tx1"/>
        </a:solidFill>
        <a:latin typeface="Calibri" panose="020F0502020204030204" charset="0"/>
        <a:ea typeface="宋体" panose="02010600030101010101" pitchFamily="2" charset="-122"/>
        <a:cs typeface="+mn-cs"/>
      </a:defRPr>
    </a:lvl8pPr>
    <a:lvl9pPr marL="2743200" algn="l" defTabSz="685800" rtl="0" eaLnBrk="1" latinLnBrk="0" hangingPunct="1">
      <a:defRPr kern="1200">
        <a:solidFill>
          <a:schemeClr val="tx1"/>
        </a:solidFill>
        <a:latin typeface="Calibri" panose="020F050202020403020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4" userDrawn="1">
          <p15:clr>
            <a:srgbClr val="A4A3A4"/>
          </p15:clr>
        </p15:guide>
        <p15:guide id="5" pos="4182" userDrawn="1">
          <p15:clr>
            <a:srgbClr val="A4A3A4"/>
          </p15:clr>
        </p15:guide>
        <p15:guide id="3" orient="horz" pos="2945" userDrawn="1">
          <p15:clr>
            <a:srgbClr val="A4A3A4"/>
          </p15:clr>
        </p15:guide>
        <p15:guide id="4" pos="381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 YG" initials="W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7DFF"/>
    <a:srgbClr val="3AFF24"/>
    <a:srgbClr val="2473D4"/>
    <a:srgbClr val="A934EA"/>
    <a:srgbClr val="39F024"/>
    <a:srgbClr val="3AFD24"/>
    <a:srgbClr val="EB8642"/>
    <a:srgbClr val="38B92A"/>
    <a:srgbClr val="38FF22"/>
    <a:srgbClr val="38F0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757" autoAdjust="0"/>
    <p:restoredTop sz="81181" autoAdjust="0"/>
  </p:normalViewPr>
  <p:slideViewPr>
    <p:cSldViewPr snapToGrid="0" showGuides="1">
      <p:cViewPr>
        <p:scale>
          <a:sx n="112" d="100"/>
          <a:sy n="112" d="100"/>
        </p:scale>
        <p:origin x="186" y="360"/>
      </p:cViewPr>
      <p:guideLst>
        <p:guide orient="horz" pos="2154"/>
        <p:guide pos="4182"/>
        <p:guide orient="horz" pos="2945"/>
        <p:guide pos="3818"/>
      </p:guideLst>
    </p:cSldViewPr>
  </p:slideViewPr>
  <p:notesTextViewPr>
    <p:cViewPr>
      <p:scale>
        <a:sx n="100" d="100"/>
        <a:sy n="100" d="100"/>
      </p:scale>
      <p:origin x="0" y="0"/>
    </p:cViewPr>
  </p:notesTextViewPr>
  <p:sorterViewPr>
    <p:cViewPr>
      <p:scale>
        <a:sx n="100" d="100"/>
        <a:sy n="100" d="100"/>
      </p:scale>
      <p:origin x="0" y="-5549"/>
    </p:cViewPr>
  </p:sorterViewPr>
  <p:notesViewPr>
    <p:cSldViewPr snapToGrid="0">
      <p:cViewPr varScale="1">
        <p:scale>
          <a:sx n="80" d="100"/>
          <a:sy n="80" d="100"/>
        </p:scale>
        <p:origin x="2727" y="39"/>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gs" Target="tags/tag14.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kumimoji="1" sz="1200">
                <a:latin typeface="Calibri" panose="020F050202020403020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kumimoji="1" sz="1200">
                <a:latin typeface="Calibri" panose="020F0502020204030204" charset="0"/>
                <a:ea typeface="宋体" panose="02010600030101010101" pitchFamily="2" charset="-122"/>
              </a:defRPr>
            </a:lvl1pPr>
          </a:lstStyle>
          <a:p>
            <a:pPr>
              <a:defRPr/>
            </a:pPr>
            <a:fld id="{52E2A184-F121-1047-8EE2-16CE569B1E91}" type="datetimeFigureOut">
              <a:rPr lang="zh-CN" altLang="en-US"/>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kumimoji="1" sz="1200">
                <a:latin typeface="Calibri" panose="020F0502020204030204" charset="0"/>
                <a:ea typeface="宋体" panose="02010600030101010101" pitchFamily="2" charset="-122"/>
              </a:defRPr>
            </a:lvl1pPr>
          </a:lstStyle>
          <a:p>
            <a:pPr>
              <a:defRPr/>
            </a:pPr>
            <a:endParaRPr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kumimoji="1" sz="1200">
                <a:latin typeface="Calibri" panose="020F0502020204030204" charset="0"/>
                <a:ea typeface="宋体" panose="02010600030101010101" pitchFamily="2" charset="-122"/>
              </a:defRPr>
            </a:lvl1pPr>
          </a:lstStyle>
          <a:p>
            <a:pPr>
              <a:defRPr/>
            </a:pPr>
            <a:fld id="{7B5E0062-7739-D649-9234-308A3868690F}"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0" hangingPunct="0">
              <a:defRPr sz="1200">
                <a:latin typeface="Calibri" panose="020F050202020403020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0" hangingPunct="0">
              <a:defRPr sz="1200">
                <a:latin typeface="Calibri" panose="020F0502020204030204" charset="0"/>
                <a:ea typeface="宋体" panose="02010600030101010101" pitchFamily="2" charset="-122"/>
              </a:defRPr>
            </a:lvl1pPr>
          </a:lstStyle>
          <a:p>
            <a:pPr>
              <a:defRPr/>
            </a:pPr>
            <a:fld id="{14068CC4-66C6-444B-AE35-DDB0F6141FAF}"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0" hangingPunct="0">
              <a:defRPr sz="1200">
                <a:latin typeface="Calibri" panose="020F050202020403020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eaLnBrk="0" hangingPunct="0">
              <a:defRPr sz="1200">
                <a:latin typeface="Calibri" panose="020F0502020204030204" charset="0"/>
                <a:ea typeface="宋体" panose="02010600030101010101" pitchFamily="2" charset="-122"/>
              </a:defRPr>
            </a:lvl1pPr>
          </a:lstStyle>
          <a:p>
            <a:pPr>
              <a:defRPr/>
            </a:pPr>
            <a:fld id="{CA68A802-B4B4-F544-815E-49C885221089}"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mn-lt"/>
        <a:ea typeface="+mn-ea"/>
        <a:cs typeface="+mn-cs"/>
      </a:defRPr>
    </a:lvl1pPr>
    <a:lvl2pPr marL="342900" algn="l" rtl="0" eaLnBrk="0" fontAlgn="base" hangingPunct="0">
      <a:spcBef>
        <a:spcPct val="30000"/>
      </a:spcBef>
      <a:spcAft>
        <a:spcPct val="0"/>
      </a:spcAft>
      <a:defRPr sz="900" kern="1200">
        <a:solidFill>
          <a:schemeClr val="tx1"/>
        </a:solidFill>
        <a:latin typeface="+mn-lt"/>
        <a:ea typeface="+mn-ea"/>
        <a:cs typeface="+mn-cs"/>
      </a:defRPr>
    </a:lvl2pPr>
    <a:lvl3pPr marL="685800" algn="l" rtl="0" eaLnBrk="0" fontAlgn="base" hangingPunct="0">
      <a:spcBef>
        <a:spcPct val="30000"/>
      </a:spcBef>
      <a:spcAft>
        <a:spcPct val="0"/>
      </a:spcAft>
      <a:defRPr sz="900" kern="1200">
        <a:solidFill>
          <a:schemeClr val="tx1"/>
        </a:solidFill>
        <a:latin typeface="+mn-lt"/>
        <a:ea typeface="+mn-ea"/>
        <a:cs typeface="+mn-cs"/>
      </a:defRPr>
    </a:lvl3pPr>
    <a:lvl4pPr marL="1028700" algn="l" rtl="0" eaLnBrk="0" fontAlgn="base" hangingPunct="0">
      <a:spcBef>
        <a:spcPct val="30000"/>
      </a:spcBef>
      <a:spcAft>
        <a:spcPct val="0"/>
      </a:spcAft>
      <a:defRPr sz="900" kern="1200">
        <a:solidFill>
          <a:schemeClr val="tx1"/>
        </a:solidFill>
        <a:latin typeface="+mn-lt"/>
        <a:ea typeface="+mn-ea"/>
        <a:cs typeface="+mn-cs"/>
      </a:defRPr>
    </a:lvl4pPr>
    <a:lvl5pPr marL="1371600" algn="l" rtl="0" eaLnBrk="0" fontAlgn="base" hangingPunct="0">
      <a:spcBef>
        <a:spcPct val="30000"/>
      </a:spcBef>
      <a:spcAft>
        <a:spcPct val="0"/>
      </a:spcAft>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大家好，欢迎大家学习：深度学习原理与应用课程，今天是我们的内容是第二章卷积神经网络</a:t>
            </a:r>
            <a:r>
              <a:rPr lang="en-US" altLang="zh-CN" dirty="0" smtClean="0"/>
              <a:t>CNN</a:t>
            </a:r>
            <a:r>
              <a:rPr lang="zh-CN" altLang="en-US" dirty="0" smtClean="0"/>
              <a:t>，基于</a:t>
            </a:r>
            <a:r>
              <a:rPr lang="en-US" altLang="zh-CN" dirty="0" smtClean="0"/>
              <a:t>CNN</a:t>
            </a:r>
            <a:r>
              <a:rPr lang="zh-CN" altLang="en-US" dirty="0" smtClean="0"/>
              <a:t>实现猫狗识别。</a:t>
            </a:r>
            <a:endParaRPr lang="zh-CN" altLang="en-US"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900" kern="1200" dirty="0" smtClean="0">
                <a:solidFill>
                  <a:schemeClr val="tx1"/>
                </a:solidFill>
                <a:effectLst/>
                <a:latin typeface="+mn-lt"/>
                <a:ea typeface="+mn-ea"/>
                <a:cs typeface="+mn-cs"/>
              </a:rPr>
              <a:t>接下来我们来看今天的内容：本章内容分为</a:t>
            </a:r>
            <a:r>
              <a:rPr lang="en-US" altLang="zh-CN" sz="900" kern="1200" dirty="0" smtClean="0">
                <a:solidFill>
                  <a:schemeClr val="tx1"/>
                </a:solidFill>
                <a:effectLst/>
                <a:latin typeface="+mn-lt"/>
                <a:ea typeface="+mn-ea"/>
                <a:cs typeface="+mn-cs"/>
              </a:rPr>
              <a:t>5</a:t>
            </a:r>
            <a:r>
              <a:rPr lang="zh-CN" altLang="zh-CN" sz="900" kern="1200" dirty="0" smtClean="0">
                <a:solidFill>
                  <a:schemeClr val="tx1"/>
                </a:solidFill>
                <a:effectLst/>
                <a:latin typeface="+mn-lt"/>
                <a:ea typeface="+mn-ea"/>
                <a:cs typeface="+mn-cs"/>
              </a:rPr>
              <a:t>个小节，首先认识人或动物视觉感知系统是如何感知图像的</a:t>
            </a:r>
            <a:r>
              <a:rPr lang="en-US" altLang="zh-CN" sz="900" kern="1200" dirty="0" smtClean="0">
                <a:solidFill>
                  <a:schemeClr val="tx1"/>
                </a:solidFill>
                <a:effectLst/>
                <a:latin typeface="+mn-lt"/>
                <a:ea typeface="+mn-ea"/>
                <a:cs typeface="+mn-cs"/>
              </a:rPr>
              <a:t>,</a:t>
            </a:r>
            <a:r>
              <a:rPr lang="zh-CN" altLang="zh-CN" sz="900" kern="1200" dirty="0" smtClean="0">
                <a:solidFill>
                  <a:schemeClr val="tx1"/>
                </a:solidFill>
                <a:effectLst/>
                <a:latin typeface="+mn-lt"/>
                <a:ea typeface="+mn-ea"/>
                <a:cs typeface="+mn-cs"/>
              </a:rPr>
              <a:t>然后了解计算机如何实现图片表达，最后我们介绍卷积神经网络模拟视觉过程，学习相关概念：卷积、池化、全链接、并通过代码实现网络模型完成猫狗的识别</a:t>
            </a:r>
            <a:endParaRPr lang="zh-CN" altLang="zh-CN" sz="900" kern="1200" dirty="0" smtClean="0">
              <a:solidFill>
                <a:schemeClr val="tx1"/>
              </a:solidFill>
              <a:effectLst/>
              <a:latin typeface="+mn-lt"/>
              <a:ea typeface="+mn-ea"/>
              <a:cs typeface="+mn-cs"/>
            </a:endParaRPr>
          </a:p>
          <a:p>
            <a:r>
              <a:rPr lang="en-US" altLang="zh-CN" sz="900" kern="1200" dirty="0" smtClean="0">
                <a:solidFill>
                  <a:schemeClr val="tx1"/>
                </a:solidFill>
                <a:effectLst/>
                <a:latin typeface="+mn-lt"/>
                <a:ea typeface="+mn-ea"/>
                <a:cs typeface="+mn-cs"/>
              </a:rPr>
              <a:t> </a:t>
            </a:r>
            <a:endParaRPr lang="zh-CN" altLang="zh-CN" sz="9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0388362F-9F43-4429-AF5E-7A10B403247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900" kern="1200" dirty="0" smtClean="0">
                <a:solidFill>
                  <a:schemeClr val="tx1"/>
                </a:solidFill>
                <a:effectLst/>
                <a:latin typeface="+mn-lt"/>
                <a:ea typeface="+mn-ea"/>
                <a:cs typeface="+mn-cs"/>
              </a:rPr>
              <a:t>学习知识的第一步就是明确任务，清楚该知识的输入输出。卷积神经网络模拟的是哺乳动物的视觉皮层组织神经元之间的连接。首先我们来看画面识别的实质是什么，从图中可以看到苍蝇看到的画面和人看到的画面区别是很大的，会更加模糊，只能看到物体的大致轮廓。</a:t>
            </a:r>
            <a:endParaRPr lang="zh-CN" altLang="zh-CN" sz="900" kern="1200" dirty="0" smtClean="0">
              <a:solidFill>
                <a:schemeClr val="tx1"/>
              </a:solidFill>
              <a:effectLst/>
              <a:latin typeface="+mn-lt"/>
              <a:ea typeface="+mn-ea"/>
              <a:cs typeface="+mn-cs"/>
            </a:endParaRPr>
          </a:p>
          <a:p>
            <a:r>
              <a:rPr lang="en-US" altLang="zh-CN" sz="900" kern="1200" dirty="0" smtClean="0">
                <a:solidFill>
                  <a:schemeClr val="tx1"/>
                </a:solidFill>
                <a:effectLst/>
                <a:latin typeface="+mn-lt"/>
                <a:ea typeface="+mn-ea"/>
                <a:cs typeface="+mn-cs"/>
              </a:rPr>
              <a:t> </a:t>
            </a:r>
            <a:endParaRPr lang="zh-CN" altLang="zh-CN" sz="9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smtClean="0">
                <a:solidFill>
                  <a:schemeClr val="tx1"/>
                </a:solidFill>
                <a:effectLst/>
                <a:latin typeface="+mj-ea"/>
                <a:ea typeface="+mn-ea"/>
                <a:cs typeface="+mn-cs"/>
              </a:rPr>
              <a:t>接着我们看蛇这张图上蛇的视角。同样可以看出其和人类的视角观察外界有很大差别，通过上面的两组对比图可以知道，即使是相同的图片经过不同的视觉系统，也会得到不同的感知。</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900" kern="1200" dirty="0" smtClean="0">
                <a:solidFill>
                  <a:schemeClr val="tx1"/>
                </a:solidFill>
                <a:effectLst/>
                <a:latin typeface="+mn-lt"/>
                <a:ea typeface="+mn-ea"/>
                <a:cs typeface="+mn-cs"/>
              </a:rPr>
              <a:t>所以我们需要知道，对于事物的判别，不同的系统有不同的判断结果。但是任何视觉系统都是将图像反光与脑中的概念进行关联，最后辨别出这个画面中的物体是什么的。</a:t>
            </a:r>
            <a:endParaRPr lang="zh-CN" altLang="zh-CN" sz="900" kern="1200" dirty="0" smtClean="0">
              <a:solidFill>
                <a:schemeClr val="tx1"/>
              </a:solidFill>
              <a:effectLst/>
              <a:latin typeface="+mn-lt"/>
              <a:ea typeface="+mn-ea"/>
              <a:cs typeface="+mn-cs"/>
            </a:endParaRPr>
          </a:p>
          <a:p>
            <a:r>
              <a:rPr lang="zh-CN" altLang="zh-CN" sz="900" kern="1200" dirty="0" smtClean="0">
                <a:solidFill>
                  <a:schemeClr val="tx1"/>
                </a:solidFill>
                <a:effectLst/>
                <a:latin typeface="+mn-lt"/>
                <a:ea typeface="+mn-ea"/>
                <a:cs typeface="+mn-cs"/>
              </a:rPr>
              <a:t>所以图像识别的本质并非识别这个东西客观是什么，而是寻找与人类的视觉关联方式，并再次应用。如果我们不是人类，而是从蛇的视角观察，那么画面最终关联的概念就和现在就不一样了。</a:t>
            </a:r>
            <a:endParaRPr lang="zh-CN" altLang="zh-CN" sz="900" kern="1200" dirty="0" smtClean="0">
              <a:solidFill>
                <a:schemeClr val="tx1"/>
              </a:solidFill>
              <a:effectLst/>
              <a:latin typeface="+mn-lt"/>
              <a:ea typeface="+mn-ea"/>
              <a:cs typeface="+mn-cs"/>
            </a:endParaRPr>
          </a:p>
          <a:p>
            <a:r>
              <a:rPr lang="zh-CN" altLang="zh-CN" sz="900" kern="1200" dirty="0" smtClean="0">
                <a:solidFill>
                  <a:schemeClr val="tx1"/>
                </a:solidFill>
                <a:effectLst/>
                <a:latin typeface="+mn-lt"/>
                <a:ea typeface="+mn-ea"/>
                <a:cs typeface="+mn-cs"/>
              </a:rPr>
              <a:t>我们需要理解一个概念：画面识别实际上是寻找人类视觉关联方式，并再次使用。这里的视觉系统主体是我们人类才能这么说。</a:t>
            </a:r>
            <a:endParaRPr lang="zh-CN" altLang="zh-CN" sz="9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上节我们学习了视觉感知的过程，这节我们一块学习计算机是如何表达、存储图片的。</a:t>
            </a:r>
            <a:endParaRPr lang="zh-CN" altLang="en-US"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那我们定义了识别图像的本质据说找到一种视觉的关联方式，接下来我们将学习怎么去构建这个识别方式，也就是通过卷积搭建这个视觉系统。首先图像在计算机中是一堆按顺序排列的数字，对于黑白照片，每一个像素点只有一个只，数值为</a:t>
            </a:r>
            <a:r>
              <a:rPr lang="en-US" altLang="zh-CN" sz="1200" b="0" i="0" kern="1200" dirty="0">
                <a:solidFill>
                  <a:schemeClr val="tx1"/>
                </a:solidFill>
                <a:effectLst/>
                <a:latin typeface="+mj-ea"/>
                <a:ea typeface="+mn-ea"/>
                <a:cs typeface="+mn-cs"/>
              </a:rPr>
              <a:t>0</a:t>
            </a:r>
            <a:r>
              <a:rPr lang="zh-CN" altLang="en-US" sz="1200" b="0" i="0" kern="1200" dirty="0">
                <a:solidFill>
                  <a:schemeClr val="tx1"/>
                </a:solidFill>
                <a:effectLst/>
                <a:latin typeface="+mj-ea"/>
                <a:ea typeface="+mn-ea"/>
                <a:cs typeface="+mn-cs"/>
              </a:rPr>
              <a:t>到</a:t>
            </a:r>
            <a:r>
              <a:rPr lang="en-US" altLang="zh-CN" sz="1200" b="0" i="0" kern="1200" dirty="0">
                <a:solidFill>
                  <a:schemeClr val="tx1"/>
                </a:solidFill>
                <a:effectLst/>
                <a:latin typeface="+mj-ea"/>
                <a:ea typeface="+mn-ea"/>
                <a:cs typeface="+mn-cs"/>
              </a:rPr>
              <a:t>255</a:t>
            </a:r>
            <a:r>
              <a:rPr lang="zh-CN" altLang="en-US" sz="1200" b="0" i="0" kern="1200" dirty="0">
                <a:solidFill>
                  <a:schemeClr val="tx1"/>
                </a:solidFill>
                <a:effectLst/>
                <a:latin typeface="+mj-ea"/>
                <a:ea typeface="+mn-ea"/>
                <a:cs typeface="+mn-cs"/>
              </a:rPr>
              <a:t>。</a:t>
            </a:r>
            <a:r>
              <a:rPr lang="en-US" altLang="zh-CN" sz="1200" b="0" i="0" kern="1200" dirty="0">
                <a:solidFill>
                  <a:schemeClr val="tx1"/>
                </a:solidFill>
                <a:effectLst/>
                <a:latin typeface="+mj-ea"/>
                <a:ea typeface="+mn-ea"/>
                <a:cs typeface="+mn-cs"/>
              </a:rPr>
              <a:t>0</a:t>
            </a:r>
            <a:r>
              <a:rPr lang="zh-CN" altLang="en-US" sz="1200" b="0" i="0" kern="1200" dirty="0">
                <a:solidFill>
                  <a:schemeClr val="tx1"/>
                </a:solidFill>
                <a:effectLst/>
                <a:latin typeface="+mj-ea"/>
                <a:ea typeface="+mn-ea"/>
                <a:cs typeface="+mn-cs"/>
              </a:rPr>
              <a:t>表示最暗，</a:t>
            </a:r>
            <a:r>
              <a:rPr lang="en-US" altLang="zh-CN" sz="1200" b="0" i="0" kern="1200" dirty="0">
                <a:solidFill>
                  <a:schemeClr val="tx1"/>
                </a:solidFill>
                <a:effectLst/>
                <a:latin typeface="+mj-ea"/>
                <a:ea typeface="+mn-ea"/>
                <a:cs typeface="+mn-cs"/>
              </a:rPr>
              <a:t>255</a:t>
            </a:r>
            <a:r>
              <a:rPr lang="zh-CN" altLang="en-US" sz="1200" b="0" i="0" kern="1200" dirty="0">
                <a:solidFill>
                  <a:schemeClr val="tx1"/>
                </a:solidFill>
                <a:effectLst/>
                <a:latin typeface="+mj-ea"/>
                <a:ea typeface="+mn-ea"/>
                <a:cs typeface="+mn-cs"/>
              </a:rPr>
              <a:t>表示最亮。左图就是是灰白颜色的灰度图。若为彩色的，每个点就有三个像素值</a:t>
            </a:r>
            <a:r>
              <a:rPr lang="en-US" altLang="zh-CN" sz="1200" b="0" i="0" kern="1200" dirty="0">
                <a:solidFill>
                  <a:schemeClr val="tx1"/>
                </a:solidFill>
                <a:effectLst/>
                <a:latin typeface="+mj-ea"/>
                <a:ea typeface="+mn-ea"/>
                <a:cs typeface="+mn-cs"/>
              </a:rPr>
              <a:t>RGB,</a:t>
            </a:r>
            <a:r>
              <a:rPr lang="zh-CN" altLang="en-US" sz="1200" b="0" i="0" kern="1200" dirty="0">
                <a:solidFill>
                  <a:schemeClr val="tx1"/>
                </a:solidFill>
                <a:effectLst/>
                <a:latin typeface="+mj-ea"/>
                <a:ea typeface="+mn-ea"/>
                <a:cs typeface="+mn-cs"/>
              </a:rPr>
              <a:t>右侧图片表达方式是</a:t>
            </a:r>
            <a:r>
              <a:rPr lang="en-US" altLang="zh-CN" sz="1200" b="0" i="0" kern="1200" dirty="0">
                <a:solidFill>
                  <a:schemeClr val="tx1"/>
                </a:solidFill>
                <a:effectLst/>
                <a:latin typeface="+mj-ea"/>
                <a:ea typeface="+mn-ea"/>
                <a:cs typeface="+mn-cs"/>
              </a:rPr>
              <a:t>RGB</a:t>
            </a:r>
            <a:r>
              <a:rPr lang="zh-CN" altLang="en-US" sz="1200" b="0" i="0" kern="1200" dirty="0">
                <a:solidFill>
                  <a:schemeClr val="tx1"/>
                </a:solidFill>
                <a:effectLst/>
                <a:latin typeface="+mj-ea"/>
                <a:ea typeface="+mn-ea"/>
                <a:cs typeface="+mn-cs"/>
              </a:rPr>
              <a:t>颜色模型，既红（</a:t>
            </a:r>
            <a:r>
              <a:rPr lang="en-US" altLang="zh-CN" sz="1200" b="0" i="0" kern="1200" dirty="0">
                <a:solidFill>
                  <a:schemeClr val="tx1"/>
                </a:solidFill>
                <a:effectLst/>
                <a:latin typeface="+mj-ea"/>
                <a:ea typeface="+mn-ea"/>
                <a:cs typeface="+mn-cs"/>
              </a:rPr>
              <a:t>Red</a:t>
            </a:r>
            <a:r>
              <a:rPr lang="zh-CN" altLang="en-US" sz="1200" b="0" i="0" kern="1200" dirty="0">
                <a:solidFill>
                  <a:schemeClr val="tx1"/>
                </a:solidFill>
                <a:effectLst/>
                <a:latin typeface="+mj-ea"/>
                <a:ea typeface="+mn-ea"/>
                <a:cs typeface="+mn-cs"/>
              </a:rPr>
              <a:t>）、绿（</a:t>
            </a:r>
            <a:r>
              <a:rPr lang="en-US" altLang="zh-CN" sz="1200" b="0" i="0" kern="1200" dirty="0">
                <a:solidFill>
                  <a:schemeClr val="tx1"/>
                </a:solidFill>
                <a:effectLst/>
                <a:latin typeface="+mj-ea"/>
                <a:ea typeface="+mn-ea"/>
                <a:cs typeface="+mn-cs"/>
              </a:rPr>
              <a:t>Green</a:t>
            </a:r>
            <a:r>
              <a:rPr lang="zh-CN" altLang="en-US" sz="1200" b="0" i="0" kern="1200" dirty="0">
                <a:solidFill>
                  <a:schemeClr val="tx1"/>
                </a:solidFill>
                <a:effectLst/>
                <a:latin typeface="+mj-ea"/>
                <a:ea typeface="+mn-ea"/>
                <a:cs typeface="+mn-cs"/>
              </a:rPr>
              <a:t>）、蓝（</a:t>
            </a:r>
            <a:r>
              <a:rPr lang="en-US" altLang="zh-CN" sz="1200" b="0" i="0" kern="1200" dirty="0">
                <a:solidFill>
                  <a:schemeClr val="tx1"/>
                </a:solidFill>
                <a:effectLst/>
                <a:latin typeface="+mj-ea"/>
                <a:ea typeface="+mn-ea"/>
                <a:cs typeface="+mn-cs"/>
              </a:rPr>
              <a:t>Blue</a:t>
            </a:r>
            <a:r>
              <a:rPr lang="zh-CN" altLang="en-US" sz="1200" b="0" i="0" kern="1200" dirty="0">
                <a:solidFill>
                  <a:schemeClr val="tx1"/>
                </a:solidFill>
                <a:effectLst/>
                <a:latin typeface="+mj-ea"/>
                <a:ea typeface="+mn-ea"/>
                <a:cs typeface="+mn-cs"/>
              </a:rPr>
              <a:t>）</a:t>
            </a:r>
            <a:r>
              <a:rPr lang="en-US" altLang="zh-CN" sz="1200" b="0" i="0" kern="1200" dirty="0">
                <a:solidFill>
                  <a:schemeClr val="tx1"/>
                </a:solidFill>
                <a:effectLst/>
                <a:latin typeface="+mj-ea"/>
                <a:ea typeface="+mn-ea"/>
                <a:cs typeface="+mn-cs"/>
              </a:rPr>
              <a:t>3</a:t>
            </a:r>
            <a:r>
              <a:rPr lang="zh-CN" altLang="en-US" sz="1200" b="0" i="0" kern="1200" dirty="0">
                <a:solidFill>
                  <a:schemeClr val="tx1"/>
                </a:solidFill>
                <a:effectLst/>
                <a:latin typeface="+mj-ea"/>
                <a:ea typeface="+mn-ea"/>
                <a:cs typeface="+mn-cs"/>
              </a:rPr>
              <a:t>通道的彩色图，这里通道我们称之为核。</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那我们定义了识别图像的本质据说找到一种视觉的关联方式，接下来我们将学习怎么去构建这个识别方式，也就是通过卷积搭建这个视觉系统。首先图像在计算机中是一堆按顺序排列的数字，对于黑白照片，每一个像素点只有一个只，数值为</a:t>
            </a:r>
            <a:r>
              <a:rPr lang="en-US" altLang="zh-CN" sz="1200" b="0" i="0" kern="1200" dirty="0">
                <a:solidFill>
                  <a:schemeClr val="tx1"/>
                </a:solidFill>
                <a:effectLst/>
                <a:latin typeface="+mj-ea"/>
                <a:ea typeface="+mn-ea"/>
                <a:cs typeface="+mn-cs"/>
              </a:rPr>
              <a:t>0</a:t>
            </a:r>
            <a:r>
              <a:rPr lang="zh-CN" altLang="en-US" sz="1200" b="0" i="0" kern="1200" dirty="0">
                <a:solidFill>
                  <a:schemeClr val="tx1"/>
                </a:solidFill>
                <a:effectLst/>
                <a:latin typeface="+mj-ea"/>
                <a:ea typeface="+mn-ea"/>
                <a:cs typeface="+mn-cs"/>
              </a:rPr>
              <a:t>到</a:t>
            </a:r>
            <a:r>
              <a:rPr lang="en-US" altLang="zh-CN" sz="1200" b="0" i="0" kern="1200" dirty="0">
                <a:solidFill>
                  <a:schemeClr val="tx1"/>
                </a:solidFill>
                <a:effectLst/>
                <a:latin typeface="+mj-ea"/>
                <a:ea typeface="+mn-ea"/>
                <a:cs typeface="+mn-cs"/>
              </a:rPr>
              <a:t>255</a:t>
            </a:r>
            <a:r>
              <a:rPr lang="zh-CN" altLang="en-US" sz="1200" b="0" i="0" kern="1200" dirty="0">
                <a:solidFill>
                  <a:schemeClr val="tx1"/>
                </a:solidFill>
                <a:effectLst/>
                <a:latin typeface="+mj-ea"/>
                <a:ea typeface="+mn-ea"/>
                <a:cs typeface="+mn-cs"/>
              </a:rPr>
              <a:t>。</a:t>
            </a:r>
            <a:r>
              <a:rPr lang="en-US" altLang="zh-CN" sz="1200" b="0" i="0" kern="1200" dirty="0">
                <a:solidFill>
                  <a:schemeClr val="tx1"/>
                </a:solidFill>
                <a:effectLst/>
                <a:latin typeface="+mj-ea"/>
                <a:ea typeface="+mn-ea"/>
                <a:cs typeface="+mn-cs"/>
              </a:rPr>
              <a:t>0</a:t>
            </a:r>
            <a:r>
              <a:rPr lang="zh-CN" altLang="en-US" sz="1200" b="0" i="0" kern="1200" dirty="0">
                <a:solidFill>
                  <a:schemeClr val="tx1"/>
                </a:solidFill>
                <a:effectLst/>
                <a:latin typeface="+mj-ea"/>
                <a:ea typeface="+mn-ea"/>
                <a:cs typeface="+mn-cs"/>
              </a:rPr>
              <a:t>表示最暗，</a:t>
            </a:r>
            <a:r>
              <a:rPr lang="en-US" altLang="zh-CN" sz="1200" b="0" i="0" kern="1200" dirty="0">
                <a:solidFill>
                  <a:schemeClr val="tx1"/>
                </a:solidFill>
                <a:effectLst/>
                <a:latin typeface="+mj-ea"/>
                <a:ea typeface="+mn-ea"/>
                <a:cs typeface="+mn-cs"/>
              </a:rPr>
              <a:t>255</a:t>
            </a:r>
            <a:r>
              <a:rPr lang="zh-CN" altLang="en-US" sz="1200" b="0" i="0" kern="1200" dirty="0">
                <a:solidFill>
                  <a:schemeClr val="tx1"/>
                </a:solidFill>
                <a:effectLst/>
                <a:latin typeface="+mj-ea"/>
                <a:ea typeface="+mn-ea"/>
                <a:cs typeface="+mn-cs"/>
              </a:rPr>
              <a:t>表示最亮。左图就是是灰白颜色的灰度图。若为彩色的，每个点就有三个像素值</a:t>
            </a:r>
            <a:r>
              <a:rPr lang="en-US" altLang="zh-CN" sz="1200" b="0" i="0" kern="1200" dirty="0">
                <a:solidFill>
                  <a:schemeClr val="tx1"/>
                </a:solidFill>
                <a:effectLst/>
                <a:latin typeface="+mj-ea"/>
                <a:ea typeface="+mn-ea"/>
                <a:cs typeface="+mn-cs"/>
              </a:rPr>
              <a:t>RGB,</a:t>
            </a:r>
            <a:r>
              <a:rPr lang="zh-CN" altLang="en-US" sz="1200" b="0" i="0" kern="1200" dirty="0">
                <a:solidFill>
                  <a:schemeClr val="tx1"/>
                </a:solidFill>
                <a:effectLst/>
                <a:latin typeface="+mj-ea"/>
                <a:ea typeface="+mn-ea"/>
                <a:cs typeface="+mn-cs"/>
              </a:rPr>
              <a:t>右侧图片表达方式是</a:t>
            </a:r>
            <a:r>
              <a:rPr lang="en-US" altLang="zh-CN" sz="1200" b="0" i="0" kern="1200" dirty="0">
                <a:solidFill>
                  <a:schemeClr val="tx1"/>
                </a:solidFill>
                <a:effectLst/>
                <a:latin typeface="+mj-ea"/>
                <a:ea typeface="+mn-ea"/>
                <a:cs typeface="+mn-cs"/>
              </a:rPr>
              <a:t>RGB</a:t>
            </a:r>
            <a:r>
              <a:rPr lang="zh-CN" altLang="en-US" sz="1200" b="0" i="0" kern="1200" dirty="0">
                <a:solidFill>
                  <a:schemeClr val="tx1"/>
                </a:solidFill>
                <a:effectLst/>
                <a:latin typeface="+mj-ea"/>
                <a:ea typeface="+mn-ea"/>
                <a:cs typeface="+mn-cs"/>
              </a:rPr>
              <a:t>颜色模型，既红（</a:t>
            </a:r>
            <a:r>
              <a:rPr lang="en-US" altLang="zh-CN" sz="1200" b="0" i="0" kern="1200" dirty="0">
                <a:solidFill>
                  <a:schemeClr val="tx1"/>
                </a:solidFill>
                <a:effectLst/>
                <a:latin typeface="+mj-ea"/>
                <a:ea typeface="+mn-ea"/>
                <a:cs typeface="+mn-cs"/>
              </a:rPr>
              <a:t>Red</a:t>
            </a:r>
            <a:r>
              <a:rPr lang="zh-CN" altLang="en-US" sz="1200" b="0" i="0" kern="1200" dirty="0">
                <a:solidFill>
                  <a:schemeClr val="tx1"/>
                </a:solidFill>
                <a:effectLst/>
                <a:latin typeface="+mj-ea"/>
                <a:ea typeface="+mn-ea"/>
                <a:cs typeface="+mn-cs"/>
              </a:rPr>
              <a:t>）、绿（</a:t>
            </a:r>
            <a:r>
              <a:rPr lang="en-US" altLang="zh-CN" sz="1200" b="0" i="0" kern="1200" dirty="0">
                <a:solidFill>
                  <a:schemeClr val="tx1"/>
                </a:solidFill>
                <a:effectLst/>
                <a:latin typeface="+mj-ea"/>
                <a:ea typeface="+mn-ea"/>
                <a:cs typeface="+mn-cs"/>
              </a:rPr>
              <a:t>Green</a:t>
            </a:r>
            <a:r>
              <a:rPr lang="zh-CN" altLang="en-US" sz="1200" b="0" i="0" kern="1200" dirty="0">
                <a:solidFill>
                  <a:schemeClr val="tx1"/>
                </a:solidFill>
                <a:effectLst/>
                <a:latin typeface="+mj-ea"/>
                <a:ea typeface="+mn-ea"/>
                <a:cs typeface="+mn-cs"/>
              </a:rPr>
              <a:t>）、蓝（</a:t>
            </a:r>
            <a:r>
              <a:rPr lang="en-US" altLang="zh-CN" sz="1200" b="0" i="0" kern="1200" dirty="0">
                <a:solidFill>
                  <a:schemeClr val="tx1"/>
                </a:solidFill>
                <a:effectLst/>
                <a:latin typeface="+mj-ea"/>
                <a:ea typeface="+mn-ea"/>
                <a:cs typeface="+mn-cs"/>
              </a:rPr>
              <a:t>Blue</a:t>
            </a:r>
            <a:r>
              <a:rPr lang="zh-CN" altLang="en-US" sz="1200" b="0" i="0" kern="1200" dirty="0">
                <a:solidFill>
                  <a:schemeClr val="tx1"/>
                </a:solidFill>
                <a:effectLst/>
                <a:latin typeface="+mj-ea"/>
                <a:ea typeface="+mn-ea"/>
                <a:cs typeface="+mn-cs"/>
              </a:rPr>
              <a:t>）</a:t>
            </a:r>
            <a:r>
              <a:rPr lang="en-US" altLang="zh-CN" sz="1200" b="0" i="0" kern="1200" dirty="0">
                <a:solidFill>
                  <a:schemeClr val="tx1"/>
                </a:solidFill>
                <a:effectLst/>
                <a:latin typeface="+mj-ea"/>
                <a:ea typeface="+mn-ea"/>
                <a:cs typeface="+mn-cs"/>
              </a:rPr>
              <a:t>3</a:t>
            </a:r>
            <a:r>
              <a:rPr lang="zh-CN" altLang="en-US" sz="1200" b="0" i="0" kern="1200" dirty="0">
                <a:solidFill>
                  <a:schemeClr val="tx1"/>
                </a:solidFill>
                <a:effectLst/>
                <a:latin typeface="+mj-ea"/>
                <a:ea typeface="+mn-ea"/>
                <a:cs typeface="+mn-cs"/>
              </a:rPr>
              <a:t>通道的彩色图，这里通道我们称之为核。</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对二维图像的操作，可以写成矩阵形式。那么对一个一通道也就是灰度图做卷积就像动态展示的卷积层再输入对应位置相乘再相加</a:t>
            </a:r>
            <a:r>
              <a:rPr lang="en-US" altLang="zh-CN" sz="1200" b="0" i="0" kern="1200" dirty="0">
                <a:solidFill>
                  <a:schemeClr val="tx1"/>
                </a:solidFill>
                <a:effectLst/>
                <a:latin typeface="+mj-ea"/>
                <a:ea typeface="+mn-ea"/>
                <a:cs typeface="+mn-cs"/>
              </a:rPr>
              <a:t>,</a:t>
            </a:r>
            <a:r>
              <a:rPr lang="zh-CN" altLang="en-US" sz="1200" b="0" i="0" kern="1200" dirty="0">
                <a:solidFill>
                  <a:schemeClr val="tx1"/>
                </a:solidFill>
                <a:effectLst/>
                <a:latin typeface="+mj-ea"/>
                <a:ea typeface="+mn-ea"/>
                <a:cs typeface="+mn-cs"/>
              </a:rPr>
              <a:t>然后移动重复这个过程，其中中间移动的就是卷积层，这个卷积层不同的值就会对图像产生不同的效果，比如对图像做平滑，其结果中每个值都来源于原对应位置和其周边</a:t>
            </a:r>
            <a:r>
              <a:rPr lang="en-US" altLang="zh-CN" sz="1200" b="0" i="0" kern="1200" dirty="0">
                <a:solidFill>
                  <a:schemeClr val="tx1"/>
                </a:solidFill>
                <a:effectLst/>
                <a:latin typeface="+mj-ea"/>
                <a:ea typeface="+mn-ea"/>
                <a:cs typeface="+mn-cs"/>
              </a:rPr>
              <a:t>8</a:t>
            </a:r>
            <a:r>
              <a:rPr lang="zh-CN" altLang="en-US" sz="1200" b="0" i="0" kern="1200" dirty="0">
                <a:solidFill>
                  <a:schemeClr val="tx1"/>
                </a:solidFill>
                <a:effectLst/>
                <a:latin typeface="+mj-ea"/>
                <a:ea typeface="+mn-ea"/>
                <a:cs typeface="+mn-cs"/>
              </a:rPr>
              <a:t>个元素与一个</a:t>
            </a:r>
            <a:r>
              <a:rPr lang="en-US" altLang="zh-CN" sz="1200" b="0" i="0" kern="1200" dirty="0">
                <a:solidFill>
                  <a:schemeClr val="tx1"/>
                </a:solidFill>
                <a:effectLst/>
                <a:latin typeface="+mj-ea"/>
                <a:ea typeface="+mn-ea"/>
                <a:cs typeface="+mn-cs"/>
              </a:rPr>
              <a:t>3X3</a:t>
            </a:r>
            <a:r>
              <a:rPr lang="zh-CN" altLang="en-US" sz="1200" b="0" i="0" kern="1200" dirty="0">
                <a:solidFill>
                  <a:schemeClr val="tx1"/>
                </a:solidFill>
                <a:effectLst/>
                <a:latin typeface="+mj-ea"/>
                <a:ea typeface="+mn-ea"/>
                <a:cs typeface="+mn-cs"/>
              </a:rPr>
              <a:t>矩阵</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的乘积，也就相当于对原矩阵，按照顺序讲各区域元素与</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矩阵相乘，</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矩阵也称作卷积核。卷积的原理其实是对两张像素矩阵进行点乘和的数学操作，其中一个矩阵为输入的数据矩阵，另一个矩阵则为卷积核（滤波器或特征矩阵），求得的结果表示原始图像中提取的特定局部特征。</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对二维图像的操作，可以写成矩阵形式。那么对一个一通道也就是灰度图做卷积就像动态展示的卷积层再输入对应位置相乘再相加</a:t>
            </a:r>
            <a:r>
              <a:rPr lang="en-US" altLang="zh-CN" sz="1200" b="0" i="0" kern="1200" dirty="0">
                <a:solidFill>
                  <a:schemeClr val="tx1"/>
                </a:solidFill>
                <a:effectLst/>
                <a:latin typeface="+mj-ea"/>
                <a:ea typeface="+mn-ea"/>
                <a:cs typeface="+mn-cs"/>
              </a:rPr>
              <a:t>,</a:t>
            </a:r>
            <a:r>
              <a:rPr lang="zh-CN" altLang="en-US" sz="1200" b="0" i="0" kern="1200" dirty="0">
                <a:solidFill>
                  <a:schemeClr val="tx1"/>
                </a:solidFill>
                <a:effectLst/>
                <a:latin typeface="+mj-ea"/>
                <a:ea typeface="+mn-ea"/>
                <a:cs typeface="+mn-cs"/>
              </a:rPr>
              <a:t>然后移动重复这个过程，其中中间移动的就是卷积层，这个</a:t>
            </a:r>
            <a:r>
              <a:rPr lang="zh-CN" altLang="en-US" sz="1200" b="0" i="0" kern="1200" dirty="0" smtClean="0">
                <a:solidFill>
                  <a:schemeClr val="tx1"/>
                </a:solidFill>
                <a:effectLst/>
                <a:latin typeface="+mj-ea"/>
                <a:ea typeface="+mn-ea"/>
                <a:cs typeface="+mn-cs"/>
              </a:rPr>
              <a:t>卷积核不同</a:t>
            </a:r>
            <a:r>
              <a:rPr lang="zh-CN" altLang="en-US" sz="1200" b="0" i="0" kern="1200" dirty="0">
                <a:solidFill>
                  <a:schemeClr val="tx1"/>
                </a:solidFill>
                <a:effectLst/>
                <a:latin typeface="+mj-ea"/>
                <a:ea typeface="+mn-ea"/>
                <a:cs typeface="+mn-cs"/>
              </a:rPr>
              <a:t>的值就会对图像产生不同的效果，比如对图像做平滑，其结果中每个值都来源于原对应位置和其周边</a:t>
            </a:r>
            <a:r>
              <a:rPr lang="en-US" altLang="zh-CN" sz="1200" b="0" i="0" kern="1200" dirty="0">
                <a:solidFill>
                  <a:schemeClr val="tx1"/>
                </a:solidFill>
                <a:effectLst/>
                <a:latin typeface="+mj-ea"/>
                <a:ea typeface="+mn-ea"/>
                <a:cs typeface="+mn-cs"/>
              </a:rPr>
              <a:t>8</a:t>
            </a:r>
            <a:r>
              <a:rPr lang="zh-CN" altLang="en-US" sz="1200" b="0" i="0" kern="1200" dirty="0">
                <a:solidFill>
                  <a:schemeClr val="tx1"/>
                </a:solidFill>
                <a:effectLst/>
                <a:latin typeface="+mj-ea"/>
                <a:ea typeface="+mn-ea"/>
                <a:cs typeface="+mn-cs"/>
              </a:rPr>
              <a:t>个元素与一个</a:t>
            </a:r>
            <a:r>
              <a:rPr lang="en-US" altLang="zh-CN" sz="1200" b="0" i="0" kern="1200" dirty="0">
                <a:solidFill>
                  <a:schemeClr val="tx1"/>
                </a:solidFill>
                <a:effectLst/>
                <a:latin typeface="+mj-ea"/>
                <a:ea typeface="+mn-ea"/>
                <a:cs typeface="+mn-cs"/>
              </a:rPr>
              <a:t>3X3</a:t>
            </a:r>
            <a:r>
              <a:rPr lang="zh-CN" altLang="en-US" sz="1200" b="0" i="0" kern="1200" dirty="0">
                <a:solidFill>
                  <a:schemeClr val="tx1"/>
                </a:solidFill>
                <a:effectLst/>
                <a:latin typeface="+mj-ea"/>
                <a:ea typeface="+mn-ea"/>
                <a:cs typeface="+mn-cs"/>
              </a:rPr>
              <a:t>矩阵</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的乘积，也就相当于对原矩阵，按照顺序讲各区域元素与</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矩阵相乘，</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矩阵也称作卷积核。卷积的原理其实是对两张像素矩阵进行点乘和的数学操作，其中一个矩阵为输入的数据矩阵，另一个矩阵则为卷积核（滤波器或特征矩阵），求得的结果表示原始图像中提取的特定局部特征。</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对二维图像的操作，可以写成矩阵形式。那么对一个一通道也就是灰度图做卷积就像动态展示的卷积层再输入对应位置相乘再相加</a:t>
            </a:r>
            <a:r>
              <a:rPr lang="en-US" altLang="zh-CN" sz="1200" b="0" i="0" kern="1200" dirty="0">
                <a:solidFill>
                  <a:schemeClr val="tx1"/>
                </a:solidFill>
                <a:effectLst/>
                <a:latin typeface="+mj-ea"/>
                <a:ea typeface="+mn-ea"/>
                <a:cs typeface="+mn-cs"/>
              </a:rPr>
              <a:t>,</a:t>
            </a:r>
            <a:r>
              <a:rPr lang="zh-CN" altLang="en-US" sz="1200" b="0" i="0" kern="1200" dirty="0">
                <a:solidFill>
                  <a:schemeClr val="tx1"/>
                </a:solidFill>
                <a:effectLst/>
                <a:latin typeface="+mj-ea"/>
                <a:ea typeface="+mn-ea"/>
                <a:cs typeface="+mn-cs"/>
              </a:rPr>
              <a:t>然后移动重复这个过程，其中中间移动的就是卷积层，这个卷积层不同的值就会对图像产生不同的效果，比如对图像做平滑，其结果中每个值都来源于原对应位置和其周边</a:t>
            </a:r>
            <a:r>
              <a:rPr lang="en-US" altLang="zh-CN" sz="1200" b="0" i="0" kern="1200" dirty="0">
                <a:solidFill>
                  <a:schemeClr val="tx1"/>
                </a:solidFill>
                <a:effectLst/>
                <a:latin typeface="+mj-ea"/>
                <a:ea typeface="+mn-ea"/>
                <a:cs typeface="+mn-cs"/>
              </a:rPr>
              <a:t>8</a:t>
            </a:r>
            <a:r>
              <a:rPr lang="zh-CN" altLang="en-US" sz="1200" b="0" i="0" kern="1200" dirty="0">
                <a:solidFill>
                  <a:schemeClr val="tx1"/>
                </a:solidFill>
                <a:effectLst/>
                <a:latin typeface="+mj-ea"/>
                <a:ea typeface="+mn-ea"/>
                <a:cs typeface="+mn-cs"/>
              </a:rPr>
              <a:t>个元素与一个</a:t>
            </a:r>
            <a:r>
              <a:rPr lang="en-US" altLang="zh-CN" sz="1200" b="0" i="0" kern="1200" dirty="0">
                <a:solidFill>
                  <a:schemeClr val="tx1"/>
                </a:solidFill>
                <a:effectLst/>
                <a:latin typeface="+mj-ea"/>
                <a:ea typeface="+mn-ea"/>
                <a:cs typeface="+mn-cs"/>
              </a:rPr>
              <a:t>3X3</a:t>
            </a:r>
            <a:r>
              <a:rPr lang="zh-CN" altLang="en-US" sz="1200" b="0" i="0" kern="1200" dirty="0">
                <a:solidFill>
                  <a:schemeClr val="tx1"/>
                </a:solidFill>
                <a:effectLst/>
                <a:latin typeface="+mj-ea"/>
                <a:ea typeface="+mn-ea"/>
                <a:cs typeface="+mn-cs"/>
              </a:rPr>
              <a:t>矩阵</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的乘积，也就相当于对原矩阵，按照顺序讲各区域元素与</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矩阵相乘，</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矩阵也称作卷积核。卷积的原理其实是对两张像素矩阵进行点乘和的数学操作，其中一个矩阵为输入的数据矩阵，另一个矩阵则为卷积核（滤波器或特征矩阵），求得的结果表示原始图像中提取的特定局部特征。</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900" kern="1200" dirty="0" smtClean="0">
                <a:solidFill>
                  <a:schemeClr val="tx1"/>
                </a:solidFill>
                <a:effectLst/>
                <a:latin typeface="+mn-lt"/>
                <a:ea typeface="+mn-ea"/>
                <a:cs typeface="+mn-cs"/>
              </a:rPr>
              <a:t>卷积运算提取图像核心特征后的图片效果是什么样的？ 我们一块来看一下，通过卷积对图像进行操作，相当于对图像进行了模糊。大家能发现经过层层的卷积运算，图像核心特征越来越明显，不重要的特征就被过滤掉了。整个操作过程按照概念称为：卷积。</a:t>
            </a:r>
            <a:endParaRPr lang="zh-CN" altLang="zh-CN" sz="900" kern="1200" dirty="0" smtClean="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900" kern="1200" dirty="0" smtClean="0">
                <a:solidFill>
                  <a:schemeClr val="tx1"/>
                </a:solidFill>
                <a:effectLst/>
                <a:latin typeface="+mn-lt"/>
                <a:ea typeface="+mn-ea"/>
                <a:cs typeface="+mn-cs"/>
              </a:rPr>
              <a:t>到此卷积的意义就非常明显了，在图像处理领域卷积的术语叫锐化。它强调某些特性，然后将特征强化后提取出来。如图所示，不同的卷积核关注图片上不同的特性，有的关注边缘，能把猫的轮廓提出来，有的更关注中心地带，能把猫的核心位置提取出来。</a:t>
            </a:r>
            <a:endParaRPr lang="zh-CN" altLang="zh-CN" sz="900" kern="1200" dirty="0" smtClean="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上图我们列出了不同数值的过滤器对图像会产生什么效果，人为定义的卷积核主要的就是对图像进行探测边缘，棱角，突出等概念。如我们先前所提，图片被识别成什么不仅仅取决于图片本省，还取决于图片是如何被观察的。而过滤器内的权重矩阵</a:t>
            </a:r>
            <a:r>
              <a:rPr lang="en-US" altLang="zh-CN" sz="1200" b="0" i="0" kern="1200" dirty="0">
                <a:solidFill>
                  <a:schemeClr val="tx1"/>
                </a:solidFill>
                <a:effectLst/>
                <a:latin typeface="+mj-ea"/>
                <a:ea typeface="+mn-ea"/>
                <a:cs typeface="+mn-cs"/>
              </a:rPr>
              <a:t>W</a:t>
            </a:r>
            <a:r>
              <a:rPr lang="zh-CN" altLang="en-US" sz="1200" b="0" i="0" kern="1200" dirty="0">
                <a:solidFill>
                  <a:schemeClr val="tx1"/>
                </a:solidFill>
                <a:effectLst/>
                <a:latin typeface="+mj-ea"/>
                <a:ea typeface="+mn-ea"/>
                <a:cs typeface="+mn-cs"/>
              </a:rPr>
              <a:t>是网络根据数据学习得到的，也就是说我们让网络自己学习以什么样的方式去观察图片。</a:t>
            </a:r>
            <a:endParaRPr lang="en-US" altLang="zh-CN" sz="1200" b="0" i="0" kern="1200" dirty="0">
              <a:solidFill>
                <a:schemeClr val="tx1"/>
              </a:solidFill>
              <a:effectLst/>
              <a:latin typeface="+mj-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b="0" dirty="0" err="1"/>
              <a:t>FeatureMap</a:t>
            </a:r>
            <a:r>
              <a:rPr lang="zh-CN" altLang="en-US" sz="1200" b="0" dirty="0"/>
              <a:t>：特征映射</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900" b="0" i="0" kern="1200" dirty="0">
                <a:solidFill>
                  <a:schemeClr val="tx1"/>
                </a:solidFill>
                <a:effectLst/>
                <a:latin typeface="+mn-lt"/>
                <a:ea typeface="+mn-ea"/>
                <a:cs typeface="+mn-cs"/>
              </a:rPr>
              <a:t>我们可以看到，在最底层特征基本上是类似的，就是各种边缘，越往上，越能提取出此类物体的一些特征（轮子、眼睛、躯干等），到最上层，不同的高级特征最终组合成相应的图像，从而能够让人类准确的区分不同的物体。</a:t>
            </a:r>
            <a:endParaRPr lang="en-US" altLang="zh-CN" sz="900" b="0" i="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900" b="0" i="0" kern="1200" dirty="0">
                <a:solidFill>
                  <a:schemeClr val="tx1"/>
                </a:solidFill>
                <a:effectLst/>
                <a:latin typeface="+mn-lt"/>
                <a:ea typeface="+mn-ea"/>
                <a:cs typeface="+mn-cs"/>
              </a:rPr>
              <a:t>那么我们可以很自然的想到：可以不可以模仿人类大脑的这个特点，构造多层的神经网络，较低层的识别初级的图像特征，若干底层特征组成更上一层特征，最终通过多个层级的组合，最终在顶层做出分类呢？答案是肯定的，这也是许多深度学习算法（包括</a:t>
            </a:r>
            <a:r>
              <a:rPr lang="en-US" altLang="zh-CN" sz="900" b="0" i="0" kern="1200" dirty="0">
                <a:solidFill>
                  <a:schemeClr val="tx1"/>
                </a:solidFill>
                <a:effectLst/>
                <a:latin typeface="+mn-lt"/>
                <a:ea typeface="+mn-ea"/>
                <a:cs typeface="+mn-cs"/>
              </a:rPr>
              <a:t>CNN</a:t>
            </a:r>
            <a:r>
              <a:rPr lang="zh-CN" altLang="en-US" sz="900" b="0" i="0" kern="1200" dirty="0">
                <a:solidFill>
                  <a:schemeClr val="tx1"/>
                </a:solidFill>
                <a:effectLst/>
                <a:latin typeface="+mn-lt"/>
                <a:ea typeface="+mn-ea"/>
                <a:cs typeface="+mn-cs"/>
              </a:rPr>
              <a:t>）的灵感来源。</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900" kern="1200" dirty="0" smtClean="0">
                <a:solidFill>
                  <a:schemeClr val="tx1"/>
                </a:solidFill>
                <a:effectLst/>
                <a:latin typeface="+mn-lt"/>
                <a:ea typeface="+mn-ea"/>
                <a:cs typeface="+mn-cs"/>
              </a:rPr>
              <a:t>卷积神经网络就模仿了人类的大脑多层处理的特点。</a:t>
            </a:r>
            <a:endParaRPr lang="zh-CN" altLang="zh-CN" sz="900" kern="1200" dirty="0" smtClean="0">
              <a:solidFill>
                <a:schemeClr val="tx1"/>
              </a:solidFill>
              <a:effectLst/>
              <a:latin typeface="+mn-lt"/>
              <a:ea typeface="+mn-ea"/>
              <a:cs typeface="+mn-cs"/>
            </a:endParaRPr>
          </a:p>
          <a:p>
            <a:r>
              <a:rPr lang="zh-CN" altLang="zh-CN" sz="900" kern="1200" dirty="0" smtClean="0">
                <a:solidFill>
                  <a:schemeClr val="tx1"/>
                </a:solidFill>
                <a:effectLst/>
                <a:latin typeface="+mn-lt"/>
                <a:ea typeface="+mn-ea"/>
                <a:cs typeface="+mn-cs"/>
              </a:rPr>
              <a:t>左图展示了人脸识别中经过层层的卷积后，能够探测的形状，概念也变的越来越抽象和复杂。</a:t>
            </a:r>
            <a:endParaRPr lang="zh-CN" altLang="zh-CN" sz="900" kern="1200" dirty="0" smtClean="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900" kern="1200" dirty="0" smtClean="0">
                <a:solidFill>
                  <a:schemeClr val="tx1"/>
                </a:solidFill>
                <a:effectLst/>
                <a:latin typeface="+mn-lt"/>
                <a:ea typeface="+mn-ea"/>
                <a:cs typeface="+mn-cs"/>
              </a:rPr>
              <a:t>前面我们简单认识了卷积神经网络。接下来我们详细讲解卷积的实现图像检测的原理。</a:t>
            </a:r>
            <a:endParaRPr lang="zh-CN" altLang="zh-CN" sz="9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我们通过识别一个老鼠的离职认识一下滤波器在卷积网络中的作用。</a:t>
            </a:r>
            <a:endParaRPr lang="en-US" altLang="zh-CN" sz="1200" b="0" i="0" kern="1200" dirty="0">
              <a:solidFill>
                <a:schemeClr val="tx1"/>
              </a:solidFill>
              <a:effectLst/>
              <a:latin typeface="+mj-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讲解</a:t>
            </a:r>
            <a:r>
              <a:rPr lang="en-US" altLang="zh-CN" sz="1200" b="0" i="0" kern="1200" dirty="0">
                <a:solidFill>
                  <a:schemeClr val="tx1"/>
                </a:solidFill>
                <a:effectLst/>
                <a:latin typeface="+mj-ea"/>
                <a:ea typeface="+mn-ea"/>
                <a:cs typeface="+mn-cs"/>
              </a:rPr>
              <a:t>CNN</a:t>
            </a:r>
            <a:r>
              <a:rPr lang="zh-CN" altLang="en-US" sz="1200" b="0" i="0" kern="1200" dirty="0">
                <a:solidFill>
                  <a:schemeClr val="tx1"/>
                </a:solidFill>
                <a:effectLst/>
                <a:latin typeface="+mj-ea"/>
                <a:ea typeface="+mn-ea"/>
                <a:cs typeface="+mn-cs"/>
              </a:rPr>
              <a:t>之前我们先讨论一下滤波器。我们介绍了滤波器，那么滤波器跟卷积神经网络有什么关系呢？不同的滤波器可以检测图像的不同特征，举个例子，假设现在我有一个滤波器来检测特定弧度，大小为</a:t>
            </a:r>
            <a:r>
              <a:rPr lang="en-US" altLang="zh-CN" sz="1200" b="0" i="0" kern="1200" dirty="0">
                <a:solidFill>
                  <a:schemeClr val="tx1"/>
                </a:solidFill>
                <a:effectLst/>
                <a:latin typeface="+mj-ea"/>
                <a:ea typeface="+mn-ea"/>
                <a:cs typeface="+mn-cs"/>
              </a:rPr>
              <a:t>7*7,</a:t>
            </a:r>
            <a:r>
              <a:rPr lang="zh-CN" altLang="en-US" sz="1200" b="0" i="0" kern="1200" dirty="0">
                <a:solidFill>
                  <a:schemeClr val="tx1"/>
                </a:solidFill>
                <a:effectLst/>
                <a:latin typeface="+mj-ea"/>
                <a:ea typeface="+mn-ea"/>
                <a:cs typeface="+mn-cs"/>
              </a:rPr>
              <a:t>现在我有一个老鼠的图像（只考虑灰度，所以只有</a:t>
            </a:r>
            <a:r>
              <a:rPr lang="en-US" altLang="zh-CN" sz="1200" b="0" i="0" kern="1200" dirty="0">
                <a:solidFill>
                  <a:schemeClr val="tx1"/>
                </a:solidFill>
                <a:effectLst/>
                <a:latin typeface="+mj-ea"/>
                <a:ea typeface="+mn-ea"/>
                <a:cs typeface="+mn-cs"/>
              </a:rPr>
              <a:t>1</a:t>
            </a:r>
            <a:r>
              <a:rPr lang="zh-CN" altLang="en-US" sz="1200" b="0" i="0" kern="1200" dirty="0">
                <a:solidFill>
                  <a:schemeClr val="tx1"/>
                </a:solidFill>
                <a:effectLst/>
                <a:latin typeface="+mj-ea"/>
                <a:ea typeface="+mn-ea"/>
                <a:cs typeface="+mn-cs"/>
              </a:rPr>
              <a:t>层）</a:t>
            </a:r>
            <a:r>
              <a:rPr lang="en-US" altLang="zh-CN" sz="1200" b="0" i="0" kern="1200" dirty="0">
                <a:solidFill>
                  <a:schemeClr val="tx1"/>
                </a:solidFill>
                <a:effectLst/>
                <a:latin typeface="+mj-ea"/>
                <a:ea typeface="+mn-ea"/>
                <a:cs typeface="+mn-cs"/>
              </a:rPr>
              <a:t>,</a:t>
            </a:r>
            <a:r>
              <a:rPr lang="zh-CN" altLang="en-US" sz="1200" b="0" i="0" kern="1200" dirty="0">
                <a:solidFill>
                  <a:schemeClr val="tx1"/>
                </a:solidFill>
                <a:effectLst/>
                <a:latin typeface="+mj-ea"/>
                <a:ea typeface="+mn-ea"/>
                <a:cs typeface="+mn-cs"/>
              </a:rPr>
              <a:t>用滤波器对这只老鼠图像进行过滤，依次将过滤器滑过原始图像的某一个区域，并与该区域原始像素值进行点乘，</a:t>
            </a:r>
            <a:r>
              <a:rPr lang="zh-CN" altLang="en-US" sz="900" b="0" i="0" kern="1200" dirty="0">
                <a:solidFill>
                  <a:schemeClr val="tx1"/>
                </a:solidFill>
                <a:effectLst/>
                <a:latin typeface="+mn-lt"/>
                <a:ea typeface="+mn-ea"/>
                <a:cs typeface="+mn-cs"/>
              </a:rPr>
              <a:t>现在假设我们将滤波器滑到了老鼠图像的左上角</a:t>
            </a:r>
            <a:endParaRPr lang="en-US" altLang="zh-CN" sz="1200" b="0" i="0" kern="1200" dirty="0">
              <a:solidFill>
                <a:schemeClr val="tx1"/>
              </a:solidFill>
              <a:effectLst/>
              <a:latin typeface="+mj-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0" i="0" kern="1200" dirty="0">
                <a:solidFill>
                  <a:schemeClr val="tx1"/>
                </a:solidFill>
                <a:effectLst/>
                <a:latin typeface="+mn-lt"/>
                <a:ea typeface="+mn-ea"/>
                <a:cs typeface="+mn-cs"/>
              </a:rPr>
              <a:t>过滤器会与该原始图像对应区域进行点乘后求和，如上图所示：</a:t>
            </a:r>
            <a:endParaRPr lang="en-US" altLang="zh-CN" sz="900" b="0" i="0" kern="1200" dirty="0">
              <a:solidFill>
                <a:schemeClr val="tx1"/>
              </a:solidFill>
              <a:effectLst/>
              <a:latin typeface="+mn-lt"/>
              <a:ea typeface="+mn-ea"/>
              <a:cs typeface="+mn-cs"/>
            </a:endParaRPr>
          </a:p>
          <a:p>
            <a:endParaRPr lang="en-US" altLang="zh-CN"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我们发现，该区域本身存在一个弧度，且弯曲程度和过滤器的弯曲程度很相似，所以图像的该区域像素与过滤器矩阵点乘求和后得到的数值很高。</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我们继续将过滤器移动到另外一个地方，靠近老鼠耳朵的地方，这时候我们发现该老鼠耳朵区域与该滤波器用来检测的弧度很不相似，我们看看将用滤波器过滤该区域会发生什么，如图</a:t>
            </a:r>
            <a:r>
              <a:rPr lang="en-US" altLang="zh-CN" sz="900" b="0" i="0" kern="1200" dirty="0">
                <a:solidFill>
                  <a:schemeClr val="tx1"/>
                </a:solidFill>
                <a:effectLst/>
                <a:latin typeface="+mn-lt"/>
                <a:ea typeface="+mn-ea"/>
                <a:cs typeface="+mn-cs"/>
              </a:rPr>
              <a:t>2</a:t>
            </a:r>
            <a:r>
              <a:rPr lang="zh-CN" altLang="en-US" sz="900" b="0" i="0" kern="1200" dirty="0">
                <a:solidFill>
                  <a:schemeClr val="tx1"/>
                </a:solidFill>
                <a:effectLst/>
                <a:latin typeface="+mn-lt"/>
                <a:ea typeface="+mn-ea"/>
                <a:cs typeface="+mn-cs"/>
              </a:rPr>
              <a:t>所示：</a:t>
            </a:r>
            <a:endParaRPr lang="en-US" altLang="zh-CN"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我们发现，检测弧度的滤波器在与老鼠耳朵这个区域的像素进行点乘后求和所得到的值为</a:t>
            </a:r>
            <a:r>
              <a:rPr lang="en-US" altLang="zh-CN" sz="900" b="0" i="0" kern="1200" dirty="0">
                <a:solidFill>
                  <a:schemeClr val="tx1"/>
                </a:solidFill>
                <a:effectLst/>
                <a:latin typeface="+mn-lt"/>
                <a:ea typeface="+mn-ea"/>
                <a:cs typeface="+mn-cs"/>
              </a:rPr>
              <a:t>0</a:t>
            </a:r>
            <a:r>
              <a:rPr lang="zh-CN" altLang="en-US" sz="900" b="0" i="0" kern="1200" dirty="0">
                <a:solidFill>
                  <a:schemeClr val="tx1"/>
                </a:solidFill>
                <a:effectLst/>
                <a:latin typeface="+mn-lt"/>
                <a:ea typeface="+mn-ea"/>
                <a:cs typeface="+mn-cs"/>
              </a:rPr>
              <a:t>。也就是说该区域与滤波器没有对应关系。</a:t>
            </a:r>
            <a:endParaRPr lang="en-US" altLang="zh-CN"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我们对整个原图进行一次卷积，得到的结果中，在那个特定曲线和周边区域，值就很高，在其他区域，值相对低。这就是一张</a:t>
            </a:r>
            <a:r>
              <a:rPr lang="zh-CN" altLang="en-US" sz="900" b="1" i="0" kern="1200" dirty="0">
                <a:solidFill>
                  <a:schemeClr val="tx1"/>
                </a:solidFill>
                <a:effectLst/>
                <a:latin typeface="+mn-lt"/>
                <a:ea typeface="+mn-ea"/>
                <a:cs typeface="+mn-cs"/>
              </a:rPr>
              <a:t>激活图</a:t>
            </a:r>
            <a:r>
              <a:rPr lang="zh-CN" altLang="en-US" sz="900" b="0" i="0" kern="1200" dirty="0">
                <a:solidFill>
                  <a:schemeClr val="tx1"/>
                </a:solidFill>
                <a:effectLst/>
                <a:latin typeface="+mn-lt"/>
                <a:ea typeface="+mn-ea"/>
                <a:cs typeface="+mn-cs"/>
              </a:rPr>
              <a:t>。对应的高值区域就是我们所要检测曲线的位置。</a:t>
            </a:r>
            <a:endParaRPr lang="en-US" altLang="zh-CN" sz="900" b="0" i="0" kern="1200" dirty="0">
              <a:solidFill>
                <a:schemeClr val="tx1"/>
              </a:solidFill>
              <a:effectLst/>
              <a:latin typeface="+mn-lt"/>
              <a:ea typeface="+mn-ea"/>
              <a:cs typeface="+mn-cs"/>
            </a:endParaRPr>
          </a:p>
          <a:p>
            <a:endParaRPr lang="en-US" altLang="zh-CN"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一些检测特定特征的滤波器很容易想到，比如水平滤波器，垂直滤波器等。</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但是我们能直观想到滤波器毕竟数量有限，而</a:t>
            </a:r>
            <a:r>
              <a:rPr lang="en-US" altLang="zh-CN" sz="900" b="0" i="0" kern="1200" dirty="0">
                <a:solidFill>
                  <a:schemeClr val="tx1"/>
                </a:solidFill>
                <a:effectLst/>
                <a:latin typeface="+mn-lt"/>
                <a:ea typeface="+mn-ea"/>
                <a:cs typeface="+mn-cs"/>
              </a:rPr>
              <a:t>CNN</a:t>
            </a:r>
            <a:r>
              <a:rPr lang="zh-CN" altLang="en-US" sz="900" b="0" i="0" kern="1200" dirty="0">
                <a:solidFill>
                  <a:schemeClr val="tx1"/>
                </a:solidFill>
                <a:effectLst/>
                <a:latin typeface="+mn-lt"/>
                <a:ea typeface="+mn-ea"/>
                <a:cs typeface="+mn-cs"/>
              </a:rPr>
              <a:t>可以自动学习滤波器，调整滤波器里的参数，用</a:t>
            </a:r>
            <a:r>
              <a:rPr lang="en-US" altLang="zh-CN" sz="900" b="0" i="0" kern="1200" dirty="0">
                <a:solidFill>
                  <a:schemeClr val="tx1"/>
                </a:solidFill>
                <a:effectLst/>
                <a:latin typeface="+mn-lt"/>
                <a:ea typeface="+mn-ea"/>
                <a:cs typeface="+mn-cs"/>
              </a:rPr>
              <a:t>CNN</a:t>
            </a:r>
            <a:r>
              <a:rPr lang="zh-CN" altLang="en-US" sz="900" b="0" i="0" kern="1200" dirty="0">
                <a:solidFill>
                  <a:schemeClr val="tx1"/>
                </a:solidFill>
                <a:effectLst/>
                <a:latin typeface="+mn-lt"/>
                <a:ea typeface="+mn-ea"/>
                <a:cs typeface="+mn-cs"/>
              </a:rPr>
              <a:t>自学习滤波器，让计算机自己去理解这图像所需的滤波器来检测特征，这对图像的特征分析是非常有用高效的。</a:t>
            </a:r>
            <a:endParaRPr lang="zh-CN" altLang="en-US" sz="900" b="0" i="0" kern="1200" dirty="0">
              <a:solidFill>
                <a:schemeClr val="tx1"/>
              </a:solidFill>
              <a:effectLst/>
              <a:latin typeface="+mn-lt"/>
              <a:ea typeface="+mn-ea"/>
              <a:cs typeface="+mn-cs"/>
            </a:endParaRPr>
          </a:p>
          <a:p>
            <a:endParaRPr lang="en-US" altLang="zh-CN" sz="900" b="0" i="0" kern="1200" dirty="0">
              <a:solidFill>
                <a:schemeClr val="tx1"/>
              </a:solidFill>
              <a:effectLst/>
              <a:latin typeface="+mn-lt"/>
              <a:ea typeface="+mn-ea"/>
              <a:cs typeface="+mn-cs"/>
            </a:endParaRPr>
          </a:p>
          <a:p>
            <a:endParaRPr lang="en-US" altLang="zh-CN"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所以我们发现滤波器过滤图像时，会与图像每个等大的区域进行点乘，如果图像的某一区域与过滤器检测的特征很相似，那么当过滤器经过该区域时，就会激活该过滤器，得到一个很高的值，反之，如果图像的某一区域与过滤器检测的特征很不相似时，就不会激活该过滤器或者得到的数值很低。</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由此我们发现，图像的过滤器在对整个图像滑动过滤时，每经过图像一个区域得到的值越高，则该区域与滤波器检测的特定特征相关度越高。这里与视觉细胞的工作原理很类似，简单的细胞对特定方向具有强烈感应，对不是它们偏好的方向没有什么反应。这里的滤波器其实就充当了视觉细胞中简单细胞的角色。</a:t>
            </a:r>
            <a:endParaRPr lang="zh-CN" altLang="en-US" sz="900" b="0" i="0" kern="1200" dirty="0">
              <a:solidFill>
                <a:schemeClr val="tx1"/>
              </a:solidFill>
              <a:effectLst/>
              <a:latin typeface="+mn-lt"/>
              <a:ea typeface="+mn-ea"/>
              <a:cs typeface="+mn-cs"/>
            </a:endParaRPr>
          </a:p>
          <a:p>
            <a:endParaRPr lang="zh-CN" altLang="en-US" sz="9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latin typeface="+mn-lt"/>
                <a:ea typeface="+mn-ea"/>
                <a:cs typeface="+mn-cs"/>
              </a:rPr>
              <a:t>卷积神经网络中经常出现的两种技巧：</a:t>
            </a:r>
            <a:r>
              <a:rPr lang="en-US" altLang="zh-CN" sz="1200" b="0" i="0" kern="1200" dirty="0">
                <a:solidFill>
                  <a:schemeClr val="tx1"/>
                </a:solidFill>
                <a:latin typeface="+mn-lt"/>
                <a:ea typeface="+mn-ea"/>
                <a:cs typeface="+mn-cs"/>
              </a:rPr>
              <a:t>Padding</a:t>
            </a:r>
            <a:r>
              <a:rPr lang="zh-CN" altLang="en-US" sz="1200" b="0" i="0" kern="1200" dirty="0">
                <a:solidFill>
                  <a:schemeClr val="tx1"/>
                </a:solidFill>
                <a:latin typeface="+mn-lt"/>
                <a:ea typeface="+mn-ea"/>
                <a:cs typeface="+mn-cs"/>
              </a:rPr>
              <a:t>和</a:t>
            </a:r>
            <a:r>
              <a:rPr lang="en-US" altLang="zh-CN" sz="1200" b="0" i="0" kern="1200" dirty="0">
                <a:solidFill>
                  <a:schemeClr val="tx1"/>
                </a:solidFill>
                <a:latin typeface="+mn-lt"/>
                <a:ea typeface="+mn-ea"/>
                <a:cs typeface="+mn-cs"/>
              </a:rPr>
              <a:t>Strides</a:t>
            </a:r>
            <a:r>
              <a:rPr lang="zh-CN" altLang="en-US" sz="1200" b="0" i="0" kern="1200" dirty="0">
                <a:solidFill>
                  <a:schemeClr val="tx1"/>
                </a:solidFill>
                <a:latin typeface="+mn-lt"/>
                <a:ea typeface="+mn-ea"/>
                <a:cs typeface="+mn-cs"/>
              </a:rPr>
              <a:t>。我们从上面左边动图可以看到，</a:t>
            </a:r>
            <a:r>
              <a:rPr lang="zh-CN" altLang="en-US" sz="1200" dirty="0">
                <a:latin typeface="Microsoft JhengHei" panose="020B0604030504040204" pitchFamily="34" charset="-120"/>
                <a:ea typeface="Microsoft JhengHei" panose="020B0604030504040204" pitchFamily="34" charset="-120"/>
              </a:rPr>
              <a:t>在滑动过程中，边缘基本上会“裁剪掉”，从而</a:t>
            </a:r>
            <a:r>
              <a:rPr lang="en-US" altLang="zh-CN" sz="1200" dirty="0">
                <a:latin typeface="Microsoft JhengHei" panose="020B0604030504040204" pitchFamily="34" charset="-120"/>
                <a:ea typeface="Microsoft JhengHei" panose="020B0604030504040204" pitchFamily="34" charset="-120"/>
              </a:rPr>
              <a:t>5×5</a:t>
            </a:r>
            <a:r>
              <a:rPr lang="zh-CN" altLang="en-US" sz="1200" dirty="0">
                <a:latin typeface="Microsoft JhengHei" panose="020B0604030504040204" pitchFamily="34" charset="-120"/>
                <a:ea typeface="Microsoft JhengHei" panose="020B0604030504040204" pitchFamily="34" charset="-120"/>
              </a:rPr>
              <a:t>特征矩阵转换为</a:t>
            </a:r>
            <a:r>
              <a:rPr lang="en-US" altLang="zh-CN" sz="1200" dirty="0">
                <a:latin typeface="Microsoft JhengHei" panose="020B0604030504040204" pitchFamily="34" charset="-120"/>
                <a:ea typeface="Microsoft JhengHei" panose="020B0604030504040204" pitchFamily="34" charset="-120"/>
              </a:rPr>
              <a:t>3×3</a:t>
            </a:r>
            <a:r>
              <a:rPr lang="zh-CN" altLang="en-US" sz="1200" dirty="0">
                <a:latin typeface="Microsoft JhengHei" panose="020B0604030504040204" pitchFamily="34" charset="-120"/>
                <a:ea typeface="Microsoft JhengHei" panose="020B0604030504040204" pitchFamily="34" charset="-120"/>
              </a:rPr>
              <a:t>特征矩阵。边缘上的像素永远不在核的中心，因为核不可以扩展到边缘之外。当我们经常希望输出的大小等于输入时，这并不理想。于是有了填充操作来解决这个问题：用额外的“假”像素（通常值为</a:t>
            </a:r>
            <a:r>
              <a:rPr lang="en-US" altLang="zh-CN" sz="1200" dirty="0">
                <a:latin typeface="Microsoft JhengHei" panose="020B0604030504040204" pitchFamily="34" charset="-120"/>
                <a:ea typeface="Microsoft JhengHei" panose="020B0604030504040204" pitchFamily="34" charset="-120"/>
              </a:rPr>
              <a:t>0</a:t>
            </a:r>
            <a:r>
              <a:rPr lang="zh-CN" altLang="en-US" sz="1200" dirty="0">
                <a:latin typeface="Microsoft JhengHei" panose="020B0604030504040204" pitchFamily="34" charset="-120"/>
                <a:ea typeface="Microsoft JhengHei" panose="020B0604030504040204" pitchFamily="34" charset="-120"/>
              </a:rPr>
              <a:t>，因此称为“零填充”）填充边缘。这样，滑动时的核可以延伸到边缘之外的假像素，允许原始边缘像素位于核中心，从而产生与输入相同大小的输出。</a:t>
            </a:r>
            <a:endParaRPr lang="en-US" altLang="zh-CN" sz="1200" dirty="0">
              <a:latin typeface="Microsoft JhengHei" panose="020B0604030504040204" pitchFamily="34" charset="-120"/>
              <a:ea typeface="Microsoft JhengHei" panose="020B0604030504040204" pitchFamily="34" charset="-120"/>
            </a:endParaRPr>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sz="1200" dirty="0">
              <a:latin typeface="Microsoft JhengHei" panose="020B0604030504040204" pitchFamily="34" charset="-120"/>
              <a:ea typeface="Microsoft JhengHei" panose="020B0604030504040204" pitchFamily="34" charset="-120"/>
            </a:endParaRPr>
          </a:p>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sz="1200" dirty="0"/>
              <a:t>同样卷积操作中步长的概念也是先当重要的，那么</a:t>
            </a:r>
            <a:r>
              <a:rPr lang="zh-CN" altLang="en-US" sz="1200" dirty="0">
                <a:latin typeface="Microsoft JhengHei" panose="020B0604030504040204" pitchFamily="34" charset="-120"/>
                <a:ea typeface="Microsoft JhengHei" panose="020B0604030504040204" pitchFamily="34" charset="-120"/>
              </a:rPr>
              <a:t>步长即在核的滑动过程中进行“跳步”。步长为</a:t>
            </a:r>
            <a:r>
              <a:rPr lang="en-US" altLang="zh-CN" sz="1200" dirty="0">
                <a:latin typeface="Microsoft JhengHei" panose="020B0604030504040204" pitchFamily="34" charset="-120"/>
                <a:ea typeface="Microsoft JhengHei" panose="020B0604030504040204" pitchFamily="34" charset="-120"/>
              </a:rPr>
              <a:t>1</a:t>
            </a:r>
            <a:r>
              <a:rPr lang="zh-CN" altLang="en-US" sz="1200" dirty="0">
                <a:latin typeface="Microsoft JhengHei" panose="020B0604030504040204" pitchFamily="34" charset="-120"/>
                <a:ea typeface="Microsoft JhengHei" panose="020B0604030504040204" pitchFamily="34" charset="-120"/>
              </a:rPr>
              <a:t>意味着每次滑动跳过一个像素，即最前面的标准卷积操作。步长为</a:t>
            </a:r>
            <a:r>
              <a:rPr lang="en-US" altLang="zh-CN" sz="1200" dirty="0">
                <a:latin typeface="Microsoft JhengHei" panose="020B0604030504040204" pitchFamily="34" charset="-120"/>
                <a:ea typeface="Microsoft JhengHei" panose="020B0604030504040204" pitchFamily="34" charset="-120"/>
              </a:rPr>
              <a:t>2</a:t>
            </a:r>
            <a:r>
              <a:rPr lang="zh-CN" altLang="en-US" sz="1200" dirty="0">
                <a:latin typeface="Microsoft JhengHei" panose="020B0604030504040204" pitchFamily="34" charset="-120"/>
                <a:ea typeface="Microsoft JhengHei" panose="020B0604030504040204" pitchFamily="34" charset="-120"/>
              </a:rPr>
              <a:t>意味着每次滑动跳过两个像素，缩小大约</a:t>
            </a:r>
            <a:r>
              <a:rPr lang="en-US" altLang="zh-CN" sz="1200" dirty="0">
                <a:latin typeface="Microsoft JhengHei" panose="020B0604030504040204" pitchFamily="34" charset="-120"/>
                <a:ea typeface="Microsoft JhengHei" panose="020B0604030504040204" pitchFamily="34" charset="-120"/>
              </a:rPr>
              <a:t>2</a:t>
            </a:r>
            <a:r>
              <a:rPr lang="zh-CN" altLang="en-US" sz="1200" dirty="0">
                <a:latin typeface="Microsoft JhengHei" panose="020B0604030504040204" pitchFamily="34" charset="-120"/>
                <a:ea typeface="Microsoft JhengHei" panose="020B0604030504040204" pitchFamily="34" charset="-120"/>
              </a:rPr>
              <a:t>倍，步长为</a:t>
            </a:r>
            <a:r>
              <a:rPr lang="en-US" altLang="zh-CN" sz="1200" dirty="0">
                <a:latin typeface="Microsoft JhengHei" panose="020B0604030504040204" pitchFamily="34" charset="-120"/>
                <a:ea typeface="Microsoft JhengHei" panose="020B0604030504040204" pitchFamily="34" charset="-120"/>
              </a:rPr>
              <a:t>3</a:t>
            </a:r>
            <a:r>
              <a:rPr lang="zh-CN" altLang="en-US" sz="1200" dirty="0">
                <a:latin typeface="Microsoft JhengHei" panose="020B0604030504040204" pitchFamily="34" charset="-120"/>
                <a:ea typeface="Microsoft JhengHei" panose="020B0604030504040204" pitchFamily="34" charset="-120"/>
              </a:rPr>
              <a:t>意味着每次滑动跳过三个像素，大致缩小</a:t>
            </a:r>
            <a:r>
              <a:rPr lang="en-US" altLang="zh-CN" sz="1200" dirty="0">
                <a:latin typeface="Microsoft JhengHei" panose="020B0604030504040204" pitchFamily="34" charset="-120"/>
                <a:ea typeface="Microsoft JhengHei" panose="020B0604030504040204" pitchFamily="34" charset="-120"/>
              </a:rPr>
              <a:t>3</a:t>
            </a:r>
            <a:r>
              <a:rPr lang="zh-CN" altLang="en-US" sz="1200" dirty="0">
                <a:latin typeface="Microsoft JhengHei" panose="020B0604030504040204" pitchFamily="34" charset="-120"/>
                <a:ea typeface="Microsoft JhengHei" panose="020B0604030504040204" pitchFamily="34" charset="-120"/>
              </a:rPr>
              <a:t>倍，等等。这里我们我们引入一个公式来计算整个卷积操作后输出特征图大小，就是输入尺寸加上</a:t>
            </a:r>
            <a:r>
              <a:rPr lang="en-US" altLang="zh-CN" sz="1200" dirty="0">
                <a:latin typeface="Microsoft JhengHei" panose="020B0604030504040204" pitchFamily="34" charset="-120"/>
                <a:ea typeface="Microsoft JhengHei" panose="020B0604030504040204" pitchFamily="34" charset="-120"/>
              </a:rPr>
              <a:t>2</a:t>
            </a:r>
            <a:r>
              <a:rPr lang="zh-CN" altLang="en-US" sz="1200" dirty="0">
                <a:latin typeface="Microsoft JhengHei" panose="020B0604030504040204" pitchFamily="34" charset="-120"/>
                <a:ea typeface="Microsoft JhengHei" panose="020B0604030504040204" pitchFamily="34" charset="-120"/>
              </a:rPr>
              <a:t>倍的填充个数然后减去卷积核的大小，再除以步长，最后再加一。</a:t>
            </a:r>
            <a:endParaRPr lang="zh-CN" altLang="en-US" sz="1200" dirty="0">
              <a:latin typeface="Microsoft JhengHei" panose="020B0604030504040204" pitchFamily="34" charset="-120"/>
              <a:ea typeface="Microsoft JhengHei" panose="020B0604030504040204" pitchFamily="34" charset="-120"/>
            </a:endParaRPr>
          </a:p>
          <a:p>
            <a:endParaRPr lang="en-US" altLang="zh-CN" sz="1200" dirty="0"/>
          </a:p>
          <a:p>
            <a:r>
              <a:rPr lang="en-US" altLang="zh-CN" sz="1200" dirty="0" err="1"/>
              <a:t>Featuremap</a:t>
            </a:r>
            <a:r>
              <a:rPr lang="en-US" altLang="zh-CN" sz="1200" dirty="0"/>
              <a:t>:</a:t>
            </a:r>
            <a:r>
              <a:rPr lang="zh-CN" altLang="en-US" sz="1200" dirty="0"/>
              <a:t>特征映射</a:t>
            </a:r>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latin typeface="微软雅黑" panose="020B0503020204020204" charset="-122"/>
                <a:ea typeface="微软雅黑" panose="020B0503020204020204" charset="-122"/>
              </a:rPr>
              <a:t>多维图像（或多通道特征图）</a:t>
            </a:r>
            <a:endParaRPr lang="en-US" altLang="zh-CN" sz="1200" b="0" i="0" kern="1200" dirty="0">
              <a:solidFill>
                <a:schemeClr val="tx1"/>
              </a:solidFill>
              <a:effectLst/>
              <a:latin typeface="+mj-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当然，上述例子都只包含一个输入通道，实际上，大多数输入图像都有</a:t>
            </a:r>
            <a:r>
              <a:rPr lang="en-US" altLang="zh-CN" sz="1200" b="0" i="0" kern="1200" dirty="0">
                <a:solidFill>
                  <a:schemeClr val="tx1"/>
                </a:solidFill>
                <a:effectLst/>
                <a:latin typeface="+mj-ea"/>
                <a:ea typeface="+mn-ea"/>
                <a:cs typeface="+mn-cs"/>
              </a:rPr>
              <a:t>RGB3</a:t>
            </a:r>
            <a:r>
              <a:rPr lang="zh-CN" altLang="en-US" sz="1200" b="0" i="0" kern="1200" dirty="0">
                <a:solidFill>
                  <a:schemeClr val="tx1"/>
                </a:solidFill>
                <a:effectLst/>
                <a:latin typeface="+mj-ea"/>
                <a:ea typeface="+mn-ea"/>
                <a:cs typeface="+mn-cs"/>
              </a:rPr>
              <a:t>个通道，也就是输入图像具有</a:t>
            </a:r>
            <a:r>
              <a:rPr lang="en-US" altLang="zh-CN" sz="1200" b="0" i="0" kern="1200" dirty="0">
                <a:solidFill>
                  <a:schemeClr val="tx1"/>
                </a:solidFill>
                <a:effectLst/>
                <a:latin typeface="+mj-ea"/>
                <a:ea typeface="+mn-ea"/>
                <a:cs typeface="+mn-cs"/>
              </a:rPr>
              <a:t>3</a:t>
            </a:r>
            <a:r>
              <a:rPr lang="zh-CN" altLang="en-US" sz="1200" b="0" i="0" kern="1200" dirty="0">
                <a:solidFill>
                  <a:schemeClr val="tx1"/>
                </a:solidFill>
                <a:effectLst/>
                <a:latin typeface="+mj-ea"/>
                <a:ea typeface="+mn-ea"/>
                <a:cs typeface="+mn-cs"/>
              </a:rPr>
              <a:t>个核，为了方便理解，我们先从多通道输入单通道输出来讲解，首先对于多通道的输入可以把不同通道看成观察全图的不同“视角”，那么从动图也可以很清晰的看到对于</a:t>
            </a:r>
            <a:r>
              <a:rPr lang="en-US" altLang="zh-CN" sz="1200" b="0" i="0" kern="1200" dirty="0">
                <a:solidFill>
                  <a:schemeClr val="tx1"/>
                </a:solidFill>
                <a:effectLst/>
                <a:latin typeface="+mj-ea"/>
                <a:ea typeface="+mn-ea"/>
                <a:cs typeface="+mn-cs"/>
              </a:rPr>
              <a:t>3</a:t>
            </a:r>
            <a:r>
              <a:rPr lang="zh-CN" altLang="en-US" sz="1200" b="0" i="0" kern="1200" dirty="0">
                <a:solidFill>
                  <a:schemeClr val="tx1"/>
                </a:solidFill>
                <a:effectLst/>
                <a:latin typeface="+mj-ea"/>
                <a:ea typeface="+mn-ea"/>
                <a:cs typeface="+mn-cs"/>
              </a:rPr>
              <a:t>个通道的输入分别会有一个过滤器对其进行滑动，这样对于不同通道我们能够强调某个输入通道重要性。那么这是第一步的操作。</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a:solidFill>
                  <a:schemeClr val="tx1"/>
                </a:solidFill>
                <a:effectLst/>
                <a:latin typeface="+mj-ea"/>
                <a:ea typeface="+mn-ea"/>
                <a:cs typeface="+mn-cs"/>
              </a:rPr>
              <a:t>第二步就是把三个通道经过滤波器的输入对应位置相加，这样整个过程就产生一个整体输出通道。</a:t>
            </a: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介绍了上述概念，我们来讲解多通道输入多通道的输出，比如我们时</a:t>
            </a:r>
            <a:r>
              <a:rPr lang="en-US" altLang="zh-CN" sz="1200" dirty="0"/>
              <a:t>RGB</a:t>
            </a:r>
            <a:r>
              <a:rPr lang="zh-CN" altLang="en-US" sz="1200" dirty="0"/>
              <a:t>三个通道的输入，</a:t>
            </a:r>
            <a:r>
              <a:rPr lang="en-US" altLang="zh-CN" sz="1200" dirty="0"/>
              <a:t>2</a:t>
            </a:r>
            <a:r>
              <a:rPr lang="zh-CN" altLang="en-US" sz="1200" dirty="0"/>
              <a:t>个通道的输出，那么整个卷积的过程就如这个动图展示的一样，这里就会有</a:t>
            </a:r>
            <a:r>
              <a:rPr lang="en-US" altLang="zh-CN" sz="1200" dirty="0"/>
              <a:t>2</a:t>
            </a:r>
            <a:r>
              <a:rPr lang="zh-CN" altLang="en-US" sz="1200" dirty="0"/>
              <a:t>个卷积核，每个卷积核对应</a:t>
            </a:r>
            <a:r>
              <a:rPr lang="en-US" altLang="zh-CN" sz="1200" dirty="0"/>
              <a:t>3</a:t>
            </a:r>
            <a:r>
              <a:rPr lang="zh-CN" altLang="en-US" sz="1200" dirty="0"/>
              <a:t>个滤波器，每个通道的输入和前面的操作一样，我们可以看到第一个输出通道中绿色框框，对应第一个卷积核再输入图上做操作，那么第二个输出通道也是同理。</a:t>
            </a:r>
            <a:endParaRPr lang="en-US" altLang="zh-CN" sz="1200" dirty="0"/>
          </a:p>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介绍了上述概念，我们来讲解多通道输入多通道的输出，比如我们时</a:t>
            </a:r>
            <a:r>
              <a:rPr lang="en-US" altLang="zh-CN" sz="1200" dirty="0"/>
              <a:t>RGB</a:t>
            </a:r>
            <a:r>
              <a:rPr lang="zh-CN" altLang="en-US" sz="1200" dirty="0"/>
              <a:t>三个通道的输入，</a:t>
            </a:r>
            <a:r>
              <a:rPr lang="en-US" altLang="zh-CN" sz="1200" dirty="0"/>
              <a:t>2</a:t>
            </a:r>
            <a:r>
              <a:rPr lang="zh-CN" altLang="en-US" sz="1200" dirty="0"/>
              <a:t>个通道的输出，那么整个卷积的过程就如这个动图展示的一样，这里就会有</a:t>
            </a:r>
            <a:r>
              <a:rPr lang="en-US" altLang="zh-CN" sz="1200" dirty="0"/>
              <a:t>2</a:t>
            </a:r>
            <a:r>
              <a:rPr lang="zh-CN" altLang="en-US" sz="1200" dirty="0"/>
              <a:t>个卷积核，每个卷积核对应</a:t>
            </a:r>
            <a:r>
              <a:rPr lang="en-US" altLang="zh-CN" sz="1200" dirty="0"/>
              <a:t>3</a:t>
            </a:r>
            <a:r>
              <a:rPr lang="zh-CN" altLang="en-US" sz="1200" dirty="0"/>
              <a:t>个滤波器，每个通道的输入和前面的操作一样，我们可以看到第一个输出通道中绿色框框，对应第一个卷积核再输入图上做操作，那么第二个输出通道也是同理。</a:t>
            </a:r>
            <a:endParaRPr lang="en-US" altLang="zh-CN" sz="1200" dirty="0"/>
          </a:p>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接下来我们详细介绍卷积的概念</a:t>
            </a:r>
            <a:endParaRPr lang="zh-CN" altLang="en-US"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900" b="0" i="0" kern="1200" dirty="0">
                <a:solidFill>
                  <a:schemeClr val="tx1"/>
                </a:solidFill>
                <a:effectLst/>
                <a:latin typeface="+mn-lt"/>
                <a:ea typeface="+mn-ea"/>
                <a:cs typeface="+mn-cs"/>
              </a:rPr>
              <a:t>Max Pooling</a:t>
            </a:r>
            <a:r>
              <a:rPr lang="zh-CN" altLang="en-US" sz="900" b="0" i="0" kern="1200" dirty="0">
                <a:solidFill>
                  <a:schemeClr val="tx1"/>
                </a:solidFill>
                <a:effectLst/>
                <a:latin typeface="+mn-lt"/>
                <a:ea typeface="+mn-ea"/>
                <a:cs typeface="+mn-cs"/>
              </a:rPr>
              <a:t>：选取最大的，我们定义一个空间邻域（比如，</a:t>
            </a:r>
            <a:r>
              <a:rPr lang="en-US" altLang="zh-CN" sz="900" b="0" i="0" kern="1200" dirty="0">
                <a:solidFill>
                  <a:schemeClr val="tx1"/>
                </a:solidFill>
                <a:effectLst/>
                <a:latin typeface="+mn-lt"/>
                <a:ea typeface="+mn-ea"/>
                <a:cs typeface="+mn-cs"/>
              </a:rPr>
              <a:t>2*2</a:t>
            </a:r>
            <a:r>
              <a:rPr lang="zh-CN" altLang="en-US" sz="900" b="0" i="0" kern="1200" dirty="0">
                <a:solidFill>
                  <a:schemeClr val="tx1"/>
                </a:solidFill>
                <a:effectLst/>
                <a:latin typeface="+mn-lt"/>
                <a:ea typeface="+mn-ea"/>
                <a:cs typeface="+mn-cs"/>
              </a:rPr>
              <a:t>的窗口），并从窗口内的修正特征图中取出最大的元素，最大池化被证明效果更好一些。</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　　</a:t>
            </a:r>
            <a:r>
              <a:rPr lang="en-US" altLang="zh-CN" sz="900" b="0" i="0" kern="1200" dirty="0">
                <a:solidFill>
                  <a:schemeClr val="tx1"/>
                </a:solidFill>
                <a:effectLst/>
                <a:latin typeface="+mn-lt"/>
                <a:ea typeface="+mn-ea"/>
                <a:cs typeface="+mn-cs"/>
              </a:rPr>
              <a:t>Average Pooling</a:t>
            </a:r>
            <a:r>
              <a:rPr lang="zh-CN" altLang="en-US" sz="900" b="0" i="0" kern="1200" dirty="0">
                <a:solidFill>
                  <a:schemeClr val="tx1"/>
                </a:solidFill>
                <a:effectLst/>
                <a:latin typeface="+mn-lt"/>
                <a:ea typeface="+mn-ea"/>
                <a:cs typeface="+mn-cs"/>
              </a:rPr>
              <a:t>：平均的，我们定义一个空间邻域（比如，</a:t>
            </a:r>
            <a:r>
              <a:rPr lang="en-US" altLang="zh-CN" sz="900" b="0" i="0" kern="1200" dirty="0">
                <a:solidFill>
                  <a:schemeClr val="tx1"/>
                </a:solidFill>
                <a:effectLst/>
                <a:latin typeface="+mn-lt"/>
                <a:ea typeface="+mn-ea"/>
                <a:cs typeface="+mn-cs"/>
              </a:rPr>
              <a:t>2*2</a:t>
            </a:r>
            <a:r>
              <a:rPr lang="zh-CN" altLang="en-US" sz="900" b="0" i="0" kern="1200" dirty="0">
                <a:solidFill>
                  <a:schemeClr val="tx1"/>
                </a:solidFill>
                <a:effectLst/>
                <a:latin typeface="+mn-lt"/>
                <a:ea typeface="+mn-ea"/>
                <a:cs typeface="+mn-cs"/>
              </a:rPr>
              <a:t>的窗口），并从窗口内的修正特征图中算出平均值。</a:t>
            </a:r>
            <a:endParaRPr lang="zh-CN" altLang="en-US" sz="900" b="0" i="0" kern="1200" dirty="0">
              <a:solidFill>
                <a:schemeClr val="tx1"/>
              </a:solidFill>
              <a:effectLst/>
              <a:latin typeface="+mn-lt"/>
              <a:ea typeface="+mn-ea"/>
              <a:cs typeface="+mn-cs"/>
            </a:endParaRPr>
          </a:p>
          <a:p>
            <a:br>
              <a:rPr lang="zh-CN" altLang="en-US" sz="1200" dirty="0"/>
            </a:br>
            <a:r>
              <a:rPr lang="zh-CN" altLang="en-US" sz="900" b="0" i="0" kern="1200" dirty="0">
                <a:solidFill>
                  <a:schemeClr val="tx1"/>
                </a:solidFill>
                <a:effectLst/>
                <a:latin typeface="+mn-lt"/>
                <a:ea typeface="+mn-ea"/>
                <a:cs typeface="+mn-cs"/>
              </a:rPr>
              <a:t> 通过池化层，使得原本</a:t>
            </a:r>
            <a:r>
              <a:rPr lang="en-US" altLang="zh-CN" sz="900" b="0" i="0" kern="1200" dirty="0">
                <a:solidFill>
                  <a:schemeClr val="tx1"/>
                </a:solidFill>
                <a:effectLst/>
                <a:latin typeface="+mn-lt"/>
                <a:ea typeface="+mn-ea"/>
                <a:cs typeface="+mn-cs"/>
              </a:rPr>
              <a:t>4*4</a:t>
            </a:r>
            <a:r>
              <a:rPr lang="zh-CN" altLang="en-US" sz="900" b="0" i="0" kern="1200" dirty="0">
                <a:solidFill>
                  <a:schemeClr val="tx1"/>
                </a:solidFill>
                <a:effectLst/>
                <a:latin typeface="+mn-lt"/>
                <a:ea typeface="+mn-ea"/>
                <a:cs typeface="+mn-cs"/>
              </a:rPr>
              <a:t>的特征图压缩成了</a:t>
            </a:r>
            <a:r>
              <a:rPr lang="en-US" altLang="zh-CN" sz="900" b="0" i="0" kern="1200" dirty="0">
                <a:solidFill>
                  <a:schemeClr val="tx1"/>
                </a:solidFill>
                <a:effectLst/>
                <a:latin typeface="+mn-lt"/>
                <a:ea typeface="+mn-ea"/>
                <a:cs typeface="+mn-cs"/>
              </a:rPr>
              <a:t>2*2</a:t>
            </a:r>
            <a:r>
              <a:rPr lang="zh-CN" altLang="en-US" sz="900" b="0" i="0" kern="1200" dirty="0">
                <a:solidFill>
                  <a:schemeClr val="tx1"/>
                </a:solidFill>
                <a:effectLst/>
                <a:latin typeface="+mn-lt"/>
                <a:ea typeface="+mn-ea"/>
                <a:cs typeface="+mn-cs"/>
              </a:rPr>
              <a:t>，从而降低了特征维度。</a:t>
            </a:r>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zh-CN" sz="900" kern="1200" dirty="0" smtClean="0">
                <a:solidFill>
                  <a:schemeClr val="tx1"/>
                </a:solidFill>
                <a:effectLst/>
                <a:latin typeface="+mn-lt"/>
                <a:ea typeface="+mn-ea"/>
                <a:cs typeface="+mn-cs"/>
              </a:rPr>
              <a:t>池化层处理完后，虽然人不太容易分辨出池化后的特征图，但是没关系，机器还是可以识别的。</a:t>
            </a:r>
            <a:endParaRPr lang="zh-CN" altLang="zh-CN" sz="900" kern="1200" dirty="0" smtClean="0">
              <a:solidFill>
                <a:schemeClr val="tx1"/>
              </a:solidFill>
              <a:effectLst/>
              <a:latin typeface="+mn-lt"/>
              <a:ea typeface="+mn-ea"/>
              <a:cs typeface="+mn-cs"/>
            </a:endParaRPr>
          </a:p>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1" i="0" kern="1200" dirty="0">
                <a:solidFill>
                  <a:schemeClr val="tx1"/>
                </a:solidFill>
                <a:effectLst/>
                <a:latin typeface="+mn-lt"/>
                <a:ea typeface="+mn-ea"/>
                <a:cs typeface="+mn-cs"/>
              </a:rPr>
              <a:t>红色的神经元表示这个特征被找到了（激活了）</a:t>
            </a:r>
            <a:endParaRPr lang="zh-CN" altLang="en-US" sz="900" b="0" i="0" kern="1200" dirty="0">
              <a:solidFill>
                <a:schemeClr val="tx1"/>
              </a:solidFill>
              <a:effectLst/>
              <a:latin typeface="+mn-lt"/>
              <a:ea typeface="+mn-ea"/>
              <a:cs typeface="+mn-cs"/>
            </a:endParaRPr>
          </a:p>
          <a:p>
            <a:r>
              <a:rPr lang="zh-CN" altLang="en-US" sz="900" b="1" i="0" kern="1200" dirty="0">
                <a:solidFill>
                  <a:schemeClr val="tx1"/>
                </a:solidFill>
                <a:effectLst/>
                <a:latin typeface="+mn-lt"/>
                <a:ea typeface="+mn-ea"/>
                <a:cs typeface="+mn-cs"/>
              </a:rPr>
              <a:t>同一层的其他神经元，要么猫的特征不明显，要么没找到</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当我们把这些找到的特征组合在一起，发现最符合要求的是猫</a:t>
            </a:r>
            <a:endParaRPr lang="zh-CN" altLang="en-US" sz="900" b="0" i="0" kern="1200" dirty="0">
              <a:solidFill>
                <a:schemeClr val="tx1"/>
              </a:solidFill>
              <a:effectLst/>
              <a:latin typeface="+mn-lt"/>
              <a:ea typeface="+mn-ea"/>
              <a:cs typeface="+mn-cs"/>
            </a:endParaRPr>
          </a:p>
          <a:p>
            <a:r>
              <a:rPr lang="en-US" altLang="zh-CN" sz="900" b="0" i="0" kern="1200" dirty="0">
                <a:solidFill>
                  <a:schemeClr val="tx1"/>
                </a:solidFill>
                <a:effectLst/>
                <a:latin typeface="+mn-lt"/>
                <a:ea typeface="+mn-ea"/>
                <a:cs typeface="+mn-cs"/>
              </a:rPr>
              <a:t>ok</a:t>
            </a:r>
            <a:r>
              <a:rPr lang="zh-CN" altLang="en-US" sz="900" b="0" i="0" kern="1200" dirty="0">
                <a:solidFill>
                  <a:schemeClr val="tx1"/>
                </a:solidFill>
                <a:effectLst/>
                <a:latin typeface="+mn-lt"/>
                <a:ea typeface="+mn-ea"/>
                <a:cs typeface="+mn-cs"/>
              </a:rPr>
              <a:t>，我认为这是猫了</a:t>
            </a:r>
            <a:endParaRPr lang="zh-CN" altLang="en-US" sz="900" b="0" i="0" kern="1200" dirty="0">
              <a:solidFill>
                <a:schemeClr val="tx1"/>
              </a:solidFill>
              <a:effectLst/>
              <a:latin typeface="+mn-lt"/>
              <a:ea typeface="+mn-ea"/>
              <a:cs typeface="+mn-cs"/>
            </a:endParaRPr>
          </a:p>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1" i="0" kern="1200" dirty="0">
                <a:solidFill>
                  <a:schemeClr val="tx1"/>
                </a:solidFill>
                <a:effectLst/>
                <a:latin typeface="+mn-lt"/>
                <a:ea typeface="+mn-ea"/>
                <a:cs typeface="+mn-cs"/>
              </a:rPr>
              <a:t>我们都知道，全连接层之前的作用是提取特征</a:t>
            </a:r>
            <a:endParaRPr lang="zh-CN" altLang="en-US" sz="900" b="0" i="0" kern="1200" dirty="0">
              <a:solidFill>
                <a:schemeClr val="tx1"/>
              </a:solidFill>
              <a:effectLst/>
              <a:latin typeface="+mn-lt"/>
              <a:ea typeface="+mn-ea"/>
              <a:cs typeface="+mn-cs"/>
            </a:endParaRPr>
          </a:p>
          <a:p>
            <a:r>
              <a:rPr lang="zh-CN" altLang="en-US" sz="900" b="1" i="0" kern="1200" dirty="0">
                <a:solidFill>
                  <a:schemeClr val="tx1"/>
                </a:solidFill>
                <a:effectLst/>
                <a:latin typeface="+mn-lt"/>
                <a:ea typeface="+mn-ea"/>
                <a:cs typeface="+mn-cs"/>
              </a:rPr>
              <a:t>全理解层的作用是分类</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我们现在的任务是去区别一图片是不是猫</a:t>
            </a:r>
            <a:endParaRPr lang="en-US" altLang="zh-CN"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假设这个神经网络模型已经训练完了</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全连接层已经知道</a:t>
            </a:r>
            <a:endParaRPr lang="en-US" altLang="zh-CN"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当我们得到以上特征，我就可以判断这个图像是猫了。</a:t>
            </a:r>
            <a:br>
              <a:rPr lang="zh-CN" altLang="en-US" sz="900" b="0" i="0" kern="1200" dirty="0">
                <a:solidFill>
                  <a:schemeClr val="tx1"/>
                </a:solidFill>
                <a:effectLst/>
                <a:latin typeface="+mn-lt"/>
                <a:ea typeface="+mn-ea"/>
                <a:cs typeface="+mn-cs"/>
              </a:rPr>
            </a:b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因为全连接层的作用主要就是实现分类（</a:t>
            </a:r>
            <a:r>
              <a:rPr lang="en-US" altLang="zh-CN" sz="900" b="0" i="0" kern="1200" dirty="0">
                <a:solidFill>
                  <a:schemeClr val="tx1"/>
                </a:solidFill>
                <a:effectLst/>
                <a:latin typeface="+mn-lt"/>
                <a:ea typeface="+mn-ea"/>
                <a:cs typeface="+mn-cs"/>
              </a:rPr>
              <a:t>Classification</a:t>
            </a:r>
            <a:r>
              <a:rPr lang="zh-CN" altLang="en-US" sz="900" b="0" i="0" kern="1200" dirty="0">
                <a:solidFill>
                  <a:schemeClr val="tx1"/>
                </a:solidFill>
                <a:effectLst/>
                <a:latin typeface="+mn-lt"/>
                <a:ea typeface="+mn-ea"/>
                <a:cs typeface="+mn-cs"/>
              </a:rPr>
              <a:t>）</a:t>
            </a:r>
            <a:endParaRPr lang="zh-CN" altLang="en-US" sz="900" b="0" i="0" kern="1200" dirty="0">
              <a:solidFill>
                <a:schemeClr val="tx1"/>
              </a:solidFill>
              <a:effectLst/>
              <a:latin typeface="+mn-lt"/>
              <a:ea typeface="+mn-ea"/>
              <a:cs typeface="+mn-cs"/>
            </a:endParaRPr>
          </a:p>
          <a:p>
            <a:endParaRPr lang="zh-CN" altLang="en-US" sz="900" b="0" i="0" kern="1200" dirty="0">
              <a:solidFill>
                <a:schemeClr val="tx1"/>
              </a:solidFill>
              <a:effectLst/>
              <a:latin typeface="+mn-lt"/>
              <a:ea typeface="+mn-ea"/>
              <a:cs typeface="+mn-cs"/>
            </a:endParaRPr>
          </a:p>
          <a:p>
            <a:endParaRPr lang="zh-CN" altLang="en-US" sz="900" b="0" i="0" kern="1200" dirty="0">
              <a:solidFill>
                <a:schemeClr val="tx1"/>
              </a:solidFill>
              <a:effectLst/>
              <a:latin typeface="+mn-lt"/>
              <a:ea typeface="+mn-ea"/>
              <a:cs typeface="+mn-cs"/>
            </a:endParaRPr>
          </a:p>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1" i="0" kern="1200" dirty="0">
                <a:solidFill>
                  <a:schemeClr val="tx1"/>
                </a:solidFill>
                <a:effectLst/>
                <a:latin typeface="+mn-lt"/>
                <a:ea typeface="+mn-ea"/>
                <a:cs typeface="+mn-cs"/>
              </a:rPr>
              <a:t>我们都知道，全连接层之前的作用是提取特征</a:t>
            </a:r>
            <a:endParaRPr lang="zh-CN" altLang="en-US" sz="900" b="0" i="0" kern="1200" dirty="0">
              <a:solidFill>
                <a:schemeClr val="tx1"/>
              </a:solidFill>
              <a:effectLst/>
              <a:latin typeface="+mn-lt"/>
              <a:ea typeface="+mn-ea"/>
              <a:cs typeface="+mn-cs"/>
            </a:endParaRPr>
          </a:p>
          <a:p>
            <a:r>
              <a:rPr lang="zh-CN" altLang="en-US" sz="900" b="1" i="0" kern="1200" dirty="0">
                <a:solidFill>
                  <a:schemeClr val="tx1"/>
                </a:solidFill>
                <a:effectLst/>
                <a:latin typeface="+mn-lt"/>
                <a:ea typeface="+mn-ea"/>
                <a:cs typeface="+mn-cs"/>
              </a:rPr>
              <a:t>全理解层的作用是分类</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我们现在的任务是去区别一图片是不是猫</a:t>
            </a:r>
            <a:endParaRPr lang="en-US" altLang="zh-CN"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假设这个神经网络模型已经训练完了</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全连接层已经知道</a:t>
            </a:r>
            <a:endParaRPr lang="en-US" altLang="zh-CN"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当我们得到以上特征，我就可以判断这个图像是猫了。</a:t>
            </a:r>
            <a:br>
              <a:rPr lang="zh-CN" altLang="en-US" sz="900" b="0" i="0" kern="1200" dirty="0">
                <a:solidFill>
                  <a:schemeClr val="tx1"/>
                </a:solidFill>
                <a:effectLst/>
                <a:latin typeface="+mn-lt"/>
                <a:ea typeface="+mn-ea"/>
                <a:cs typeface="+mn-cs"/>
              </a:rPr>
            </a:b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因为全连接层的作用主要就是实现分类（</a:t>
            </a:r>
            <a:r>
              <a:rPr lang="en-US" altLang="zh-CN" sz="900" b="0" i="0" kern="1200" dirty="0">
                <a:solidFill>
                  <a:schemeClr val="tx1"/>
                </a:solidFill>
                <a:effectLst/>
                <a:latin typeface="+mn-lt"/>
                <a:ea typeface="+mn-ea"/>
                <a:cs typeface="+mn-cs"/>
              </a:rPr>
              <a:t>Classification</a:t>
            </a:r>
            <a:r>
              <a:rPr lang="zh-CN" altLang="en-US" sz="900" b="0" i="0" kern="1200" dirty="0">
                <a:solidFill>
                  <a:schemeClr val="tx1"/>
                </a:solidFill>
                <a:effectLst/>
                <a:latin typeface="+mn-lt"/>
                <a:ea typeface="+mn-ea"/>
                <a:cs typeface="+mn-cs"/>
              </a:rPr>
              <a:t>）</a:t>
            </a:r>
            <a:endParaRPr lang="zh-CN" altLang="en-US" sz="900" b="0" i="0" kern="1200" dirty="0">
              <a:solidFill>
                <a:schemeClr val="tx1"/>
              </a:solidFill>
              <a:effectLst/>
              <a:latin typeface="+mn-lt"/>
              <a:ea typeface="+mn-ea"/>
              <a:cs typeface="+mn-cs"/>
            </a:endParaRPr>
          </a:p>
          <a:p>
            <a:endParaRPr lang="zh-CN" altLang="en-US" sz="900" b="0" i="0" kern="1200" dirty="0">
              <a:solidFill>
                <a:schemeClr val="tx1"/>
              </a:solidFill>
              <a:effectLst/>
              <a:latin typeface="+mn-lt"/>
              <a:ea typeface="+mn-ea"/>
              <a:cs typeface="+mn-cs"/>
            </a:endParaRPr>
          </a:p>
          <a:p>
            <a:endParaRPr lang="zh-CN" altLang="en-US" sz="900" b="0" i="0" kern="1200" dirty="0">
              <a:solidFill>
                <a:schemeClr val="tx1"/>
              </a:solidFill>
              <a:effectLst/>
              <a:latin typeface="+mn-lt"/>
              <a:ea typeface="+mn-ea"/>
              <a:cs typeface="+mn-cs"/>
            </a:endParaRPr>
          </a:p>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0" i="0" kern="1200" dirty="0">
                <a:solidFill>
                  <a:schemeClr val="tx1"/>
                </a:solidFill>
                <a:effectLst/>
                <a:latin typeface="+mn-lt"/>
                <a:ea typeface="+mn-ea"/>
                <a:cs typeface="+mn-cs"/>
              </a:rPr>
              <a:t>这是一个最典型的卷积网络，由卷积层、池化层、全连接层组成。其中卷积层与池化层配合，组成多个卷积组，逐层提取特征，最终通过若干个全连接层完成分类。</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卷积层完成的操作，可以认为是受局部感受野概念的启发，而池化层，主要是为了降低数据维度。</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综合起来说，</a:t>
            </a:r>
            <a:r>
              <a:rPr lang="en-US" altLang="zh-CN" sz="900" b="0" i="0" kern="1200" dirty="0">
                <a:solidFill>
                  <a:schemeClr val="tx1"/>
                </a:solidFill>
                <a:effectLst/>
                <a:latin typeface="+mn-lt"/>
                <a:ea typeface="+mn-ea"/>
                <a:cs typeface="+mn-cs"/>
              </a:rPr>
              <a:t>CNN</a:t>
            </a:r>
            <a:r>
              <a:rPr lang="zh-CN" altLang="en-US" sz="900" b="0" i="0" kern="1200" dirty="0">
                <a:solidFill>
                  <a:schemeClr val="tx1"/>
                </a:solidFill>
                <a:effectLst/>
                <a:latin typeface="+mn-lt"/>
                <a:ea typeface="+mn-ea"/>
                <a:cs typeface="+mn-cs"/>
              </a:rPr>
              <a:t>通过卷积来模拟特征区分，并且通过卷积的权值共享及池化，来降低网络参数的数量级，最后通过传统神经网络完成分类等任务。</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 </a:t>
            </a:r>
            <a:endParaRPr lang="zh-CN" altLang="en-US" sz="900" b="0" i="0" kern="1200" dirty="0">
              <a:solidFill>
                <a:schemeClr val="tx1"/>
              </a:solidFill>
              <a:effectLst/>
              <a:latin typeface="+mn-lt"/>
              <a:ea typeface="+mn-ea"/>
              <a:cs typeface="+mn-cs"/>
            </a:endParaRPr>
          </a:p>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900" b="0" i="0" kern="1200" dirty="0">
                <a:solidFill>
                  <a:schemeClr val="tx1"/>
                </a:solidFill>
                <a:effectLst/>
                <a:latin typeface="+mn-lt"/>
                <a:ea typeface="+mn-ea"/>
                <a:cs typeface="+mn-cs"/>
              </a:rPr>
              <a:t>这是一个最典型的卷积网络，由卷积层、池化层、全连接层组成。其中卷积层与池化层配合，组成多个卷积组，逐层提取特征，最终通过若干个全连接层完成分类。</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卷积层完成的操作，可以认为是受局部感受野概念的启发，而池化层，主要是为了降低数据维度。</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综合起来说，</a:t>
            </a:r>
            <a:r>
              <a:rPr lang="en-US" altLang="zh-CN" sz="900" b="0" i="0" kern="1200" dirty="0">
                <a:solidFill>
                  <a:schemeClr val="tx1"/>
                </a:solidFill>
                <a:effectLst/>
                <a:latin typeface="+mn-lt"/>
                <a:ea typeface="+mn-ea"/>
                <a:cs typeface="+mn-cs"/>
              </a:rPr>
              <a:t>CNN</a:t>
            </a:r>
            <a:r>
              <a:rPr lang="zh-CN" altLang="en-US" sz="900" b="0" i="0" kern="1200" dirty="0">
                <a:solidFill>
                  <a:schemeClr val="tx1"/>
                </a:solidFill>
                <a:effectLst/>
                <a:latin typeface="+mn-lt"/>
                <a:ea typeface="+mn-ea"/>
                <a:cs typeface="+mn-cs"/>
              </a:rPr>
              <a:t>通过卷积来模拟特征区分，并且通过卷积的权值共享及池化，来降低网络参数的数量级，最后通过传统神经网络完成分类等任务。</a:t>
            </a:r>
            <a:endParaRPr lang="zh-CN" altLang="en-US" sz="900" b="0" i="0" kern="1200" dirty="0">
              <a:solidFill>
                <a:schemeClr val="tx1"/>
              </a:solidFill>
              <a:effectLst/>
              <a:latin typeface="+mn-lt"/>
              <a:ea typeface="+mn-ea"/>
              <a:cs typeface="+mn-cs"/>
            </a:endParaRPr>
          </a:p>
          <a:p>
            <a:r>
              <a:rPr lang="zh-CN" altLang="en-US" sz="900" b="0" i="0" kern="1200" dirty="0">
                <a:solidFill>
                  <a:schemeClr val="tx1"/>
                </a:solidFill>
                <a:effectLst/>
                <a:latin typeface="+mn-lt"/>
                <a:ea typeface="+mn-ea"/>
                <a:cs typeface="+mn-cs"/>
              </a:rPr>
              <a:t> </a:t>
            </a:r>
            <a:endParaRPr lang="zh-CN" altLang="en-US" sz="900" b="0" i="0" kern="1200" dirty="0">
              <a:solidFill>
                <a:schemeClr val="tx1"/>
              </a:solidFill>
              <a:effectLst/>
              <a:latin typeface="+mn-lt"/>
              <a:ea typeface="+mn-ea"/>
              <a:cs typeface="+mn-cs"/>
            </a:endParaRPr>
          </a:p>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dirty="0"/>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a:solidFill>
                <a:schemeClr val="tx1"/>
              </a:solidFill>
              <a:effectLst/>
              <a:latin typeface="+mj-ea"/>
              <a:ea typeface="+mn-ea"/>
              <a:cs typeface="+mn-cs"/>
            </a:endParaRPr>
          </a:p>
        </p:txBody>
      </p:sp>
      <p:sp>
        <p:nvSpPr>
          <p:cNvPr id="4" name="灯片编号占位符 3"/>
          <p:cNvSpPr>
            <a:spLocks noGrp="1"/>
          </p:cNvSpPr>
          <p:nvPr>
            <p:ph type="sldNum" sz="quarter" idx="5"/>
          </p:nvPr>
        </p:nvSpPr>
        <p:spPr/>
        <p:txBody>
          <a:bodyPr/>
          <a:lstStyle/>
          <a:p>
            <a:pPr>
              <a:defRPr/>
            </a:pPr>
            <a:fld id="{CA68A802-B4B4-F544-815E-49C88522108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bg>
      <p:bgPr>
        <a:solidFill>
          <a:srgbClr val="F2F2F2"/>
        </a:solidFill>
        <a:effectLst/>
      </p:bgPr>
    </p:bg>
    <p:spTree>
      <p:nvGrpSpPr>
        <p:cNvPr id="1" name=""/>
        <p:cNvGrpSpPr/>
        <p:nvPr/>
      </p:nvGrpSpPr>
      <p:grpSpPr>
        <a:xfrm>
          <a:off x="0" y="0"/>
          <a:ext cx="0" cy="0"/>
          <a:chOff x="0" y="0"/>
          <a:chExt cx="0" cy="0"/>
        </a:xfrm>
      </p:grpSpPr>
      <p:pic>
        <p:nvPicPr>
          <p:cNvPr id="5" name="图片 15"/>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173392" y="1995175"/>
            <a:ext cx="934640" cy="497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userDrawn="1"/>
        </p:nvSpPr>
        <p:spPr>
          <a:xfrm>
            <a:off x="0" y="1099780"/>
            <a:ext cx="9142200" cy="2970000"/>
          </a:xfrm>
          <a:prstGeom prst="rect">
            <a:avLst/>
          </a:prstGeom>
          <a:solidFill>
            <a:srgbClr val="2473D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kumimoji="1" lang="zh-CN" altLang="en-US" dirty="0"/>
          </a:p>
        </p:txBody>
      </p:sp>
      <p:pic>
        <p:nvPicPr>
          <p:cNvPr id="10" name="图片 9"/>
          <p:cNvPicPr>
            <a:picLocks noChangeAspect="1"/>
          </p:cNvPicPr>
          <p:nvPr userDrawn="1"/>
        </p:nvPicPr>
        <p:blipFill>
          <a:blip r:embed="rId3"/>
          <a:stretch>
            <a:fillRect/>
          </a:stretch>
        </p:blipFill>
        <p:spPr>
          <a:xfrm>
            <a:off x="5741534" y="1311112"/>
            <a:ext cx="3018267" cy="2527310"/>
          </a:xfrm>
          <a:prstGeom prst="rect">
            <a:avLst/>
          </a:prstGeom>
        </p:spPr>
      </p:pic>
      <p:sp>
        <p:nvSpPr>
          <p:cNvPr id="11" name="矩形 10"/>
          <p:cNvSpPr/>
          <p:nvPr userDrawn="1"/>
        </p:nvSpPr>
        <p:spPr>
          <a:xfrm>
            <a:off x="619426" y="1932318"/>
            <a:ext cx="5216813" cy="577081"/>
          </a:xfrm>
          <a:prstGeom prst="rect">
            <a:avLst/>
          </a:prstGeom>
        </p:spPr>
        <p:txBody>
          <a:bodyPr wrap="none" lIns="68580" tIns="34290" rIns="68580" bIns="34290">
            <a:spAutoFit/>
          </a:bodyPr>
          <a:lstStyle/>
          <a:p>
            <a:r>
              <a:rPr kumimoji="0" lang="zh-CN" altLang="en-US" sz="3300" b="1" i="0" u="none" strike="noStrike" kern="1200" cap="none" spc="0" normalizeH="0" baseline="0" noProof="0" dirty="0">
                <a:ln>
                  <a:noFill/>
                </a:ln>
                <a:solidFill>
                  <a:schemeClr val="bg1"/>
                </a:solidFill>
                <a:effectLst/>
                <a:uLnTx/>
                <a:uFillTx/>
                <a:latin typeface="Times New Roman" panose="02020603050405020304"/>
                <a:ea typeface="微软雅黑" panose="020B0503020204020204" charset="-122"/>
                <a:cs typeface="+mj-cs"/>
              </a:rPr>
              <a:t>人工智能高等教育系列课程</a:t>
            </a:r>
            <a:endParaRPr lang="zh-CN" altLang="en-US" b="1" dirty="0">
              <a:solidFill>
                <a:schemeClr val="bg1"/>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课程标题页">
    <p:bg>
      <p:bgPr>
        <a:solidFill>
          <a:srgbClr val="F2F2F2"/>
        </a:solidFill>
        <a:effectLst/>
      </p:bgPr>
    </p:bg>
    <p:spTree>
      <p:nvGrpSpPr>
        <p:cNvPr id="1" name=""/>
        <p:cNvGrpSpPr/>
        <p:nvPr/>
      </p:nvGrpSpPr>
      <p:grpSpPr>
        <a:xfrm>
          <a:off x="0" y="0"/>
          <a:ext cx="0" cy="0"/>
          <a:chOff x="0" y="0"/>
          <a:chExt cx="0" cy="0"/>
        </a:xfrm>
      </p:grpSpPr>
      <p:pic>
        <p:nvPicPr>
          <p:cNvPr id="5" name="图片 15"/>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173392" y="1995175"/>
            <a:ext cx="934640" cy="497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userDrawn="1"/>
        </p:nvSpPr>
        <p:spPr>
          <a:xfrm>
            <a:off x="0" y="1099780"/>
            <a:ext cx="9142200" cy="2970000"/>
          </a:xfrm>
          <a:prstGeom prst="rect">
            <a:avLst/>
          </a:prstGeom>
          <a:solidFill>
            <a:srgbClr val="2473D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kumimoji="1" lang="zh-CN" altLang="en-US" dirty="0"/>
          </a:p>
        </p:txBody>
      </p:sp>
      <p:pic>
        <p:nvPicPr>
          <p:cNvPr id="10" name="图片 9"/>
          <p:cNvPicPr>
            <a:picLocks noChangeAspect="1"/>
          </p:cNvPicPr>
          <p:nvPr userDrawn="1"/>
        </p:nvPicPr>
        <p:blipFill>
          <a:blip r:embed="rId3"/>
          <a:stretch>
            <a:fillRect/>
          </a:stretch>
        </p:blipFill>
        <p:spPr>
          <a:xfrm>
            <a:off x="5741534" y="1311112"/>
            <a:ext cx="3018267" cy="2527310"/>
          </a:xfrm>
          <a:prstGeom prst="rect">
            <a:avLst/>
          </a:prstGeom>
        </p:spPr>
      </p:pic>
      <p:sp>
        <p:nvSpPr>
          <p:cNvPr id="16" name="标题 15"/>
          <p:cNvSpPr>
            <a:spLocks noGrp="1"/>
          </p:cNvSpPr>
          <p:nvPr>
            <p:ph type="title" hasCustomPrompt="1"/>
          </p:nvPr>
        </p:nvSpPr>
        <p:spPr>
          <a:xfrm>
            <a:off x="622680" y="1585810"/>
            <a:ext cx="7886700" cy="994172"/>
          </a:xfrm>
        </p:spPr>
        <p:txBody>
          <a:bodyPr/>
          <a:lstStyle>
            <a:lvl1pPr>
              <a:defRPr b="1">
                <a:solidFill>
                  <a:schemeClr val="bg1"/>
                </a:solidFill>
              </a:defRPr>
            </a:lvl1pPr>
          </a:lstStyle>
          <a:p>
            <a:r>
              <a:rPr lang="zh-CN" altLang="en-US" dirty="0"/>
              <a:t>课程标题</a:t>
            </a:r>
            <a:endParaRPr lang="zh-CN" altLang="en-US" dirty="0"/>
          </a:p>
        </p:txBody>
      </p:sp>
      <p:pic>
        <p:nvPicPr>
          <p:cNvPr id="6" name="图片 5" descr="联合伟世横logo副本"/>
          <p:cNvPicPr>
            <a:picLocks noChangeAspect="1"/>
          </p:cNvPicPr>
          <p:nvPr userDrawn="1"/>
        </p:nvPicPr>
        <p:blipFill>
          <a:blip r:embed="rId4"/>
          <a:stretch>
            <a:fillRect/>
          </a:stretch>
        </p:blipFill>
        <p:spPr>
          <a:xfrm>
            <a:off x="8231390" y="268392"/>
            <a:ext cx="631911" cy="267292"/>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grpSp>
        <p:nvGrpSpPr>
          <p:cNvPr id="2" name="组 4"/>
          <p:cNvGrpSpPr>
            <a:grpSpLocks noChangeAspect="1"/>
          </p:cNvGrpSpPr>
          <p:nvPr userDrawn="1"/>
        </p:nvGrpSpPr>
        <p:grpSpPr bwMode="auto">
          <a:xfrm>
            <a:off x="4820841" y="1647906"/>
            <a:ext cx="161925" cy="161925"/>
            <a:chOff x="8753432" y="1170125"/>
            <a:chExt cx="2194655" cy="2194655"/>
          </a:xfrm>
        </p:grpSpPr>
        <p:sp>
          <p:nvSpPr>
            <p:cNvPr id="3" name="椭圆 2"/>
            <p:cNvSpPr/>
            <p:nvPr/>
          </p:nvSpPr>
          <p:spPr>
            <a:xfrm>
              <a:off x="8753432" y="1170125"/>
              <a:ext cx="2194655" cy="2194655"/>
            </a:xfrm>
            <a:prstGeom prst="ellipse">
              <a:avLst/>
            </a:prstGeom>
            <a:solidFill>
              <a:srgbClr val="0065F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sp>
          <p:nvSpPr>
            <p:cNvPr id="4" name="椭圆 3"/>
            <p:cNvSpPr/>
            <p:nvPr/>
          </p:nvSpPr>
          <p:spPr>
            <a:xfrm>
              <a:off x="9124582" y="1541285"/>
              <a:ext cx="1452345" cy="145234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grpSp>
      <p:sp>
        <p:nvSpPr>
          <p:cNvPr id="6" name="矩形 1"/>
          <p:cNvSpPr>
            <a:spLocks noChangeArrowheads="1"/>
          </p:cNvSpPr>
          <p:nvPr userDrawn="1"/>
        </p:nvSpPr>
        <p:spPr bwMode="auto">
          <a:xfrm>
            <a:off x="3852634" y="82950"/>
            <a:ext cx="1885373"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defTabSz="22860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defTabSz="22860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defTabSz="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defTabSz="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defTabSz="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FontTx/>
              <a:buNone/>
              <a:defRPr/>
            </a:pPr>
            <a:r>
              <a:rPr lang="en-US" altLang="zh-CN" sz="2700" dirty="0">
                <a:solidFill>
                  <a:srgbClr val="0065FA"/>
                </a:solidFill>
                <a:latin typeface="Century Gothic" panose="020B0502020202020204" pitchFamily="34" charset="0"/>
                <a:ea typeface="等线" panose="02010600030101010101" pitchFamily="2" charset="-122"/>
              </a:rPr>
              <a:t>CONTENTS</a:t>
            </a:r>
            <a:endParaRPr lang="de-DE" altLang="zh-CN" sz="2700" dirty="0">
              <a:solidFill>
                <a:srgbClr val="0065FA"/>
              </a:solidFill>
              <a:latin typeface="Century Gothic" panose="020B0502020202020204" pitchFamily="34" charset="0"/>
              <a:ea typeface="等线" panose="02010600030101010101" pitchFamily="2" charset="-122"/>
            </a:endParaRPr>
          </a:p>
        </p:txBody>
      </p:sp>
      <p:sp>
        <p:nvSpPr>
          <p:cNvPr id="8" name="Line 4"/>
          <p:cNvSpPr>
            <a:spLocks noChangeShapeType="1"/>
          </p:cNvSpPr>
          <p:nvPr userDrawn="1"/>
        </p:nvSpPr>
        <p:spPr bwMode="auto">
          <a:xfrm flipV="1">
            <a:off x="4901804" y="1204913"/>
            <a:ext cx="0" cy="3502819"/>
          </a:xfrm>
          <a:prstGeom prst="line">
            <a:avLst/>
          </a:prstGeom>
          <a:noFill/>
          <a:ln w="6350">
            <a:solidFill>
              <a:srgbClr val="B4B4B5"/>
            </a:solidFill>
            <a:round/>
          </a:ln>
          <a:extLst>
            <a:ext uri="{909E8E84-426E-40DD-AFC4-6F175D3DCCD1}">
              <a14:hiddenFill xmlns:a14="http://schemas.microsoft.com/office/drawing/2010/main">
                <a:noFill/>
              </a14:hiddenFill>
            </a:ext>
          </a:extLst>
        </p:spPr>
        <p:txBody>
          <a:bodyPr lIns="68580" tIns="34290" rIns="68580" bIns="34290"/>
          <a:lstStyle/>
          <a:p>
            <a:endParaRPr lang="zh-CN" altLang="en-US"/>
          </a:p>
        </p:txBody>
      </p:sp>
      <p:sp>
        <p:nvSpPr>
          <p:cNvPr id="9" name="椭圆 24"/>
          <p:cNvSpPr>
            <a:spLocks noChangeArrowheads="1"/>
          </p:cNvSpPr>
          <p:nvPr userDrawn="1"/>
        </p:nvSpPr>
        <p:spPr bwMode="auto">
          <a:xfrm>
            <a:off x="4852988" y="2835968"/>
            <a:ext cx="97631" cy="98822"/>
          </a:xfrm>
          <a:prstGeom prst="ellipse">
            <a:avLst/>
          </a:prstGeom>
          <a:solidFill>
            <a:srgbClr val="0065FA"/>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endParaRPr lang="zh-CN" altLang="en-US" sz="1400">
              <a:latin typeface="微软雅黑" panose="020B0503020204020204" charset="-122"/>
              <a:ea typeface="微软雅黑" panose="020B0503020204020204" charset="-122"/>
            </a:endParaRPr>
          </a:p>
        </p:txBody>
      </p:sp>
      <p:sp>
        <p:nvSpPr>
          <p:cNvPr id="10" name="椭圆 25"/>
          <p:cNvSpPr>
            <a:spLocks noChangeArrowheads="1"/>
          </p:cNvSpPr>
          <p:nvPr userDrawn="1"/>
        </p:nvSpPr>
        <p:spPr bwMode="auto">
          <a:xfrm>
            <a:off x="4852988" y="3431260"/>
            <a:ext cx="97631" cy="97631"/>
          </a:xfrm>
          <a:prstGeom prst="ellipse">
            <a:avLst/>
          </a:prstGeom>
          <a:solidFill>
            <a:srgbClr val="0065FA"/>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endParaRPr lang="zh-CN" altLang="en-US" sz="1400">
              <a:latin typeface="微软雅黑" panose="020B0503020204020204" charset="-122"/>
              <a:ea typeface="微软雅黑" panose="020B0503020204020204" charset="-122"/>
            </a:endParaRPr>
          </a:p>
        </p:txBody>
      </p:sp>
      <p:sp>
        <p:nvSpPr>
          <p:cNvPr id="11" name="椭圆 25"/>
          <p:cNvSpPr>
            <a:spLocks noChangeArrowheads="1"/>
          </p:cNvSpPr>
          <p:nvPr userDrawn="1"/>
        </p:nvSpPr>
        <p:spPr bwMode="auto">
          <a:xfrm>
            <a:off x="4852988" y="3997897"/>
            <a:ext cx="97631" cy="97631"/>
          </a:xfrm>
          <a:prstGeom prst="ellipse">
            <a:avLst/>
          </a:prstGeom>
          <a:solidFill>
            <a:srgbClr val="0065FA"/>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endParaRPr lang="zh-CN" altLang="en-US" sz="1400">
              <a:latin typeface="微软雅黑" panose="020B0503020204020204" charset="-122"/>
              <a:ea typeface="微软雅黑" panose="020B0503020204020204" charset="-122"/>
            </a:endParaRPr>
          </a:p>
        </p:txBody>
      </p:sp>
      <p:sp>
        <p:nvSpPr>
          <p:cNvPr id="12" name="椭圆 24"/>
          <p:cNvSpPr>
            <a:spLocks noChangeArrowheads="1"/>
          </p:cNvSpPr>
          <p:nvPr userDrawn="1"/>
        </p:nvSpPr>
        <p:spPr bwMode="auto">
          <a:xfrm>
            <a:off x="4852988" y="2260937"/>
            <a:ext cx="97631" cy="97631"/>
          </a:xfrm>
          <a:prstGeom prst="ellipse">
            <a:avLst/>
          </a:prstGeom>
          <a:solidFill>
            <a:srgbClr val="0065FA"/>
          </a:solidFill>
          <a:ln w="9525">
            <a:solidFill>
              <a:srgbClr val="0065FA"/>
            </a:solidFill>
            <a:round/>
          </a:ln>
        </p:spPr>
        <p:txBody>
          <a:bodyPr lIns="68580" tIns="34290" rIns="68580" bIns="34290"/>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endParaRPr lang="zh-CN" altLang="en-US" sz="1400">
              <a:latin typeface="微软雅黑" panose="020B0503020204020204" charset="-122"/>
              <a:ea typeface="微软雅黑" panose="020B0503020204020204" charset="-122"/>
            </a:endParaRPr>
          </a:p>
        </p:txBody>
      </p:sp>
      <p:pic>
        <p:nvPicPr>
          <p:cNvPr id="16" name="图片 15"/>
          <p:cNvPicPr>
            <a:picLocks noChangeAspect="1"/>
          </p:cNvPicPr>
          <p:nvPr userDrawn="1"/>
        </p:nvPicPr>
        <p:blipFill rotWithShape="1">
          <a:blip r:embed="rId2" cstate="print">
            <a:extLst>
              <a:ext uri="{28A0092B-C50C-407E-A947-70E740481C1C}">
                <a14:useLocalDpi xmlns:a14="http://schemas.microsoft.com/office/drawing/2010/main" val="0"/>
              </a:ext>
            </a:extLst>
          </a:blip>
          <a:srcRect b="4530"/>
          <a:stretch>
            <a:fillRect/>
          </a:stretch>
        </p:blipFill>
        <p:spPr>
          <a:xfrm>
            <a:off x="-44725" y="-1"/>
            <a:ext cx="3850606" cy="5143501"/>
          </a:xfrm>
          <a:prstGeom prst="rect">
            <a:avLst/>
          </a:prstGeom>
        </p:spPr>
      </p:pic>
      <p:sp>
        <p:nvSpPr>
          <p:cNvPr id="20" name="标题 19"/>
          <p:cNvSpPr>
            <a:spLocks noGrp="1"/>
          </p:cNvSpPr>
          <p:nvPr>
            <p:ph type="title" hasCustomPrompt="1"/>
          </p:nvPr>
        </p:nvSpPr>
        <p:spPr>
          <a:xfrm>
            <a:off x="4463170" y="440825"/>
            <a:ext cx="4434344" cy="644529"/>
          </a:xfrm>
        </p:spPr>
        <p:txBody>
          <a:bodyPr/>
          <a:lstStyle>
            <a:lvl1pPr algn="ctr">
              <a:defRPr sz="2400" b="1">
                <a:solidFill>
                  <a:srgbClr val="177DFF"/>
                </a:solidFill>
              </a:defRPr>
            </a:lvl1pPr>
          </a:lstStyle>
          <a:p>
            <a:r>
              <a:rPr lang="zh-CN" altLang="en-US" dirty="0"/>
              <a:t>章节标题</a:t>
            </a:r>
            <a:endParaRPr lang="zh-CN" altLang="en-US" dirty="0"/>
          </a:p>
        </p:txBody>
      </p:sp>
      <p:sp>
        <p:nvSpPr>
          <p:cNvPr id="24" name="文本占位符 23"/>
          <p:cNvSpPr>
            <a:spLocks noGrp="1"/>
          </p:cNvSpPr>
          <p:nvPr>
            <p:ph type="body" sz="quarter" idx="10" hasCustomPrompt="1"/>
          </p:nvPr>
        </p:nvSpPr>
        <p:spPr>
          <a:xfrm>
            <a:off x="5188177" y="1437603"/>
            <a:ext cx="3500615" cy="3005189"/>
          </a:xfrm>
        </p:spPr>
        <p:txBody>
          <a:bodyPr/>
          <a:lstStyle>
            <a:lvl1pPr>
              <a:lnSpc>
                <a:spcPct val="150000"/>
              </a:lnSpc>
              <a:buNone/>
              <a:defRPr>
                <a:solidFill>
                  <a:schemeClr val="tx1">
                    <a:lumMod val="65000"/>
                    <a:lumOff val="35000"/>
                  </a:schemeClr>
                </a:solidFill>
              </a:defRPr>
            </a:lvl1pPr>
          </a:lstStyle>
          <a:p>
            <a:pPr lvl="0"/>
            <a:r>
              <a:rPr lang="zh-CN" altLang="en-US" dirty="0"/>
              <a:t>一、分节内容</a:t>
            </a:r>
            <a:endParaRPr lang="en-US" altLang="zh-CN" dirty="0"/>
          </a:p>
          <a:p>
            <a:pPr lvl="0"/>
            <a:r>
              <a:rPr lang="zh-CN" altLang="en-US" dirty="0"/>
              <a:t>二、</a:t>
            </a:r>
            <a:endParaRPr lang="en-US" altLang="zh-CN" dirty="0"/>
          </a:p>
          <a:p>
            <a:pPr lvl="0"/>
            <a:r>
              <a:rPr lang="zh-CN" altLang="en-US" dirty="0"/>
              <a:t>三、</a:t>
            </a:r>
            <a:endParaRPr lang="en-US" altLang="zh-CN" dirty="0"/>
          </a:p>
          <a:p>
            <a:pPr lvl="0"/>
            <a:r>
              <a:rPr lang="zh-CN" altLang="en-US" dirty="0"/>
              <a:t>四、</a:t>
            </a:r>
            <a:endParaRPr lang="en-US" altLang="zh-CN" dirty="0"/>
          </a:p>
          <a:p>
            <a:pPr lvl="0"/>
            <a:r>
              <a:rPr lang="zh-CN" altLang="en-US" dirty="0"/>
              <a:t>五、</a:t>
            </a:r>
            <a:endParaRPr lang="zh-CN" altLang="en-US" dirty="0"/>
          </a:p>
        </p:txBody>
      </p:sp>
      <p:pic>
        <p:nvPicPr>
          <p:cNvPr id="14" name="图片 13" descr="联合伟世横logo副本"/>
          <p:cNvPicPr>
            <a:picLocks noChangeAspect="1"/>
          </p:cNvPicPr>
          <p:nvPr userDrawn="1"/>
        </p:nvPicPr>
        <p:blipFill>
          <a:blip r:embed="rId3"/>
          <a:stretch>
            <a:fillRect/>
          </a:stretch>
        </p:blipFill>
        <p:spPr>
          <a:xfrm>
            <a:off x="8231390" y="268392"/>
            <a:ext cx="631911" cy="26729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标题页">
    <p:spTree>
      <p:nvGrpSpPr>
        <p:cNvPr id="1" name=""/>
        <p:cNvGrpSpPr/>
        <p:nvPr/>
      </p:nvGrpSpPr>
      <p:grpSpPr>
        <a:xfrm>
          <a:off x="0" y="0"/>
          <a:ext cx="0" cy="0"/>
          <a:chOff x="0" y="0"/>
          <a:chExt cx="0" cy="0"/>
        </a:xfrm>
      </p:grpSpPr>
      <p:sp>
        <p:nvSpPr>
          <p:cNvPr id="4" name="Rechteck 18"/>
          <p:cNvSpPr/>
          <p:nvPr userDrawn="1"/>
        </p:nvSpPr>
        <p:spPr>
          <a:xfrm>
            <a:off x="0" y="3065860"/>
            <a:ext cx="9142810" cy="2152650"/>
          </a:xfrm>
          <a:prstGeom prst="rect">
            <a:avLst/>
          </a:prstGeom>
          <a:solidFill>
            <a:srgbClr val="177DF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defTabSz="171450">
              <a:defRPr/>
            </a:pPr>
            <a:endParaRPr lang="de-DE" sz="700">
              <a:solidFill>
                <a:srgbClr val="F9F9F9">
                  <a:lumMod val="50000"/>
                </a:srgbClr>
              </a:solidFill>
            </a:endParaRPr>
          </a:p>
        </p:txBody>
      </p:sp>
      <p:sp>
        <p:nvSpPr>
          <p:cNvPr id="5" name="日期占位符 2"/>
          <p:cNvSpPr>
            <a:spLocks noGrp="1"/>
          </p:cNvSpPr>
          <p:nvPr>
            <p:ph type="dt" sz="half" idx="10"/>
          </p:nvPr>
        </p:nvSpPr>
        <p:spPr/>
        <p:txBody>
          <a:bodyPr/>
          <a:lstStyle>
            <a:lvl1pPr>
              <a:defRPr/>
            </a:lvl1pPr>
          </a:lstStyle>
          <a:p>
            <a:pPr>
              <a:defRPr/>
            </a:pPr>
            <a:fld id="{9CDF11EC-01F9-5244-80E1-C6DCC51603FD}" type="datetimeFigureOut">
              <a:rPr lang="zh-CN" altLang="en-US"/>
            </a:fld>
            <a:endParaRPr lang="zh-CN" altLang="en-US"/>
          </a:p>
        </p:txBody>
      </p:sp>
      <p:sp>
        <p:nvSpPr>
          <p:cNvPr id="6" name="页脚占位符 3"/>
          <p:cNvSpPr>
            <a:spLocks noGrp="1"/>
          </p:cNvSpPr>
          <p:nvPr>
            <p:ph type="ftr" sz="quarter" idx="11"/>
          </p:nvPr>
        </p:nvSpPr>
        <p:spPr/>
        <p:txBody>
          <a:bodyPr/>
          <a:lstStyle>
            <a:lvl1pPr>
              <a:defRPr/>
            </a:lvl1pPr>
          </a:lstStyle>
          <a:p>
            <a:pPr>
              <a:defRPr/>
            </a:pPr>
            <a:endParaRPr lang="zh-CN" altLang="en-US"/>
          </a:p>
        </p:txBody>
      </p:sp>
      <p:sp>
        <p:nvSpPr>
          <p:cNvPr id="7" name="灯片编号占位符 4"/>
          <p:cNvSpPr>
            <a:spLocks noGrp="1"/>
          </p:cNvSpPr>
          <p:nvPr>
            <p:ph type="sldNum" sz="quarter" idx="12"/>
          </p:nvPr>
        </p:nvSpPr>
        <p:spPr/>
        <p:txBody>
          <a:bodyPr/>
          <a:lstStyle>
            <a:lvl1pPr>
              <a:defRPr/>
            </a:lvl1pPr>
          </a:lstStyle>
          <a:p>
            <a:pPr>
              <a:defRPr/>
            </a:pPr>
            <a:fld id="{CF5F7D74-83AF-0E45-A0D9-15E45F534703}" type="slidenum">
              <a:rPr lang="zh-CN" altLang="en-US"/>
            </a:fld>
            <a:endParaRPr lang="zh-CN" altLang="en-US"/>
          </a:p>
        </p:txBody>
      </p:sp>
      <p:sp>
        <p:nvSpPr>
          <p:cNvPr id="16" name="标题 15"/>
          <p:cNvSpPr>
            <a:spLocks noGrp="1"/>
          </p:cNvSpPr>
          <p:nvPr>
            <p:ph type="title" hasCustomPrompt="1"/>
          </p:nvPr>
        </p:nvSpPr>
        <p:spPr>
          <a:xfrm>
            <a:off x="1257300" y="1913797"/>
            <a:ext cx="6709907" cy="994172"/>
          </a:xfrm>
        </p:spPr>
        <p:txBody>
          <a:bodyPr/>
          <a:lstStyle>
            <a:lvl1pPr algn="ctr">
              <a:defRPr b="1">
                <a:solidFill>
                  <a:srgbClr val="0070C0"/>
                </a:solidFill>
              </a:defRPr>
            </a:lvl1pPr>
          </a:lstStyle>
          <a:p>
            <a:r>
              <a:rPr lang="zh-CN" altLang="en-US" dirty="0"/>
              <a:t>章节标题</a:t>
            </a:r>
            <a:endParaRPr lang="zh-CN" altLang="en-US" dirty="0"/>
          </a:p>
        </p:txBody>
      </p:sp>
      <p:pic>
        <p:nvPicPr>
          <p:cNvPr id="8" name="图片 7" descr="联合伟世横logo副本"/>
          <p:cNvPicPr>
            <a:picLocks noChangeAspect="1"/>
          </p:cNvPicPr>
          <p:nvPr userDrawn="1"/>
        </p:nvPicPr>
        <p:blipFill>
          <a:blip r:embed="rId2"/>
          <a:stretch>
            <a:fillRect/>
          </a:stretch>
        </p:blipFill>
        <p:spPr>
          <a:xfrm>
            <a:off x="8231390" y="268392"/>
            <a:ext cx="631911" cy="26729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正文空页">
    <p:spTree>
      <p:nvGrpSpPr>
        <p:cNvPr id="1" name=""/>
        <p:cNvGrpSpPr/>
        <p:nvPr/>
      </p:nvGrpSpPr>
      <p:grpSpPr>
        <a:xfrm>
          <a:off x="0" y="0"/>
          <a:ext cx="0" cy="0"/>
          <a:chOff x="0" y="0"/>
          <a:chExt cx="0" cy="0"/>
        </a:xfrm>
      </p:grpSpPr>
      <p:sp>
        <p:nvSpPr>
          <p:cNvPr id="6" name="矩形 5"/>
          <p:cNvSpPr/>
          <p:nvPr userDrawn="1"/>
        </p:nvSpPr>
        <p:spPr>
          <a:xfrm>
            <a:off x="0" y="4887411"/>
            <a:ext cx="9144000" cy="256090"/>
          </a:xfrm>
          <a:prstGeom prst="rect">
            <a:avLst/>
          </a:prstGeom>
          <a:solidFill>
            <a:srgbClr val="177DF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kumimoji="1" lang="zh-CN" altLang="en-US"/>
          </a:p>
        </p:txBody>
      </p:sp>
      <p:sp>
        <p:nvSpPr>
          <p:cNvPr id="12" name="圆角矩形 11"/>
          <p:cNvSpPr/>
          <p:nvPr userDrawn="1"/>
        </p:nvSpPr>
        <p:spPr>
          <a:xfrm>
            <a:off x="470224" y="451412"/>
            <a:ext cx="93698" cy="93698"/>
          </a:xfrm>
          <a:prstGeom prst="roundRect">
            <a:avLst/>
          </a:prstGeom>
          <a:solidFill>
            <a:srgbClr val="177DF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kumimoji="1" lang="zh-CN" altLang="en-US"/>
          </a:p>
        </p:txBody>
      </p:sp>
      <p:sp>
        <p:nvSpPr>
          <p:cNvPr id="13" name="圆角矩形 12"/>
          <p:cNvSpPr/>
          <p:nvPr userDrawn="1"/>
        </p:nvSpPr>
        <p:spPr>
          <a:xfrm>
            <a:off x="470224" y="600437"/>
            <a:ext cx="93698" cy="93698"/>
          </a:xfrm>
          <a:prstGeom prst="roundRect">
            <a:avLst/>
          </a:prstGeom>
          <a:solidFill>
            <a:srgbClr val="177DF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kumimoji="1" lang="zh-CN" altLang="en-US"/>
          </a:p>
        </p:txBody>
      </p:sp>
      <p:sp>
        <p:nvSpPr>
          <p:cNvPr id="14" name="圆角矩形 13"/>
          <p:cNvSpPr/>
          <p:nvPr userDrawn="1"/>
        </p:nvSpPr>
        <p:spPr>
          <a:xfrm>
            <a:off x="470224" y="749462"/>
            <a:ext cx="93698" cy="93698"/>
          </a:xfrm>
          <a:prstGeom prst="roundRect">
            <a:avLst/>
          </a:prstGeom>
          <a:solidFill>
            <a:srgbClr val="177DF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kumimoji="1" lang="zh-CN" altLang="en-US"/>
          </a:p>
        </p:txBody>
      </p:sp>
      <p:sp>
        <p:nvSpPr>
          <p:cNvPr id="10" name="标题 9"/>
          <p:cNvSpPr>
            <a:spLocks noGrp="1"/>
          </p:cNvSpPr>
          <p:nvPr>
            <p:ph type="title" hasCustomPrompt="1"/>
          </p:nvPr>
        </p:nvSpPr>
        <p:spPr>
          <a:xfrm>
            <a:off x="628650" y="71094"/>
            <a:ext cx="6110081" cy="513327"/>
          </a:xfrm>
        </p:spPr>
        <p:txBody>
          <a:bodyPr/>
          <a:lstStyle>
            <a:lvl1pPr>
              <a:defRPr sz="2700" b="1">
                <a:solidFill>
                  <a:srgbClr val="177DFF"/>
                </a:solidFill>
              </a:defRPr>
            </a:lvl1pPr>
          </a:lstStyle>
          <a:p>
            <a:r>
              <a:rPr lang="zh-CN" altLang="en-US" dirty="0"/>
              <a:t>节标题</a:t>
            </a:r>
            <a:endParaRPr lang="zh-CN" altLang="en-US" dirty="0"/>
          </a:p>
        </p:txBody>
      </p:sp>
      <p:sp>
        <p:nvSpPr>
          <p:cNvPr id="21" name="文本占位符 20"/>
          <p:cNvSpPr>
            <a:spLocks noGrp="1"/>
          </p:cNvSpPr>
          <p:nvPr>
            <p:ph type="body" sz="quarter" idx="10" hasCustomPrompt="1"/>
          </p:nvPr>
        </p:nvSpPr>
        <p:spPr>
          <a:xfrm>
            <a:off x="643612" y="596748"/>
            <a:ext cx="6118973" cy="452831"/>
          </a:xfrm>
        </p:spPr>
        <p:txBody>
          <a:bodyPr/>
          <a:lstStyle>
            <a:lvl1pPr>
              <a:buNone/>
              <a:defRPr b="1">
                <a:solidFill>
                  <a:schemeClr val="tx1">
                    <a:lumMod val="75000"/>
                    <a:lumOff val="25000"/>
                  </a:schemeClr>
                </a:solidFill>
              </a:defRPr>
            </a:lvl1pPr>
          </a:lstStyle>
          <a:p>
            <a:pPr lvl="0"/>
            <a:r>
              <a:rPr lang="zh-CN" altLang="en-US" dirty="0"/>
              <a:t>小节标题</a:t>
            </a:r>
            <a:endParaRPr lang="zh-CN" altLang="en-US" dirty="0"/>
          </a:p>
        </p:txBody>
      </p:sp>
      <p:sp>
        <p:nvSpPr>
          <p:cNvPr id="22" name="日期占位符 21"/>
          <p:cNvSpPr>
            <a:spLocks noGrp="1"/>
          </p:cNvSpPr>
          <p:nvPr>
            <p:ph type="dt" sz="half" idx="11"/>
          </p:nvPr>
        </p:nvSpPr>
        <p:spPr>
          <a:xfrm>
            <a:off x="628650" y="4862675"/>
            <a:ext cx="2057400" cy="273844"/>
          </a:xfrm>
        </p:spPr>
        <p:txBody>
          <a:bodyPr/>
          <a:lstStyle>
            <a:lvl1pPr>
              <a:defRPr b="0">
                <a:solidFill>
                  <a:schemeClr val="bg1"/>
                </a:solidFill>
                <a:latin typeface="+mn-ea"/>
                <a:ea typeface="+mn-ea"/>
              </a:defRPr>
            </a:lvl1pPr>
          </a:lstStyle>
          <a:p>
            <a:pPr>
              <a:defRPr/>
            </a:pPr>
            <a:fld id="{6C550A40-DB64-6D45-94F1-59D7256C5D49}" type="datetimeFigureOut">
              <a:rPr lang="zh-CN" altLang="en-US" smtClean="0"/>
            </a:fld>
            <a:endParaRPr lang="zh-CN" altLang="en-US"/>
          </a:p>
        </p:txBody>
      </p:sp>
      <p:sp>
        <p:nvSpPr>
          <p:cNvPr id="23" name="灯片编号占位符 22"/>
          <p:cNvSpPr>
            <a:spLocks noGrp="1"/>
          </p:cNvSpPr>
          <p:nvPr>
            <p:ph type="sldNum" sz="quarter" idx="12"/>
          </p:nvPr>
        </p:nvSpPr>
        <p:spPr>
          <a:xfrm>
            <a:off x="6457950" y="4862675"/>
            <a:ext cx="2057400" cy="273844"/>
          </a:xfrm>
        </p:spPr>
        <p:txBody>
          <a:bodyPr/>
          <a:lstStyle>
            <a:lvl1pPr>
              <a:defRPr b="0">
                <a:solidFill>
                  <a:schemeClr val="bg1"/>
                </a:solidFill>
                <a:latin typeface="+mn-ea"/>
                <a:ea typeface="+mn-ea"/>
              </a:defRPr>
            </a:lvl1pPr>
          </a:lstStyle>
          <a:p>
            <a:pPr>
              <a:defRPr/>
            </a:pPr>
            <a:fld id="{9A2EC91F-B89F-3748-A14E-77B87DA9E484}" type="slidenum">
              <a:rPr lang="zh-CN" altLang="en-US" smtClean="0"/>
            </a:fld>
            <a:endParaRPr lang="zh-CN" altLang="en-US"/>
          </a:p>
        </p:txBody>
      </p:sp>
      <p:sp>
        <p:nvSpPr>
          <p:cNvPr id="24" name="页脚占位符 23"/>
          <p:cNvSpPr>
            <a:spLocks noGrp="1"/>
          </p:cNvSpPr>
          <p:nvPr>
            <p:ph type="ftr" sz="quarter" idx="13"/>
          </p:nvPr>
        </p:nvSpPr>
        <p:spPr>
          <a:xfrm>
            <a:off x="3028950" y="4862675"/>
            <a:ext cx="3086100" cy="273844"/>
          </a:xfrm>
        </p:spPr>
        <p:txBody>
          <a:bodyPr/>
          <a:lstStyle>
            <a:lvl1pPr>
              <a:defRPr b="0">
                <a:solidFill>
                  <a:schemeClr val="bg1"/>
                </a:solidFill>
                <a:latin typeface="+mn-ea"/>
                <a:ea typeface="+mn-ea"/>
              </a:defRPr>
            </a:lvl1pPr>
          </a:lstStyle>
          <a:p>
            <a:pPr>
              <a:defRPr/>
            </a:pPr>
            <a:endParaRPr lang="zh-CN" altLang="en-US"/>
          </a:p>
        </p:txBody>
      </p:sp>
      <p:sp>
        <p:nvSpPr>
          <p:cNvPr id="30" name="矩形 29"/>
          <p:cNvSpPr/>
          <p:nvPr userDrawn="1"/>
        </p:nvSpPr>
        <p:spPr>
          <a:xfrm>
            <a:off x="0" y="961454"/>
            <a:ext cx="9144000" cy="27000"/>
          </a:xfrm>
          <a:prstGeom prst="rect">
            <a:avLst/>
          </a:prstGeom>
          <a:solidFill>
            <a:srgbClr val="177DF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kumimoji="1" lang="zh-CN" altLang="en-US"/>
          </a:p>
        </p:txBody>
      </p:sp>
      <p:pic>
        <p:nvPicPr>
          <p:cNvPr id="15" name="图片 14" descr="联合伟世横logo副本"/>
          <p:cNvPicPr>
            <a:picLocks noChangeAspect="1"/>
          </p:cNvPicPr>
          <p:nvPr userDrawn="1"/>
        </p:nvPicPr>
        <p:blipFill>
          <a:blip r:embed="rId2"/>
          <a:stretch>
            <a:fillRect/>
          </a:stretch>
        </p:blipFill>
        <p:spPr>
          <a:xfrm>
            <a:off x="8231390" y="268392"/>
            <a:ext cx="631911" cy="26729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sp>
        <p:nvSpPr>
          <p:cNvPr id="6" name="矩形 5"/>
          <p:cNvSpPr/>
          <p:nvPr userDrawn="1"/>
        </p:nvSpPr>
        <p:spPr>
          <a:xfrm>
            <a:off x="0" y="4887411"/>
            <a:ext cx="9144000" cy="256090"/>
          </a:xfrm>
          <a:prstGeom prst="rect">
            <a:avLst/>
          </a:prstGeom>
          <a:solidFill>
            <a:srgbClr val="177DF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kumimoji="1" lang="zh-CN" altLang="en-US"/>
          </a:p>
        </p:txBody>
      </p:sp>
      <p:sp>
        <p:nvSpPr>
          <p:cNvPr id="10" name="标题 9"/>
          <p:cNvSpPr>
            <a:spLocks noGrp="1"/>
          </p:cNvSpPr>
          <p:nvPr>
            <p:ph type="title" hasCustomPrompt="1"/>
          </p:nvPr>
        </p:nvSpPr>
        <p:spPr>
          <a:xfrm>
            <a:off x="628650" y="401947"/>
            <a:ext cx="6110081" cy="513327"/>
          </a:xfrm>
        </p:spPr>
        <p:txBody>
          <a:bodyPr/>
          <a:lstStyle>
            <a:lvl1pPr>
              <a:defRPr sz="2400" b="1">
                <a:solidFill>
                  <a:srgbClr val="177DFF"/>
                </a:solidFill>
              </a:defRPr>
            </a:lvl1pPr>
          </a:lstStyle>
          <a:p>
            <a:r>
              <a:rPr lang="zh-CN" altLang="en-US" dirty="0"/>
              <a:t>节标题</a:t>
            </a:r>
            <a:endParaRPr lang="zh-CN" altLang="en-US" dirty="0"/>
          </a:p>
        </p:txBody>
      </p:sp>
      <p:sp>
        <p:nvSpPr>
          <p:cNvPr id="22" name="日期占位符 21"/>
          <p:cNvSpPr>
            <a:spLocks noGrp="1"/>
          </p:cNvSpPr>
          <p:nvPr>
            <p:ph type="dt" sz="half" idx="11"/>
          </p:nvPr>
        </p:nvSpPr>
        <p:spPr>
          <a:xfrm>
            <a:off x="628650" y="4862675"/>
            <a:ext cx="2057400" cy="273844"/>
          </a:xfrm>
        </p:spPr>
        <p:txBody>
          <a:bodyPr/>
          <a:lstStyle>
            <a:lvl1pPr>
              <a:defRPr b="0">
                <a:solidFill>
                  <a:schemeClr val="bg1"/>
                </a:solidFill>
                <a:latin typeface="+mn-ea"/>
                <a:ea typeface="+mn-ea"/>
              </a:defRPr>
            </a:lvl1pPr>
          </a:lstStyle>
          <a:p>
            <a:pPr>
              <a:defRPr/>
            </a:pPr>
            <a:fld id="{6C550A40-DB64-6D45-94F1-59D7256C5D49}" type="datetimeFigureOut">
              <a:rPr lang="zh-CN" altLang="en-US" smtClean="0"/>
            </a:fld>
            <a:endParaRPr lang="zh-CN" altLang="en-US"/>
          </a:p>
        </p:txBody>
      </p:sp>
      <p:sp>
        <p:nvSpPr>
          <p:cNvPr id="23" name="灯片编号占位符 22"/>
          <p:cNvSpPr>
            <a:spLocks noGrp="1"/>
          </p:cNvSpPr>
          <p:nvPr>
            <p:ph type="sldNum" sz="quarter" idx="12"/>
          </p:nvPr>
        </p:nvSpPr>
        <p:spPr>
          <a:xfrm>
            <a:off x="6457950" y="4862675"/>
            <a:ext cx="2057400" cy="273844"/>
          </a:xfrm>
        </p:spPr>
        <p:txBody>
          <a:bodyPr/>
          <a:lstStyle>
            <a:lvl1pPr>
              <a:defRPr b="0">
                <a:solidFill>
                  <a:schemeClr val="bg1"/>
                </a:solidFill>
                <a:latin typeface="+mn-ea"/>
                <a:ea typeface="+mn-ea"/>
              </a:defRPr>
            </a:lvl1pPr>
          </a:lstStyle>
          <a:p>
            <a:pPr>
              <a:defRPr/>
            </a:pPr>
            <a:fld id="{9A2EC91F-B89F-3748-A14E-77B87DA9E484}" type="slidenum">
              <a:rPr lang="zh-CN" altLang="en-US" smtClean="0"/>
            </a:fld>
            <a:endParaRPr lang="zh-CN" altLang="en-US"/>
          </a:p>
        </p:txBody>
      </p:sp>
      <p:sp>
        <p:nvSpPr>
          <p:cNvPr id="24" name="页脚占位符 23"/>
          <p:cNvSpPr>
            <a:spLocks noGrp="1"/>
          </p:cNvSpPr>
          <p:nvPr>
            <p:ph type="ftr" sz="quarter" idx="13"/>
          </p:nvPr>
        </p:nvSpPr>
        <p:spPr>
          <a:xfrm>
            <a:off x="3028950" y="4862675"/>
            <a:ext cx="3086100" cy="273844"/>
          </a:xfrm>
        </p:spPr>
        <p:txBody>
          <a:bodyPr/>
          <a:lstStyle>
            <a:lvl1pPr>
              <a:defRPr b="0">
                <a:solidFill>
                  <a:schemeClr val="bg1"/>
                </a:solidFill>
                <a:latin typeface="+mn-ea"/>
                <a:ea typeface="+mn-ea"/>
              </a:defRPr>
            </a:lvl1pPr>
          </a:lstStyle>
          <a:p>
            <a:pPr>
              <a:defRPr/>
            </a:pPr>
            <a:endParaRPr lang="zh-CN" altLang="en-US"/>
          </a:p>
        </p:txBody>
      </p:sp>
      <p:sp>
        <p:nvSpPr>
          <p:cNvPr id="30" name="矩形 29"/>
          <p:cNvSpPr/>
          <p:nvPr userDrawn="1"/>
        </p:nvSpPr>
        <p:spPr>
          <a:xfrm>
            <a:off x="0" y="961454"/>
            <a:ext cx="9144000" cy="27000"/>
          </a:xfrm>
          <a:prstGeom prst="rect">
            <a:avLst/>
          </a:prstGeom>
          <a:solidFill>
            <a:srgbClr val="177DFF"/>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kumimoji="1" lang="zh-CN" altLang="en-US"/>
          </a:p>
        </p:txBody>
      </p:sp>
      <p:sp>
        <p:nvSpPr>
          <p:cNvPr id="33" name="文本占位符 32"/>
          <p:cNvSpPr>
            <a:spLocks noGrp="1"/>
          </p:cNvSpPr>
          <p:nvPr>
            <p:ph type="body" sz="quarter" idx="14" hasCustomPrompt="1"/>
          </p:nvPr>
        </p:nvSpPr>
        <p:spPr>
          <a:xfrm>
            <a:off x="548382" y="1252061"/>
            <a:ext cx="8110589" cy="3220547"/>
          </a:xfrm>
        </p:spPr>
        <p:txBody>
          <a:bodyPr/>
          <a:lstStyle>
            <a:lvl1pPr>
              <a:buNone/>
              <a:defRPr b="1">
                <a:solidFill>
                  <a:schemeClr val="tx1"/>
                </a:solidFill>
              </a:defRPr>
            </a:lvl1pPr>
            <a:lvl2pPr>
              <a:buNone/>
              <a:defRPr b="1"/>
            </a:lvl2pPr>
            <a:lvl3pPr>
              <a:buNone/>
              <a:defRPr b="1"/>
            </a:lvl3pPr>
            <a:lvl4pPr>
              <a:buNone/>
              <a:defRPr b="1"/>
            </a:lvl4pPr>
            <a:lvl5pPr>
              <a:buNone/>
              <a:defRPr b="1"/>
            </a:lvl5pPr>
          </a:lstStyle>
          <a:p>
            <a:pPr lvl="0"/>
            <a:r>
              <a:rPr lang="zh-CN" altLang="en-US" dirty="0"/>
              <a:t>正文内容</a:t>
            </a:r>
            <a:endParaRPr lang="zh-CN" altLang="en-US" dirty="0"/>
          </a:p>
        </p:txBody>
      </p:sp>
      <p:pic>
        <p:nvPicPr>
          <p:cNvPr id="15" name="图片 14" descr="联合伟世横logo副本"/>
          <p:cNvPicPr>
            <a:picLocks noChangeAspect="1"/>
          </p:cNvPicPr>
          <p:nvPr userDrawn="1"/>
        </p:nvPicPr>
        <p:blipFill>
          <a:blip r:embed="rId2"/>
          <a:stretch>
            <a:fillRect/>
          </a:stretch>
        </p:blipFill>
        <p:spPr>
          <a:xfrm>
            <a:off x="8231390" y="268392"/>
            <a:ext cx="631911" cy="267292"/>
          </a:xfrm>
          <a:prstGeom prst="rect">
            <a:avLst/>
          </a:prstGeom>
        </p:spPr>
      </p:pic>
      <p:pic>
        <p:nvPicPr>
          <p:cNvPr id="16" name="图片 6" descr="32313533383437353b32313533383435313bcdbcb2e3"/>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7165" y="433080"/>
            <a:ext cx="451485" cy="45148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底页">
    <p:spTree>
      <p:nvGrpSpPr>
        <p:cNvPr id="1" name=""/>
        <p:cNvGrpSpPr/>
        <p:nvPr/>
      </p:nvGrpSpPr>
      <p:grpSpPr>
        <a:xfrm>
          <a:off x="0" y="0"/>
          <a:ext cx="0" cy="0"/>
          <a:chOff x="0" y="0"/>
          <a:chExt cx="0" cy="0"/>
        </a:xfrm>
      </p:grpSpPr>
      <p:sp>
        <p:nvSpPr>
          <p:cNvPr id="4" name="Rechteck 18"/>
          <p:cNvSpPr/>
          <p:nvPr userDrawn="1"/>
        </p:nvSpPr>
        <p:spPr>
          <a:xfrm>
            <a:off x="0" y="3065860"/>
            <a:ext cx="9142810" cy="2152650"/>
          </a:xfrm>
          <a:prstGeom prst="rect">
            <a:avLst/>
          </a:prstGeom>
          <a:solidFill>
            <a:srgbClr val="2473D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defTabSz="171450">
              <a:defRPr/>
            </a:pPr>
            <a:endParaRPr lang="de-DE" sz="700">
              <a:solidFill>
                <a:srgbClr val="F9F9F9">
                  <a:lumMod val="50000"/>
                </a:srgbClr>
              </a:solidFill>
            </a:endParaRPr>
          </a:p>
        </p:txBody>
      </p:sp>
      <p:sp>
        <p:nvSpPr>
          <p:cNvPr id="5" name="日期占位符 2"/>
          <p:cNvSpPr>
            <a:spLocks noGrp="1"/>
          </p:cNvSpPr>
          <p:nvPr>
            <p:ph type="dt" sz="half" idx="10"/>
          </p:nvPr>
        </p:nvSpPr>
        <p:spPr/>
        <p:txBody>
          <a:bodyPr/>
          <a:lstStyle>
            <a:lvl1pPr>
              <a:defRPr/>
            </a:lvl1pPr>
          </a:lstStyle>
          <a:p>
            <a:pPr>
              <a:defRPr/>
            </a:pPr>
            <a:fld id="{9CDF11EC-01F9-5244-80E1-C6DCC51603FD}" type="datetimeFigureOut">
              <a:rPr lang="zh-CN" altLang="en-US"/>
            </a:fld>
            <a:endParaRPr lang="zh-CN" altLang="en-US"/>
          </a:p>
        </p:txBody>
      </p:sp>
      <p:sp>
        <p:nvSpPr>
          <p:cNvPr id="6" name="页脚占位符 3"/>
          <p:cNvSpPr>
            <a:spLocks noGrp="1"/>
          </p:cNvSpPr>
          <p:nvPr>
            <p:ph type="ftr" sz="quarter" idx="11"/>
          </p:nvPr>
        </p:nvSpPr>
        <p:spPr/>
        <p:txBody>
          <a:bodyPr/>
          <a:lstStyle>
            <a:lvl1pPr>
              <a:defRPr/>
            </a:lvl1pPr>
          </a:lstStyle>
          <a:p>
            <a:pPr>
              <a:defRPr/>
            </a:pPr>
            <a:endParaRPr lang="zh-CN" altLang="en-US"/>
          </a:p>
        </p:txBody>
      </p:sp>
      <p:sp>
        <p:nvSpPr>
          <p:cNvPr id="7" name="灯片编号占位符 4"/>
          <p:cNvSpPr>
            <a:spLocks noGrp="1"/>
          </p:cNvSpPr>
          <p:nvPr>
            <p:ph type="sldNum" sz="quarter" idx="12"/>
          </p:nvPr>
        </p:nvSpPr>
        <p:spPr/>
        <p:txBody>
          <a:bodyPr/>
          <a:lstStyle>
            <a:lvl1pPr>
              <a:defRPr/>
            </a:lvl1pPr>
          </a:lstStyle>
          <a:p>
            <a:pPr>
              <a:defRPr/>
            </a:pPr>
            <a:fld id="{CF5F7D74-83AF-0E45-A0D9-15E45F534703}" type="slidenum">
              <a:rPr lang="zh-CN" altLang="en-US"/>
            </a:fld>
            <a:endParaRPr lang="zh-CN" altLang="en-US"/>
          </a:p>
        </p:txBody>
      </p:sp>
      <p:pic>
        <p:nvPicPr>
          <p:cNvPr id="8" name="图片 7" descr="联合伟世横logo副本"/>
          <p:cNvPicPr>
            <a:picLocks noChangeAspect="1"/>
          </p:cNvPicPr>
          <p:nvPr userDrawn="1"/>
        </p:nvPicPr>
        <p:blipFill>
          <a:blip r:embed="rId2"/>
          <a:stretch>
            <a:fillRect/>
          </a:stretch>
        </p:blipFill>
        <p:spPr>
          <a:xfrm>
            <a:off x="8231390" y="268392"/>
            <a:ext cx="631911" cy="26729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63" name="矩形 62"/>
          <p:cNvSpPr/>
          <p:nvPr userDrawn="1"/>
        </p:nvSpPr>
        <p:spPr>
          <a:xfrm>
            <a:off x="0" y="4892675"/>
            <a:ext cx="9144000" cy="255600"/>
          </a:xfrm>
          <a:prstGeom prst="rect">
            <a:avLst/>
          </a:prstGeom>
          <a:solidFill>
            <a:srgbClr val="177DFF"/>
          </a:solidFill>
          <a:ln>
            <a:noFill/>
          </a:ln>
        </p:spPr>
        <p:style>
          <a:lnRef idx="2">
            <a:schemeClr val="accent1">
              <a:shade val="50000"/>
            </a:schemeClr>
          </a:lnRef>
          <a:fillRef idx="1">
            <a:schemeClr val="accent1"/>
          </a:fillRef>
          <a:effectRef idx="0">
            <a:schemeClr val="accent1"/>
          </a:effectRef>
          <a:fontRef idx="minor">
            <a:schemeClr val="lt1"/>
          </a:fontRef>
        </p:style>
        <p:txBody>
          <a:bodyPr lIns="51407" tIns="25704" rIns="51407" bIns="25704" rtlCol="0" anchor="ctr"/>
          <a:lstStyle/>
          <a:p>
            <a:pPr algn="ctr">
              <a:lnSpc>
                <a:spcPct val="120000"/>
              </a:lnSpc>
            </a:pPr>
            <a:endParaRPr lang="zh-CN" altLang="en-US">
              <a:solidFill>
                <a:srgbClr val="043670"/>
              </a:solidFill>
            </a:endParaRPr>
          </a:p>
        </p:txBody>
      </p:sp>
      <p:pic>
        <p:nvPicPr>
          <p:cNvPr id="3" name="图片 2" descr="联合伟世横logo副本"/>
          <p:cNvPicPr>
            <a:picLocks noChangeAspect="1"/>
          </p:cNvPicPr>
          <p:nvPr userDrawn="1"/>
        </p:nvPicPr>
        <p:blipFill>
          <a:blip r:embed="rId2"/>
          <a:stretch>
            <a:fillRect/>
          </a:stretch>
        </p:blipFill>
        <p:spPr>
          <a:xfrm>
            <a:off x="8231390" y="268392"/>
            <a:ext cx="631911" cy="26729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71AE542C-6648-40F1-8D31-3900F6849C80}"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778DB5-A7B6-472E-BF96-D2A795C4BAF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28650" y="273844"/>
            <a:ext cx="7886700" cy="99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bwMode="auto">
          <a:xfrm>
            <a:off x="628650" y="1369219"/>
            <a:ext cx="7886700" cy="326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6C550A40-DB64-6D45-94F1-59D7256C5D49}" type="datetimeFigureOut">
              <a:rPr lang="zh-CN" altLang="en-US"/>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wrap="square" lIns="68580" tIns="34290" rIns="68580" bIns="34290" numCol="1" anchor="ctr" anchorCtr="0" compatLnSpc="1"/>
          <a:lstStyle>
            <a:lvl1pPr algn="r" eaLnBrk="1" hangingPunct="1">
              <a:defRPr sz="900">
                <a:solidFill>
                  <a:srgbClr val="898989"/>
                </a:solidFill>
                <a:latin typeface="Calibri" panose="020F0502020204030204" charset="0"/>
                <a:ea typeface="宋体" panose="02010600030101010101" pitchFamily="2" charset="-122"/>
              </a:defRPr>
            </a:lvl1pPr>
          </a:lstStyle>
          <a:p>
            <a:pPr>
              <a:defRPr/>
            </a:pPr>
            <a:fld id="{9A2EC91F-B89F-3748-A14E-77B87DA9E484}"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3429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6858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0287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371600" algn="l"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rtl="0" eaLnBrk="0" fontAlgn="base" hangingPunct="0">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l"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4pPr>
      <a:lvl5pPr marL="15430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6.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3.xml"/><Relationship Id="rId13" Type="http://schemas.openxmlformats.org/officeDocument/2006/relationships/slideLayout" Target="../slideLayouts/slideLayout8.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image" Target="../media/image12.jpeg"/><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14.jpe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6.xml"/><Relationship Id="rId2" Type="http://schemas.openxmlformats.org/officeDocument/2006/relationships/image" Target="../media/image16.jpeg"/><Relationship Id="rId1" Type="http://schemas.openxmlformats.org/officeDocument/2006/relationships/image" Target="../media/image15.GIF"/></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16.jpeg"/><Relationship Id="rId1" Type="http://schemas.openxmlformats.org/officeDocument/2006/relationships/image" Target="../media/image15.GIF"/></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18.GIF"/><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6.xml"/><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24.png"/><Relationship Id="rId1"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6.xml"/><Relationship Id="rId2" Type="http://schemas.openxmlformats.org/officeDocument/2006/relationships/image" Target="../media/image27.jpeg"/><Relationship Id="rId1" Type="http://schemas.openxmlformats.org/officeDocument/2006/relationships/image" Target="../media/image26.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6.xml"/><Relationship Id="rId2" Type="http://schemas.openxmlformats.org/officeDocument/2006/relationships/image" Target="../media/image29.jpeg"/><Relationship Id="rId1" Type="http://schemas.openxmlformats.org/officeDocument/2006/relationships/image" Target="../media/image28.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6.xml"/><Relationship Id="rId2" Type="http://schemas.openxmlformats.org/officeDocument/2006/relationships/image" Target="../media/image20.jpeg"/><Relationship Id="rId1" Type="http://schemas.openxmlformats.org/officeDocument/2006/relationships/image" Target="../media/image30.GIF"/></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6.xml"/><Relationship Id="rId2" Type="http://schemas.openxmlformats.org/officeDocument/2006/relationships/image" Target="../media/image32.GIF"/><Relationship Id="rId1" Type="http://schemas.openxmlformats.org/officeDocument/2006/relationships/image" Target="../media/image31.GIF"/></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6.xml"/><Relationship Id="rId2" Type="http://schemas.openxmlformats.org/officeDocument/2006/relationships/image" Target="../media/image34.jpeg"/><Relationship Id="rId1" Type="http://schemas.openxmlformats.org/officeDocument/2006/relationships/image" Target="../media/image33.GI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image" Target="../media/image35.GI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image" Target="../media/image36.GI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image" Target="../media/image37.GI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image" Target="../media/image37.GI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6.xml"/><Relationship Id="rId1"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xml"/><Relationship Id="rId1"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xml"/><Relationship Id="rId1"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image" Target="../media/image4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image" Target="../media/image45.jpe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6.xml"/><Relationship Id="rId2" Type="http://schemas.openxmlformats.org/officeDocument/2006/relationships/image" Target="../media/image46.png"/><Relationship Id="rId1" Type="http://schemas.openxmlformats.org/officeDocument/2006/relationships/tags" Target="../tags/tag1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6.xml"/><Relationship Id="rId1" Type="http://schemas.openxmlformats.org/officeDocument/2006/relationships/hyperlink" Target="Keras&#25645;&#24314;&#21367;&#31215;&#31070;&#32463;&#32593;&#32476;.png"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2904" y="1560410"/>
            <a:ext cx="4982805" cy="1462190"/>
          </a:xfrm>
        </p:spPr>
        <p:txBody>
          <a:bodyPr/>
          <a:lstStyle/>
          <a:p>
            <a:pPr algn="ctr">
              <a:lnSpc>
                <a:spcPct val="150000"/>
              </a:lnSpc>
            </a:pPr>
            <a:r>
              <a:rPr lang="zh-CN" altLang="en-US" dirty="0" smtClean="0"/>
              <a:t>卷积神经网络</a:t>
            </a:r>
            <a:r>
              <a:rPr lang="en-US" altLang="zh-CN" dirty="0" smtClean="0"/>
              <a:t>CNN</a:t>
            </a:r>
            <a:endParaRPr lang="zh-CN" altLang="en-US" dirty="0"/>
          </a:p>
        </p:txBody>
      </p:sp>
      <p:sp>
        <p:nvSpPr>
          <p:cNvPr id="3" name="TextBox 2"/>
          <p:cNvSpPr txBox="1"/>
          <p:nvPr/>
        </p:nvSpPr>
        <p:spPr>
          <a:xfrm>
            <a:off x="2255544" y="3544501"/>
            <a:ext cx="2616835" cy="391160"/>
          </a:xfrm>
          <a:prstGeom prst="rect">
            <a:avLst/>
          </a:prstGeom>
          <a:noFill/>
        </p:spPr>
        <p:txBody>
          <a:bodyPr wrap="none" lIns="68580" tIns="34290" rIns="68580" bIns="34290" rtlCol="0">
            <a:spAutoFit/>
          </a:bodyPr>
          <a:lstStyle/>
          <a:p>
            <a:r>
              <a:rPr lang="zh-CN" altLang="en-US" sz="2100" b="1" dirty="0">
                <a:solidFill>
                  <a:schemeClr val="bg1"/>
                </a:solidFill>
                <a:latin typeface="+mj-ea"/>
                <a:ea typeface="+mj-ea"/>
              </a:rPr>
              <a:t>主讲</a:t>
            </a:r>
            <a:r>
              <a:rPr lang="zh-CN" altLang="en-US" sz="2100" b="1" dirty="0" smtClean="0">
                <a:solidFill>
                  <a:schemeClr val="bg1"/>
                </a:solidFill>
                <a:latin typeface="+mj-ea"/>
                <a:ea typeface="+mj-ea"/>
              </a:rPr>
              <a:t>：王书敏</a:t>
            </a:r>
            <a:r>
              <a:rPr lang="en-US" altLang="zh-CN" sz="2100" b="1" dirty="0" smtClean="0">
                <a:solidFill>
                  <a:schemeClr val="bg1"/>
                </a:solidFill>
                <a:latin typeface="+mj-ea"/>
                <a:ea typeface="+mj-ea"/>
              </a:rPr>
              <a:t> </a:t>
            </a:r>
            <a:r>
              <a:rPr lang="zh-CN" altLang="en-US" sz="2100" b="1" dirty="0" smtClean="0">
                <a:solidFill>
                  <a:schemeClr val="bg1"/>
                </a:solidFill>
                <a:latin typeface="+mj-ea"/>
                <a:ea typeface="+mj-ea"/>
              </a:rPr>
              <a:t>胡天慧</a:t>
            </a:r>
            <a:endParaRPr lang="zh-CN" altLang="en-US" sz="2100" b="1" dirty="0" smtClean="0">
              <a:solidFill>
                <a:schemeClr val="bg1"/>
              </a:solidFill>
              <a:latin typeface="+mj-ea"/>
              <a:ea typeface="+mj-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3"/>
          <p:cNvSpPr txBox="1"/>
          <p:nvPr/>
        </p:nvSpPr>
        <p:spPr bwMode="auto">
          <a:xfrm>
            <a:off x="585555" y="1130075"/>
            <a:ext cx="5782588" cy="372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pPr>
            <a:endParaRPr lang="en-US" altLang="zh-CN" sz="1500" b="0" dirty="0">
              <a:latin typeface="微软雅黑" panose="020B0503020204020204" charset="-122"/>
              <a:ea typeface="微软雅黑" panose="020B0503020204020204" charset="-122"/>
              <a:cs typeface="黑体" panose="02010609060101010101" charset="-122"/>
            </a:endParaRPr>
          </a:p>
        </p:txBody>
      </p:sp>
      <p:pic>
        <p:nvPicPr>
          <p:cNvPr id="5" name="Picture 5" descr="D:\Personal\Desktop\cnn\卷积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29538" y="2514283"/>
            <a:ext cx="2343220" cy="2343221"/>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581867" y="420087"/>
            <a:ext cx="7116105" cy="513327"/>
          </a:xfrm>
        </p:spPr>
        <p:txBody>
          <a:bodyPr/>
          <a:lstStyle/>
          <a:p>
            <a:r>
              <a:rPr lang="zh-CN" altLang="en-US" dirty="0"/>
              <a:t>项目介绍</a:t>
            </a:r>
            <a:endParaRPr lang="zh-CN" altLang="en-US" sz="2400" dirty="0"/>
          </a:p>
        </p:txBody>
      </p:sp>
      <p:sp>
        <p:nvSpPr>
          <p:cNvPr id="10" name="TextBox 9"/>
          <p:cNvSpPr txBox="1"/>
          <p:nvPr/>
        </p:nvSpPr>
        <p:spPr>
          <a:xfrm>
            <a:off x="493656" y="1112377"/>
            <a:ext cx="4857099" cy="1061829"/>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sz="1400" b="1" dirty="0">
                <a:solidFill>
                  <a:srgbClr val="177DFF"/>
                </a:solidFill>
                <a:latin typeface="+mj-ea"/>
                <a:ea typeface="+mj-ea"/>
              </a:rPr>
              <a:t>项目要点</a:t>
            </a:r>
            <a:endParaRPr lang="en-US" altLang="zh-CN" sz="1400" b="1" dirty="0">
              <a:solidFill>
                <a:srgbClr val="177DFF"/>
              </a:solidFill>
              <a:latin typeface="+mj-ea"/>
              <a:ea typeface="+mj-ea"/>
            </a:endParaRPr>
          </a:p>
          <a:p>
            <a:pPr marL="537845" indent="-285750">
              <a:lnSpc>
                <a:spcPct val="150000"/>
              </a:lnSpc>
              <a:spcBef>
                <a:spcPts val="0"/>
              </a:spcBef>
              <a:buFont typeface="Arial" panose="020B0604020202020204" pitchFamily="34" charset="0"/>
              <a:buChar char="•"/>
            </a:pPr>
            <a:r>
              <a:rPr lang="zh-CN" altLang="en-US" sz="1400" dirty="0" smtClean="0">
                <a:latin typeface="+mn-lt"/>
                <a:ea typeface="微软雅黑" panose="020B0503020204020204" charset="-122"/>
                <a:cs typeface="黑体" panose="02010609060101010101" charset="-122"/>
              </a:rPr>
              <a:t>理解卷积神经网络如何识别图像</a:t>
            </a:r>
            <a:r>
              <a:rPr lang="zh-CN" altLang="en-US" sz="1400" dirty="0" smtClean="0">
                <a:latin typeface="+mn-ea"/>
                <a:ea typeface="+mn-ea"/>
                <a:cs typeface="黑体" panose="02010609060101010101" charset="-122"/>
              </a:rPr>
              <a:t>？</a:t>
            </a:r>
            <a:endParaRPr lang="en-US" altLang="zh-CN" sz="1400" dirty="0">
              <a:latin typeface="+mn-lt"/>
              <a:ea typeface="微软雅黑" panose="020B0503020204020204" charset="-122"/>
              <a:cs typeface="黑体" panose="02010609060101010101" charset="-122"/>
            </a:endParaRPr>
          </a:p>
          <a:p>
            <a:pPr marL="537845" indent="-285750">
              <a:lnSpc>
                <a:spcPct val="150000"/>
              </a:lnSpc>
              <a:spcBef>
                <a:spcPts val="0"/>
              </a:spcBef>
              <a:buFont typeface="Arial" panose="020B0604020202020204" pitchFamily="34" charset="0"/>
              <a:buChar char="•"/>
            </a:pPr>
            <a:r>
              <a:rPr lang="zh-CN" altLang="en-US" sz="1400" dirty="0">
                <a:latin typeface="+mn-lt"/>
                <a:ea typeface="微软雅黑" panose="020B0503020204020204" charset="-122"/>
                <a:cs typeface="黑体" panose="02010609060101010101" charset="-122"/>
              </a:rPr>
              <a:t>通俗的解释：利用卷积神经网络提取图片核心特征。</a:t>
            </a:r>
            <a:endParaRPr lang="zh-CN" altLang="en-US" sz="1400" dirty="0">
              <a:latin typeface="+mn-lt"/>
              <a:ea typeface="微软雅黑" panose="020B0503020204020204" charset="-122"/>
              <a:cs typeface="黑体" panose="02010609060101010101" charset="-122"/>
            </a:endParaRPr>
          </a:p>
        </p:txBody>
      </p:sp>
      <p:pic>
        <p:nvPicPr>
          <p:cNvPr id="1026" name="Picture 2" descr="D:\Personal\Desktop\cnn\dog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072" y="2277149"/>
            <a:ext cx="2693700" cy="11250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D:\Personal\Desktop\cnn\dog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071" y="3412883"/>
            <a:ext cx="2693701" cy="13595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965734" y="3520199"/>
            <a:ext cx="515723" cy="388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MH_Others_1"/>
          <p:cNvSpPr txBox="1"/>
          <p:nvPr>
            <p:custDataLst>
              <p:tags r:id="rId1"/>
            </p:custDataLst>
          </p:nvPr>
        </p:nvSpPr>
        <p:spPr>
          <a:xfrm>
            <a:off x="1260164" y="1326288"/>
            <a:ext cx="914096" cy="2023894"/>
          </a:xfrm>
          <a:prstGeom prst="rect">
            <a:avLst/>
          </a:prstGeom>
          <a:noFill/>
        </p:spPr>
        <p:txBody>
          <a:bodyPr vert="eaVert" wrap="square" lIns="0" tIns="0" rIns="0" bIns="0" rtlCol="0" anchor="ctr" anchorCtr="0">
            <a:spAutoFit/>
          </a:bodyPr>
          <a:lstStyle/>
          <a:p>
            <a:pPr algn="ctr">
              <a:lnSpc>
                <a:spcPct val="120000"/>
              </a:lnSpc>
            </a:pPr>
            <a:r>
              <a:rPr lang="zh-CN" altLang="en-US" sz="4950" b="1" dirty="0">
                <a:solidFill>
                  <a:srgbClr val="177DFF"/>
                </a:solidFill>
                <a:latin typeface="Arial" panose="020B0604020202020204" pitchFamily="34" charset="0"/>
                <a:ea typeface="微软雅黑" panose="020B0503020204020204" charset="-122"/>
                <a:sym typeface="Arial" panose="020B0604020202020204" pitchFamily="34" charset="0"/>
              </a:rPr>
              <a:t>目录</a:t>
            </a:r>
            <a:endParaRPr lang="zh-CN" altLang="en-US" sz="4950" b="1" dirty="0">
              <a:solidFill>
                <a:srgbClr val="177DFF"/>
              </a:solidFill>
              <a:latin typeface="Arial" panose="020B0604020202020204" pitchFamily="34" charset="0"/>
              <a:ea typeface="微软雅黑" panose="020B0503020204020204" charset="-122"/>
              <a:sym typeface="Arial" panose="020B0604020202020204" pitchFamily="34" charset="0"/>
            </a:endParaRPr>
          </a:p>
        </p:txBody>
      </p:sp>
      <p:sp>
        <p:nvSpPr>
          <p:cNvPr id="89" name="MH_Others_2"/>
          <p:cNvSpPr txBox="1"/>
          <p:nvPr>
            <p:custDataLst>
              <p:tags r:id="rId2"/>
            </p:custDataLst>
          </p:nvPr>
        </p:nvSpPr>
        <p:spPr>
          <a:xfrm rot="5400000">
            <a:off x="259755" y="2225033"/>
            <a:ext cx="1759721" cy="251544"/>
          </a:xfrm>
          <a:prstGeom prst="rect">
            <a:avLst/>
          </a:prstGeom>
          <a:noFill/>
        </p:spPr>
        <p:txBody>
          <a:bodyPr wrap="square" lIns="0" tIns="0" rIns="0" bIns="0">
            <a:spAutoFit/>
          </a:bodyPr>
          <a:lstStyle/>
          <a:p>
            <a:pPr algn="ctr">
              <a:lnSpc>
                <a:spcPct val="120000"/>
              </a:lnSpc>
              <a:defRPr/>
            </a:pPr>
            <a:r>
              <a:rPr lang="en-US" altLang="zh-CN" sz="1500" b="1" dirty="0">
                <a:solidFill>
                  <a:srgbClr val="177DFF"/>
                </a:solidFill>
                <a:latin typeface="Arial" panose="020B0604020202020204" pitchFamily="34" charset="0"/>
                <a:ea typeface="微软雅黑" panose="020B0503020204020204" charset="-122"/>
                <a:sym typeface="Arial" panose="020B0604020202020204" pitchFamily="34" charset="0"/>
              </a:rPr>
              <a:t>CONTENTS</a:t>
            </a:r>
            <a:endParaRPr lang="zh-CN" altLang="en-US" sz="1500" b="1" dirty="0">
              <a:solidFill>
                <a:srgbClr val="177DFF"/>
              </a:solidFill>
              <a:latin typeface="Arial" panose="020B0604020202020204" pitchFamily="34" charset="0"/>
              <a:ea typeface="微软雅黑" panose="020B0503020204020204" charset="-122"/>
              <a:sym typeface="Arial" panose="020B0604020202020204" pitchFamily="34" charset="0"/>
            </a:endParaRPr>
          </a:p>
        </p:txBody>
      </p:sp>
      <p:sp>
        <p:nvSpPr>
          <p:cNvPr id="91" name="MH_Entry_1"/>
          <p:cNvSpPr/>
          <p:nvPr>
            <p:custDataLst>
              <p:tags r:id="rId3"/>
            </p:custDataLst>
          </p:nvPr>
        </p:nvSpPr>
        <p:spPr>
          <a:xfrm>
            <a:off x="2835390" y="1183123"/>
            <a:ext cx="2388368" cy="304058"/>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a:lnSpc>
                <a:spcPct val="120000"/>
              </a:lnSpc>
            </a:pPr>
            <a:r>
              <a:rPr lang="zh-CN" altLang="en-US" dirty="0">
                <a:solidFill>
                  <a:schemeClr val="accent1">
                    <a:lumMod val="75000"/>
                  </a:schemeClr>
                </a:solidFill>
                <a:ea typeface="微软雅黑" panose="020B0503020204020204" charset="-122"/>
                <a:cs typeface="微软雅黑" panose="020B0503020204020204" charset="-122"/>
                <a:sym typeface="+mn-ea"/>
              </a:rPr>
              <a:t>视觉感知</a:t>
            </a:r>
            <a:endParaRPr lang="zh-CN" altLang="en-US" dirty="0">
              <a:solidFill>
                <a:schemeClr val="accent1">
                  <a:lumMod val="75000"/>
                </a:schemeClr>
              </a:solidFill>
              <a:ea typeface="微软雅黑" panose="020B0503020204020204" charset="-122"/>
              <a:cs typeface="微软雅黑" panose="020B0503020204020204" charset="-122"/>
              <a:sym typeface="Arial" panose="020B0604020202020204" pitchFamily="34" charset="0"/>
            </a:endParaRPr>
          </a:p>
        </p:txBody>
      </p:sp>
      <p:sp>
        <p:nvSpPr>
          <p:cNvPr id="94" name="MH_Number_3"/>
          <p:cNvSpPr/>
          <p:nvPr>
            <p:custDataLst>
              <p:tags r:id="rId4"/>
            </p:custDataLst>
          </p:nvPr>
        </p:nvSpPr>
        <p:spPr>
          <a:xfrm>
            <a:off x="2415987" y="1217288"/>
            <a:ext cx="253266" cy="253280"/>
          </a:xfrm>
          <a:prstGeom prst="ellipse">
            <a:avLst/>
          </a:prstGeom>
          <a:solidFill>
            <a:srgbClr val="177DFF"/>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20000"/>
              </a:lnSpc>
            </a:pPr>
            <a:r>
              <a:rPr lang="en-US" altLang="zh-CN"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1</a:t>
            </a:r>
            <a:endParaRPr lang="zh-CN" altLang="en-US"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endParaRPr>
          </a:p>
        </p:txBody>
      </p:sp>
      <p:sp>
        <p:nvSpPr>
          <p:cNvPr id="95" name="MH_Entry_3"/>
          <p:cNvSpPr/>
          <p:nvPr>
            <p:custDataLst>
              <p:tags r:id="rId5"/>
            </p:custDataLst>
          </p:nvPr>
        </p:nvSpPr>
        <p:spPr>
          <a:xfrm>
            <a:off x="2835390" y="1648401"/>
            <a:ext cx="2388368" cy="3323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nSpc>
                <a:spcPct val="120000"/>
              </a:lnSpc>
            </a:pPr>
            <a:r>
              <a:rPr lang="zh-CN" altLang="en-US" dirty="0">
                <a:solidFill>
                  <a:schemeClr val="accent1">
                    <a:lumMod val="75000"/>
                  </a:schemeClr>
                </a:solidFill>
                <a:latin typeface="Arial" panose="020B0604020202020204" pitchFamily="34" charset="0"/>
                <a:ea typeface="微软雅黑" panose="020B0503020204020204" charset="-122"/>
                <a:sym typeface="Arial" panose="020B0604020202020204" pitchFamily="34" charset="0"/>
              </a:rPr>
              <a:t>图像表达</a:t>
            </a:r>
            <a:endParaRPr lang="zh-CN" altLang="en-US" dirty="0">
              <a:solidFill>
                <a:schemeClr val="accent1">
                  <a:lumMod val="75000"/>
                </a:schemeClr>
              </a:solidFill>
              <a:latin typeface="Arial" panose="020B0604020202020204" pitchFamily="34" charset="0"/>
              <a:ea typeface="微软雅黑" panose="020B0503020204020204" charset="-122"/>
              <a:sym typeface="Arial" panose="020B0604020202020204" pitchFamily="34" charset="0"/>
            </a:endParaRPr>
          </a:p>
        </p:txBody>
      </p:sp>
      <p:sp>
        <p:nvSpPr>
          <p:cNvPr id="96" name="MH_Number_4"/>
          <p:cNvSpPr/>
          <p:nvPr>
            <p:custDataLst>
              <p:tags r:id="rId6"/>
            </p:custDataLst>
          </p:nvPr>
        </p:nvSpPr>
        <p:spPr>
          <a:xfrm>
            <a:off x="2421136" y="1688026"/>
            <a:ext cx="253136" cy="253150"/>
          </a:xfrm>
          <a:prstGeom prst="ellipse">
            <a:avLst/>
          </a:prstGeom>
          <a:solidFill>
            <a:srgbClr val="177DFF"/>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20000"/>
              </a:lnSpc>
            </a:pPr>
            <a:r>
              <a:rPr lang="en-US" altLang="zh-CN"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2</a:t>
            </a:r>
            <a:endParaRPr lang="zh-CN" altLang="en-US"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endParaRPr>
          </a:p>
        </p:txBody>
      </p:sp>
      <p:sp>
        <p:nvSpPr>
          <p:cNvPr id="99" name="MH_Entry_3"/>
          <p:cNvSpPr/>
          <p:nvPr>
            <p:custDataLst>
              <p:tags r:id="rId7"/>
            </p:custDataLst>
          </p:nvPr>
        </p:nvSpPr>
        <p:spPr>
          <a:xfrm>
            <a:off x="2835390" y="2097293"/>
            <a:ext cx="2439147" cy="33210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nSpc>
                <a:spcPct val="120000"/>
              </a:lnSpc>
            </a:pPr>
            <a:r>
              <a:rPr lang="zh-CN" altLang="en-US" dirty="0">
                <a:solidFill>
                  <a:schemeClr val="accent1">
                    <a:lumMod val="75000"/>
                  </a:schemeClr>
                </a:solidFill>
                <a:sym typeface="+mn-ea"/>
              </a:rPr>
              <a:t>卷积的实现原理</a:t>
            </a:r>
            <a:endParaRPr lang="zh-CN" altLang="en-US" dirty="0">
              <a:solidFill>
                <a:schemeClr val="accent1">
                  <a:lumMod val="75000"/>
                </a:schemeClr>
              </a:solidFill>
              <a:sym typeface="+mn-ea"/>
            </a:endParaRPr>
          </a:p>
        </p:txBody>
      </p:sp>
      <p:sp>
        <p:nvSpPr>
          <p:cNvPr id="11" name="MH_Entry_3"/>
          <p:cNvSpPr/>
          <p:nvPr>
            <p:custDataLst>
              <p:tags r:id="rId8"/>
            </p:custDataLst>
          </p:nvPr>
        </p:nvSpPr>
        <p:spPr>
          <a:xfrm>
            <a:off x="2835389" y="2509581"/>
            <a:ext cx="2439147" cy="3323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nSpc>
                <a:spcPct val="120000"/>
              </a:lnSpc>
            </a:pPr>
            <a:r>
              <a:rPr lang="zh-CN" altLang="en-US" dirty="0">
                <a:solidFill>
                  <a:schemeClr val="accent1">
                    <a:lumMod val="75000"/>
                  </a:schemeClr>
                </a:solidFill>
                <a:sym typeface="+mn-ea"/>
              </a:rPr>
              <a:t>池化和全链接</a:t>
            </a:r>
            <a:endParaRPr lang="zh-CN" altLang="en-US" dirty="0">
              <a:solidFill>
                <a:schemeClr val="accent1">
                  <a:lumMod val="75000"/>
                </a:schemeClr>
              </a:solidFill>
              <a:sym typeface="+mn-ea"/>
            </a:endParaRPr>
          </a:p>
        </p:txBody>
      </p:sp>
      <p:cxnSp>
        <p:nvCxnSpPr>
          <p:cNvPr id="3" name="直接连接符 2"/>
          <p:cNvCxnSpPr/>
          <p:nvPr/>
        </p:nvCxnSpPr>
        <p:spPr>
          <a:xfrm>
            <a:off x="2249849" y="1114292"/>
            <a:ext cx="0" cy="2858032"/>
          </a:xfrm>
          <a:prstGeom prst="line">
            <a:avLst/>
          </a:prstGeom>
          <a:ln w="19050">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MH_Number_4"/>
          <p:cNvSpPr/>
          <p:nvPr>
            <p:custDataLst>
              <p:tags r:id="rId9"/>
            </p:custDataLst>
          </p:nvPr>
        </p:nvSpPr>
        <p:spPr>
          <a:xfrm>
            <a:off x="2421130" y="2136771"/>
            <a:ext cx="253136" cy="253150"/>
          </a:xfrm>
          <a:prstGeom prst="ellipse">
            <a:avLst/>
          </a:prstGeom>
          <a:solidFill>
            <a:srgbClr val="177DFF"/>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20000"/>
              </a:lnSpc>
            </a:pPr>
            <a:r>
              <a:rPr lang="en-US" altLang="zh-CN"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3</a:t>
            </a:r>
            <a:endParaRPr lang="zh-CN" altLang="en-US"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endParaRPr>
          </a:p>
        </p:txBody>
      </p:sp>
      <p:sp>
        <p:nvSpPr>
          <p:cNvPr id="16" name="MH_Number_4"/>
          <p:cNvSpPr/>
          <p:nvPr>
            <p:custDataLst>
              <p:tags r:id="rId10"/>
            </p:custDataLst>
          </p:nvPr>
        </p:nvSpPr>
        <p:spPr>
          <a:xfrm>
            <a:off x="2429597" y="2593989"/>
            <a:ext cx="253136" cy="253150"/>
          </a:xfrm>
          <a:prstGeom prst="ellipse">
            <a:avLst/>
          </a:prstGeom>
          <a:solidFill>
            <a:srgbClr val="177DFF"/>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20000"/>
              </a:lnSpc>
            </a:pPr>
            <a:r>
              <a:rPr lang="en-US" altLang="zh-CN"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4</a:t>
            </a:r>
            <a:endParaRPr lang="zh-CN" altLang="en-US"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endParaRPr>
          </a:p>
        </p:txBody>
      </p:sp>
      <p:sp>
        <p:nvSpPr>
          <p:cNvPr id="7" name="MH_Entry_3"/>
          <p:cNvSpPr/>
          <p:nvPr>
            <p:custDataLst>
              <p:tags r:id="rId11"/>
            </p:custDataLst>
          </p:nvPr>
        </p:nvSpPr>
        <p:spPr>
          <a:xfrm>
            <a:off x="2812415" y="2960053"/>
            <a:ext cx="3282315" cy="33210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p>
            <a:pPr lvl="0">
              <a:lnSpc>
                <a:spcPct val="120000"/>
              </a:lnSpc>
            </a:pPr>
            <a:r>
              <a:rPr lang="zh-CN" altLang="en-US" dirty="0">
                <a:solidFill>
                  <a:schemeClr val="accent1">
                    <a:lumMod val="75000"/>
                  </a:schemeClr>
                </a:solidFill>
                <a:sym typeface="+mn-ea"/>
              </a:rPr>
              <a:t>卷积神经网络结构及框架介绍</a:t>
            </a:r>
            <a:endParaRPr lang="zh-CN" altLang="en-US" dirty="0">
              <a:solidFill>
                <a:schemeClr val="accent1">
                  <a:lumMod val="75000"/>
                </a:schemeClr>
              </a:solidFill>
              <a:sym typeface="+mn-ea"/>
            </a:endParaRPr>
          </a:p>
        </p:txBody>
      </p:sp>
      <p:sp>
        <p:nvSpPr>
          <p:cNvPr id="8" name="MH_Number_4"/>
          <p:cNvSpPr/>
          <p:nvPr>
            <p:custDataLst>
              <p:tags r:id="rId12"/>
            </p:custDataLst>
          </p:nvPr>
        </p:nvSpPr>
        <p:spPr>
          <a:xfrm>
            <a:off x="2429597" y="3056269"/>
            <a:ext cx="253136" cy="253150"/>
          </a:xfrm>
          <a:prstGeom prst="ellipse">
            <a:avLst/>
          </a:prstGeom>
          <a:solidFill>
            <a:srgbClr val="177DFF"/>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lnSpc>
                <a:spcPct val="120000"/>
              </a:lnSpc>
            </a:pPr>
            <a:r>
              <a:rPr lang="en-US" altLang="zh-CN"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4</a:t>
            </a:r>
            <a:endParaRPr lang="zh-CN" altLang="en-US" sz="1400" b="1" dirty="0">
              <a:solidFill>
                <a:srgbClr val="FFFFFF"/>
              </a:solidFill>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endParaRPr>
          </a:p>
        </p:txBody>
      </p:sp>
    </p:spTree>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867" y="420087"/>
            <a:ext cx="7116105" cy="513327"/>
          </a:xfrm>
        </p:spPr>
        <p:txBody>
          <a:bodyPr/>
          <a:lstStyle/>
          <a:p>
            <a:r>
              <a:rPr lang="zh-CN" altLang="en-US" sz="2400" dirty="0"/>
              <a:t>教学目标和重难点</a:t>
            </a:r>
            <a:endParaRPr lang="zh-CN" altLang="en-US" sz="2400" dirty="0"/>
          </a:p>
        </p:txBody>
      </p:sp>
      <p:sp>
        <p:nvSpPr>
          <p:cNvPr id="6" name="文本占位符 3"/>
          <p:cNvSpPr txBox="1"/>
          <p:nvPr/>
        </p:nvSpPr>
        <p:spPr bwMode="auto">
          <a:xfrm>
            <a:off x="643612" y="1085869"/>
            <a:ext cx="5782588" cy="372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Ø"/>
            </a:pPr>
            <a:r>
              <a:rPr lang="zh-CN" altLang="en-US" sz="1500" dirty="0">
                <a:solidFill>
                  <a:srgbClr val="177DFF"/>
                </a:solidFill>
                <a:latin typeface="+mj-ea"/>
                <a:ea typeface="+mj-ea"/>
              </a:rPr>
              <a:t>教学目标</a:t>
            </a:r>
            <a:endParaRPr lang="en-US" altLang="zh-CN" sz="1500" dirty="0">
              <a:solidFill>
                <a:srgbClr val="177DFF"/>
              </a:solidFill>
              <a:latin typeface="+mj-ea"/>
              <a:ea typeface="+mj-ea"/>
            </a:endParaRPr>
          </a:p>
          <a:p>
            <a:pPr marL="537845" indent="-285750">
              <a:lnSpc>
                <a:spcPct val="150000"/>
              </a:lnSpc>
              <a:buFont typeface="Arial" panose="020B0604020202020204" pitchFamily="34" charset="0"/>
              <a:buChar char="•"/>
            </a:pPr>
            <a:r>
              <a:rPr lang="zh-CN" altLang="en-US" sz="1500" b="0" dirty="0">
                <a:latin typeface="微软雅黑" panose="020B0503020204020204" charset="-122"/>
                <a:ea typeface="微软雅黑" panose="020B0503020204020204" charset="-122"/>
                <a:cs typeface="黑体" panose="02010609060101010101" charset="-122"/>
              </a:rPr>
              <a:t>理解视觉感知、图像表达的概念</a:t>
            </a: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zh-CN" altLang="en-US" sz="1500" b="0" dirty="0">
                <a:latin typeface="微软雅黑" panose="020B0503020204020204" charset="-122"/>
                <a:ea typeface="微软雅黑" panose="020B0503020204020204" charset="-122"/>
                <a:cs typeface="黑体" panose="02010609060101010101" charset="-122"/>
              </a:rPr>
              <a:t>理解图像卷积的原理、通道的概念</a:t>
            </a: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zh-CN" altLang="en-US" sz="1500" b="0" dirty="0" smtClean="0">
                <a:latin typeface="微软雅黑" panose="020B0503020204020204" charset="-122"/>
                <a:ea typeface="微软雅黑" panose="020B0503020204020204" charset="-122"/>
                <a:cs typeface="黑体" panose="02010609060101010101" charset="-122"/>
              </a:rPr>
              <a:t>理解池化和全链接的</a:t>
            </a:r>
            <a:r>
              <a:rPr lang="zh-CN" altLang="en-US" sz="1500" b="0" dirty="0">
                <a:latin typeface="微软雅黑" panose="020B0503020204020204" charset="-122"/>
                <a:ea typeface="微软雅黑" panose="020B0503020204020204" charset="-122"/>
                <a:cs typeface="黑体" panose="02010609060101010101" charset="-122"/>
              </a:rPr>
              <a:t>原理</a:t>
            </a: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zh-CN" altLang="en-US" sz="1500" b="0" dirty="0">
                <a:latin typeface="微软雅黑" panose="020B0503020204020204" charset="-122"/>
                <a:ea typeface="微软雅黑" panose="020B0503020204020204" charset="-122"/>
                <a:cs typeface="黑体" panose="02010609060101010101" charset="-122"/>
              </a:rPr>
              <a:t>理解</a:t>
            </a:r>
            <a:r>
              <a:rPr lang="en-US" altLang="zh-CN" sz="1500" b="0" dirty="0">
                <a:latin typeface="微软雅黑" panose="020B0503020204020204" charset="-122"/>
                <a:ea typeface="微软雅黑" panose="020B0503020204020204" charset="-122"/>
                <a:cs typeface="黑体" panose="02010609060101010101" charset="-122"/>
              </a:rPr>
              <a:t>padding</a:t>
            </a:r>
            <a:r>
              <a:rPr lang="zh-CN" altLang="en-US" sz="1500" b="0" dirty="0">
                <a:latin typeface="微软雅黑" panose="020B0503020204020204" charset="-122"/>
                <a:ea typeface="微软雅黑" panose="020B0503020204020204" charset="-122"/>
                <a:cs typeface="黑体" panose="02010609060101010101" charset="-122"/>
              </a:rPr>
              <a:t>、</a:t>
            </a:r>
            <a:r>
              <a:rPr lang="en-US" altLang="zh-CN" sz="1500" b="0" dirty="0" smtClean="0">
                <a:latin typeface="微软雅黑" panose="020B0503020204020204" charset="-122"/>
                <a:ea typeface="微软雅黑" panose="020B0503020204020204" charset="-122"/>
                <a:cs typeface="黑体" panose="02010609060101010101" charset="-122"/>
              </a:rPr>
              <a:t>striding</a:t>
            </a:r>
            <a:r>
              <a:rPr lang="zh-CN" altLang="en-US" sz="1500" b="0" dirty="0" smtClean="0">
                <a:latin typeface="微软雅黑" panose="020B0503020204020204" charset="-122"/>
                <a:ea typeface="微软雅黑" panose="020B0503020204020204" charset="-122"/>
                <a:cs typeface="黑体" panose="02010609060101010101" charset="-122"/>
              </a:rPr>
              <a:t>的概念</a:t>
            </a: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zh-CN" altLang="en-US" sz="1500" b="0" dirty="0">
                <a:latin typeface="微软雅黑" panose="020B0503020204020204" charset="-122"/>
                <a:ea typeface="微软雅黑" panose="020B0503020204020204" charset="-122"/>
                <a:cs typeface="黑体" panose="02010609060101010101" charset="-122"/>
              </a:rPr>
              <a:t>了解</a:t>
            </a:r>
            <a:r>
              <a:rPr lang="en-US" altLang="zh-CN" sz="1500" b="0" dirty="0">
                <a:latin typeface="微软雅黑" panose="020B0503020204020204" charset="-122"/>
                <a:ea typeface="微软雅黑" panose="020B0503020204020204" charset="-122"/>
                <a:cs typeface="黑体" panose="02010609060101010101" charset="-122"/>
              </a:rPr>
              <a:t>keras</a:t>
            </a:r>
            <a:r>
              <a:rPr lang="zh-CN" altLang="en-US" sz="1500" b="0" dirty="0">
                <a:latin typeface="微软雅黑" panose="020B0503020204020204" charset="-122"/>
                <a:ea typeface="微软雅黑" panose="020B0503020204020204" charset="-122"/>
                <a:cs typeface="黑体" panose="02010609060101010101" charset="-122"/>
              </a:rPr>
              <a:t>如何搭建卷积神经</a:t>
            </a:r>
            <a:r>
              <a:rPr lang="zh-CN" altLang="en-US" sz="1500" b="0" dirty="0">
                <a:latin typeface="微软雅黑" panose="020B0503020204020204" charset="-122"/>
                <a:ea typeface="微软雅黑" panose="020B0503020204020204" charset="-122"/>
                <a:cs typeface="黑体" panose="02010609060101010101" charset="-122"/>
              </a:rPr>
              <a:t>网络</a:t>
            </a:r>
            <a:endParaRPr lang="zh-CN" altLang="en-US" sz="1500" b="0" dirty="0">
              <a:latin typeface="微软雅黑" panose="020B0503020204020204" charset="-122"/>
              <a:ea typeface="微软雅黑" panose="020B0503020204020204" charset="-122"/>
              <a:cs typeface="黑体" panose="02010609060101010101" charset="-122"/>
            </a:endParaRPr>
          </a:p>
        </p:txBody>
      </p:sp>
      <p:sp>
        <p:nvSpPr>
          <p:cNvPr id="9" name="矩形: 圆角 15"/>
          <p:cNvSpPr/>
          <p:nvPr/>
        </p:nvSpPr>
        <p:spPr>
          <a:xfrm>
            <a:off x="4664921" y="2574165"/>
            <a:ext cx="587872" cy="26722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b="1" dirty="0">
                <a:latin typeface="微软雅黑" panose="020B0503020204020204" charset="-122"/>
                <a:ea typeface="微软雅黑" panose="020B0503020204020204" charset="-122"/>
                <a:cs typeface="Arial" panose="020B0604020202020204" pitchFamily="34" charset="0"/>
              </a:rPr>
              <a:t>难点</a:t>
            </a:r>
            <a:endParaRPr lang="zh-CN" altLang="en-US" sz="1200" b="1" dirty="0">
              <a:latin typeface="微软雅黑" panose="020B0503020204020204" charset="-122"/>
              <a:ea typeface="微软雅黑" panose="020B0503020204020204" charset="-122"/>
              <a:cs typeface="Arial" panose="020B0604020202020204" pitchFamily="34" charset="0"/>
            </a:endParaRPr>
          </a:p>
        </p:txBody>
      </p:sp>
      <p:sp>
        <p:nvSpPr>
          <p:cNvPr id="10" name="矩形: 圆角 15"/>
          <p:cNvSpPr/>
          <p:nvPr/>
        </p:nvSpPr>
        <p:spPr>
          <a:xfrm>
            <a:off x="4664922" y="2087378"/>
            <a:ext cx="587872" cy="26722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b="1" dirty="0">
                <a:latin typeface="微软雅黑" panose="020B0503020204020204" charset="-122"/>
                <a:ea typeface="微软雅黑" panose="020B0503020204020204" charset="-122"/>
                <a:cs typeface="Arial" panose="020B0604020202020204" pitchFamily="34" charset="0"/>
              </a:rPr>
              <a:t>难点</a:t>
            </a:r>
            <a:endParaRPr lang="zh-CN" altLang="en-US" sz="1200" b="1" dirty="0">
              <a:latin typeface="微软雅黑" panose="020B0503020204020204" charset="-122"/>
              <a:ea typeface="微软雅黑" panose="020B0503020204020204" charset="-122"/>
              <a:cs typeface="Arial" panose="020B0604020202020204" pitchFamily="34" charset="0"/>
            </a:endParaRPr>
          </a:p>
        </p:txBody>
      </p:sp>
      <p:sp>
        <p:nvSpPr>
          <p:cNvPr id="11" name="矩形: 圆角 15"/>
          <p:cNvSpPr/>
          <p:nvPr/>
        </p:nvSpPr>
        <p:spPr>
          <a:xfrm>
            <a:off x="4664922" y="3534809"/>
            <a:ext cx="587873" cy="26722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b="1" dirty="0">
                <a:latin typeface="微软雅黑" panose="020B0503020204020204" charset="-122"/>
                <a:ea typeface="微软雅黑" panose="020B0503020204020204" charset="-122"/>
                <a:cs typeface="Arial" panose="020B0604020202020204" pitchFamily="34" charset="0"/>
              </a:rPr>
              <a:t>了解</a:t>
            </a:r>
            <a:endParaRPr lang="zh-CN" altLang="en-US" sz="1200" b="1" dirty="0">
              <a:latin typeface="微软雅黑" panose="020B0503020204020204" charset="-122"/>
              <a:ea typeface="微软雅黑" panose="020B0503020204020204" charset="-122"/>
              <a:cs typeface="Arial" panose="020B0604020202020204" pitchFamily="34" charset="0"/>
            </a:endParaRPr>
          </a:p>
        </p:txBody>
      </p:sp>
      <p:cxnSp>
        <p:nvCxnSpPr>
          <p:cNvPr id="8" name="直接连接符 7"/>
          <p:cNvCxnSpPr/>
          <p:nvPr/>
        </p:nvCxnSpPr>
        <p:spPr>
          <a:xfrm>
            <a:off x="1173874" y="1938329"/>
            <a:ext cx="4227466" cy="0"/>
          </a:xfrm>
          <a:prstGeom prst="line">
            <a:avLst/>
          </a:prstGeom>
          <a:ln w="1905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173874" y="2384188"/>
            <a:ext cx="4227466" cy="0"/>
          </a:xfrm>
          <a:prstGeom prst="line">
            <a:avLst/>
          </a:prstGeom>
          <a:ln w="1905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173874" y="2847768"/>
            <a:ext cx="4227466" cy="0"/>
          </a:xfrm>
          <a:prstGeom prst="line">
            <a:avLst/>
          </a:prstGeom>
          <a:ln w="1905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173874" y="3311347"/>
            <a:ext cx="4227466" cy="0"/>
          </a:xfrm>
          <a:prstGeom prst="line">
            <a:avLst/>
          </a:prstGeom>
          <a:ln w="1905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173874" y="3817204"/>
            <a:ext cx="4227466" cy="0"/>
          </a:xfrm>
          <a:prstGeom prst="line">
            <a:avLst/>
          </a:prstGeom>
          <a:ln w="1905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7" name="矩形: 圆角 15"/>
          <p:cNvSpPr/>
          <p:nvPr/>
        </p:nvSpPr>
        <p:spPr>
          <a:xfrm>
            <a:off x="4664923" y="2993788"/>
            <a:ext cx="587872" cy="26722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b="1" dirty="0">
                <a:latin typeface="微软雅黑" panose="020B0503020204020204" charset="-122"/>
                <a:ea typeface="微软雅黑" panose="020B0503020204020204" charset="-122"/>
                <a:cs typeface="Arial" panose="020B0604020202020204" pitchFamily="34" charset="0"/>
              </a:rPr>
              <a:t>难点</a:t>
            </a:r>
            <a:endParaRPr lang="zh-CN" altLang="en-US" sz="1200" b="1" dirty="0">
              <a:latin typeface="微软雅黑" panose="020B0503020204020204" charset="-122"/>
              <a:ea typeface="微软雅黑" panose="020B050302020402020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视觉感知</a:t>
            </a:r>
            <a:endParaRPr lang="zh-CN" altLang="en-US" dirty="0"/>
          </a:p>
        </p:txBody>
      </p:sp>
      <p:pic>
        <p:nvPicPr>
          <p:cNvPr id="4" name="图片 3" descr="苍蝇.jpg"/>
          <p:cNvPicPr>
            <a:picLocks noChangeAspect="1"/>
          </p:cNvPicPr>
          <p:nvPr/>
        </p:nvPicPr>
        <p:blipFill>
          <a:blip r:embed="rId1" cstate="print"/>
          <a:stretch>
            <a:fillRect/>
          </a:stretch>
        </p:blipFill>
        <p:spPr>
          <a:xfrm>
            <a:off x="4405182" y="1185508"/>
            <a:ext cx="1656663" cy="931873"/>
          </a:xfrm>
          <a:prstGeom prst="rect">
            <a:avLst/>
          </a:prstGeom>
        </p:spPr>
      </p:pic>
      <p:sp>
        <p:nvSpPr>
          <p:cNvPr id="6" name="矩形 5"/>
          <p:cNvSpPr/>
          <p:nvPr/>
        </p:nvSpPr>
        <p:spPr>
          <a:xfrm>
            <a:off x="908103" y="1842339"/>
            <a:ext cx="2518638" cy="307777"/>
          </a:xfrm>
          <a:prstGeom prst="rect">
            <a:avLst/>
          </a:prstGeom>
        </p:spPr>
        <p:txBody>
          <a:bodyPr wrap="none">
            <a:spAutoFit/>
          </a:bodyPr>
          <a:lstStyle/>
          <a:p>
            <a:r>
              <a:rPr lang="zh-CN" altLang="en-US" sz="1400" dirty="0">
                <a:latin typeface="微软雅黑" panose="020B0503020204020204" charset="-122"/>
                <a:ea typeface="微软雅黑" panose="020B0503020204020204" charset="-122"/>
              </a:rPr>
              <a:t>苍蝇的视觉和人的视觉的差异</a:t>
            </a:r>
            <a:endParaRPr lang="zh-CN" altLang="en-US" sz="1400" dirty="0">
              <a:latin typeface="微软雅黑" panose="020B0503020204020204" charset="-122"/>
              <a:ea typeface="微软雅黑" panose="020B0503020204020204" charset="-122"/>
            </a:endParaRPr>
          </a:p>
        </p:txBody>
      </p:sp>
      <p:pic>
        <p:nvPicPr>
          <p:cNvPr id="7" name="图片 6" descr="苍蝇视觉.jpg"/>
          <p:cNvPicPr>
            <a:picLocks noChangeAspect="1"/>
          </p:cNvPicPr>
          <p:nvPr/>
        </p:nvPicPr>
        <p:blipFill>
          <a:blip r:embed="rId2" cstate="print"/>
          <a:stretch>
            <a:fillRect/>
          </a:stretch>
        </p:blipFill>
        <p:spPr>
          <a:xfrm>
            <a:off x="802600" y="2512562"/>
            <a:ext cx="5259245" cy="1968109"/>
          </a:xfrm>
          <a:prstGeom prst="rect">
            <a:avLst/>
          </a:prstGeom>
        </p:spPr>
      </p:pic>
      <p:sp>
        <p:nvSpPr>
          <p:cNvPr id="9" name="矩形 8"/>
          <p:cNvSpPr/>
          <p:nvPr/>
        </p:nvSpPr>
        <p:spPr>
          <a:xfrm>
            <a:off x="682752" y="1174069"/>
            <a:ext cx="2268570" cy="307777"/>
          </a:xfrm>
          <a:prstGeom prst="rect">
            <a:avLst/>
          </a:prstGeom>
        </p:spPr>
        <p:txBody>
          <a:bodyPr wrap="none">
            <a:spAutoFit/>
          </a:bodyPr>
          <a:lstStyle/>
          <a:p>
            <a:pPr marL="285750" indent="-285750">
              <a:buFont typeface="Wingdings" panose="05000000000000000000" pitchFamily="2" charset="2"/>
              <a:buChar char="u"/>
            </a:pPr>
            <a:r>
              <a:rPr lang="zh-CN" altLang="en-US" sz="1400" b="1" dirty="0">
                <a:latin typeface="微软雅黑" panose="020B0503020204020204" charset="-122"/>
                <a:ea typeface="微软雅黑" panose="020B0503020204020204" charset="-122"/>
              </a:rPr>
              <a:t>画面识别是什么任务？</a:t>
            </a:r>
            <a:endParaRPr lang="en-US" altLang="zh-CN" sz="1400" b="1"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视觉感知</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07339" y="1185508"/>
            <a:ext cx="1652348" cy="931873"/>
          </a:xfrm>
          <a:prstGeom prst="rect">
            <a:avLst/>
          </a:prstGeom>
        </p:spPr>
      </p:pic>
      <p:sp>
        <p:nvSpPr>
          <p:cNvPr id="5" name="矩形 4"/>
          <p:cNvSpPr/>
          <p:nvPr/>
        </p:nvSpPr>
        <p:spPr>
          <a:xfrm>
            <a:off x="682752" y="1174069"/>
            <a:ext cx="2268570" cy="307777"/>
          </a:xfrm>
          <a:prstGeom prst="rect">
            <a:avLst/>
          </a:prstGeom>
        </p:spPr>
        <p:txBody>
          <a:bodyPr wrap="none">
            <a:spAutoFit/>
          </a:bodyPr>
          <a:lstStyle/>
          <a:p>
            <a:pPr marL="285750" indent="-285750">
              <a:buFont typeface="Wingdings" panose="05000000000000000000" pitchFamily="2" charset="2"/>
              <a:buChar char="u"/>
            </a:pPr>
            <a:r>
              <a:rPr lang="zh-CN" altLang="en-US" sz="1400" b="1" dirty="0">
                <a:latin typeface="微软雅黑" panose="020B0503020204020204" charset="-122"/>
                <a:ea typeface="微软雅黑" panose="020B0503020204020204" charset="-122"/>
              </a:rPr>
              <a:t>画面识别是什么任务？</a:t>
            </a:r>
            <a:endParaRPr lang="en-US" altLang="zh-CN" sz="1400" b="1" dirty="0">
              <a:latin typeface="微软雅黑" panose="020B0503020204020204" charset="-122"/>
              <a:ea typeface="微软雅黑" panose="020B0503020204020204" charset="-122"/>
            </a:endParaRPr>
          </a:p>
        </p:txBody>
      </p:sp>
      <p:sp>
        <p:nvSpPr>
          <p:cNvPr id="6" name="矩形 5"/>
          <p:cNvSpPr/>
          <p:nvPr/>
        </p:nvSpPr>
        <p:spPr>
          <a:xfrm>
            <a:off x="964716" y="1834417"/>
            <a:ext cx="2339102" cy="307777"/>
          </a:xfrm>
          <a:prstGeom prst="rect">
            <a:avLst/>
          </a:prstGeom>
        </p:spPr>
        <p:txBody>
          <a:bodyPr wrap="none">
            <a:spAutoFit/>
          </a:bodyPr>
          <a:lstStyle/>
          <a:p>
            <a:r>
              <a:rPr lang="zh-CN" altLang="en-US" sz="1400" dirty="0">
                <a:latin typeface="微软雅黑" panose="020B0503020204020204" charset="-122"/>
                <a:ea typeface="微软雅黑" panose="020B0503020204020204" charset="-122"/>
              </a:rPr>
              <a:t>蛇的视觉和人的视觉的差异</a:t>
            </a:r>
            <a:endParaRPr lang="zh-CN" altLang="en-US" sz="1400" dirty="0">
              <a:latin typeface="微软雅黑" panose="020B0503020204020204" charset="-122"/>
              <a:ea typeface="微软雅黑" panose="020B0503020204020204" charset="-122"/>
            </a:endParaRPr>
          </a:p>
        </p:txBody>
      </p:sp>
      <p:pic>
        <p:nvPicPr>
          <p:cNvPr id="9" name="图片 8" descr="蛇的视觉.jpg"/>
          <p:cNvPicPr>
            <a:picLocks noChangeAspect="1"/>
          </p:cNvPicPr>
          <p:nvPr/>
        </p:nvPicPr>
        <p:blipFill>
          <a:blip r:embed="rId2" cstate="print"/>
          <a:stretch>
            <a:fillRect/>
          </a:stretch>
        </p:blipFill>
        <p:spPr>
          <a:xfrm>
            <a:off x="826569" y="2450501"/>
            <a:ext cx="5187113" cy="1937964"/>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视觉感知</a:t>
            </a:r>
            <a:endParaRPr lang="zh-CN" altLang="en-US" dirty="0"/>
          </a:p>
        </p:txBody>
      </p:sp>
      <p:sp>
        <p:nvSpPr>
          <p:cNvPr id="14" name="文本占位符 3"/>
          <p:cNvSpPr txBox="1"/>
          <p:nvPr/>
        </p:nvSpPr>
        <p:spPr bwMode="auto">
          <a:xfrm>
            <a:off x="894672" y="1587093"/>
            <a:ext cx="5744483"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spcBef>
                <a:spcPct val="0"/>
              </a:spcBef>
              <a:buFont typeface="+mj-lt"/>
              <a:buAutoNum type="arabicPeriod"/>
            </a:pPr>
            <a:r>
              <a:rPr lang="zh-CN" altLang="en-US" sz="1400" b="0" dirty="0">
                <a:latin typeface="微软雅黑" panose="020B0503020204020204" charset="-122"/>
                <a:ea typeface="微软雅黑" panose="020B0503020204020204" charset="-122"/>
              </a:rPr>
              <a:t>任何视觉系统都是将图像反光与脑中看到的概念进行关联。</a:t>
            </a:r>
            <a:endParaRPr lang="en-US" altLang="zh-CN" sz="1400" b="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cxnSp>
        <p:nvCxnSpPr>
          <p:cNvPr id="21" name="直接箭头连接符 20"/>
          <p:cNvCxnSpPr/>
          <p:nvPr/>
        </p:nvCxnSpPr>
        <p:spPr>
          <a:xfrm>
            <a:off x="1792883" y="2305597"/>
            <a:ext cx="1280587" cy="0"/>
          </a:xfrm>
          <a:prstGeom prst="straightConnector1">
            <a:avLst/>
          </a:prstGeom>
          <a:ln w="60325">
            <a:solidFill>
              <a:schemeClr val="accent1">
                <a:lumMod val="75000"/>
              </a:schemeClr>
            </a:solidFill>
            <a:headEnd type="triangle"/>
            <a:tailEnd type="arrow"/>
          </a:ln>
        </p:spPr>
        <p:style>
          <a:lnRef idx="1">
            <a:schemeClr val="accent1"/>
          </a:lnRef>
          <a:fillRef idx="0">
            <a:schemeClr val="accent1"/>
          </a:fillRef>
          <a:effectRef idx="0">
            <a:schemeClr val="accent1"/>
          </a:effectRef>
          <a:fontRef idx="minor">
            <a:schemeClr val="tx1"/>
          </a:fontRef>
        </p:style>
      </p:cxnSp>
      <p:sp>
        <p:nvSpPr>
          <p:cNvPr id="23" name="圆角矩形 22"/>
          <p:cNvSpPr/>
          <p:nvPr/>
        </p:nvSpPr>
        <p:spPr>
          <a:xfrm>
            <a:off x="1272956" y="2055004"/>
            <a:ext cx="525051" cy="467212"/>
          </a:xfrm>
          <a:prstGeom prst="round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x</a:t>
            </a:r>
            <a:endParaRPr lang="zh-CN" altLang="en-US" b="1" dirty="0">
              <a:solidFill>
                <a:schemeClr val="tx1"/>
              </a:solidFill>
            </a:endParaRPr>
          </a:p>
        </p:txBody>
      </p:sp>
      <p:sp>
        <p:nvSpPr>
          <p:cNvPr id="24" name="圆角矩形 23"/>
          <p:cNvSpPr/>
          <p:nvPr/>
        </p:nvSpPr>
        <p:spPr>
          <a:xfrm>
            <a:off x="3075217" y="2084234"/>
            <a:ext cx="525051" cy="467212"/>
          </a:xfrm>
          <a:prstGeom prst="roundRect">
            <a:avLst/>
          </a:prstGeom>
          <a:solidFill>
            <a:schemeClr val="accent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rPr>
              <a:t>f</a:t>
            </a:r>
            <a:endParaRPr lang="zh-CN" altLang="en-US" b="1" dirty="0">
              <a:solidFill>
                <a:schemeClr val="bg1"/>
              </a:solidFill>
            </a:endParaRPr>
          </a:p>
        </p:txBody>
      </p:sp>
      <p:sp>
        <p:nvSpPr>
          <p:cNvPr id="25" name="圆角矩形 24"/>
          <p:cNvSpPr/>
          <p:nvPr/>
        </p:nvSpPr>
        <p:spPr>
          <a:xfrm>
            <a:off x="4942137" y="2076458"/>
            <a:ext cx="525051" cy="467212"/>
          </a:xfrm>
          <a:prstGeom prst="round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y</a:t>
            </a:r>
            <a:endParaRPr lang="zh-CN" altLang="en-US" b="1" dirty="0">
              <a:solidFill>
                <a:schemeClr val="tx1"/>
              </a:solidFill>
            </a:endParaRPr>
          </a:p>
        </p:txBody>
      </p:sp>
      <p:sp>
        <p:nvSpPr>
          <p:cNvPr id="26" name="圆角矩形 25"/>
          <p:cNvSpPr/>
          <p:nvPr/>
        </p:nvSpPr>
        <p:spPr>
          <a:xfrm>
            <a:off x="1283554" y="2504701"/>
            <a:ext cx="525051" cy="468181"/>
          </a:xfrm>
          <a:prstGeom prst="round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反光</a:t>
            </a:r>
            <a:endParaRPr lang="zh-CN" altLang="en-US" b="1" dirty="0">
              <a:solidFill>
                <a:schemeClr val="tx1"/>
              </a:solidFill>
            </a:endParaRPr>
          </a:p>
        </p:txBody>
      </p:sp>
      <p:sp>
        <p:nvSpPr>
          <p:cNvPr id="27" name="圆角矩形 26"/>
          <p:cNvSpPr/>
          <p:nvPr/>
        </p:nvSpPr>
        <p:spPr>
          <a:xfrm>
            <a:off x="3000212" y="2657102"/>
            <a:ext cx="711300" cy="467212"/>
          </a:xfrm>
          <a:prstGeom prst="round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视觉系统</a:t>
            </a:r>
            <a:endParaRPr lang="zh-CN" altLang="en-US" b="1" dirty="0">
              <a:solidFill>
                <a:schemeClr val="tx1"/>
              </a:solidFill>
            </a:endParaRPr>
          </a:p>
        </p:txBody>
      </p:sp>
      <p:sp>
        <p:nvSpPr>
          <p:cNvPr id="28" name="圆角矩形 27"/>
          <p:cNvSpPr/>
          <p:nvPr/>
        </p:nvSpPr>
        <p:spPr>
          <a:xfrm>
            <a:off x="4806788" y="2602594"/>
            <a:ext cx="711300" cy="467212"/>
          </a:xfrm>
          <a:prstGeom prst="round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脑中概念</a:t>
            </a:r>
            <a:endParaRPr lang="zh-CN" altLang="en-US" b="1" dirty="0">
              <a:solidFill>
                <a:schemeClr val="tx1"/>
              </a:solidFill>
            </a:endParaRPr>
          </a:p>
        </p:txBody>
      </p:sp>
      <p:sp>
        <p:nvSpPr>
          <p:cNvPr id="29" name="矩形 28"/>
          <p:cNvSpPr/>
          <p:nvPr/>
        </p:nvSpPr>
        <p:spPr>
          <a:xfrm>
            <a:off x="869440" y="3328912"/>
            <a:ext cx="4998958" cy="1346907"/>
          </a:xfrm>
          <a:prstGeom prst="rect">
            <a:avLst/>
          </a:prstGeom>
        </p:spPr>
        <p:txBody>
          <a:bodyPr wrap="square">
            <a:spAutoFit/>
          </a:bodyPr>
          <a:lstStyle/>
          <a:p>
            <a:pPr marL="342900" indent="-342900" algn="just">
              <a:lnSpc>
                <a:spcPct val="150000"/>
              </a:lnSpc>
              <a:buFont typeface="+mj-lt"/>
              <a:buAutoNum type="arabicPeriod" startAt="2"/>
            </a:pPr>
            <a:r>
              <a:rPr lang="zh-CN" altLang="en-US" sz="1400" b="1" u="sng" dirty="0">
                <a:latin typeface="微软雅黑" panose="020B0503020204020204" charset="-122"/>
                <a:ea typeface="微软雅黑" panose="020B0503020204020204" charset="-122"/>
              </a:rPr>
              <a:t>所以画面识别实际上并非识别这个东西客观上是什么，而是寻找人类的视觉关联方式，并再次应用。</a:t>
            </a:r>
            <a:r>
              <a:rPr lang="zh-CN" altLang="en-US" sz="1400" dirty="0">
                <a:latin typeface="微软雅黑" panose="020B0503020204020204" charset="-122"/>
                <a:ea typeface="微软雅黑" panose="020B0503020204020204" charset="-122"/>
              </a:rPr>
              <a:t>如果我们不是人类，而是蛇类，那么画面识别所寻找的就和现在的不一样。</a:t>
            </a:r>
            <a:endParaRPr lang="zh-CN" altLang="en-US" sz="1400" dirty="0">
              <a:latin typeface="微软雅黑" panose="020B0503020204020204" charset="-122"/>
              <a:ea typeface="微软雅黑" panose="020B0503020204020204" charset="-122"/>
            </a:endParaRPr>
          </a:p>
        </p:txBody>
      </p:sp>
      <p:sp>
        <p:nvSpPr>
          <p:cNvPr id="16" name="圆角矩形 15"/>
          <p:cNvSpPr/>
          <p:nvPr/>
        </p:nvSpPr>
        <p:spPr>
          <a:xfrm>
            <a:off x="2154620" y="2357906"/>
            <a:ext cx="594127" cy="467212"/>
          </a:xfrm>
          <a:prstGeom prst="round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看到</a:t>
            </a:r>
            <a:endParaRPr lang="zh-CN" altLang="en-US" sz="1400" dirty="0">
              <a:solidFill>
                <a:schemeClr val="tx1"/>
              </a:solidFill>
            </a:endParaRPr>
          </a:p>
        </p:txBody>
      </p:sp>
      <p:sp>
        <p:nvSpPr>
          <p:cNvPr id="17" name="圆角矩形 16"/>
          <p:cNvSpPr/>
          <p:nvPr/>
        </p:nvSpPr>
        <p:spPr>
          <a:xfrm>
            <a:off x="3979082" y="2342690"/>
            <a:ext cx="658256" cy="467212"/>
          </a:xfrm>
          <a:prstGeom prst="round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辨别</a:t>
            </a:r>
            <a:endParaRPr lang="zh-CN" altLang="en-US" sz="1400" dirty="0">
              <a:solidFill>
                <a:schemeClr val="tx1"/>
              </a:solidFill>
            </a:endParaRPr>
          </a:p>
        </p:txBody>
      </p:sp>
      <p:sp>
        <p:nvSpPr>
          <p:cNvPr id="18" name="矩形 17"/>
          <p:cNvSpPr/>
          <p:nvPr/>
        </p:nvSpPr>
        <p:spPr>
          <a:xfrm>
            <a:off x="682752" y="1174069"/>
            <a:ext cx="2268570" cy="307777"/>
          </a:xfrm>
          <a:prstGeom prst="rect">
            <a:avLst/>
          </a:prstGeom>
        </p:spPr>
        <p:txBody>
          <a:bodyPr wrap="none">
            <a:spAutoFit/>
          </a:bodyPr>
          <a:lstStyle/>
          <a:p>
            <a:pPr marL="285750" indent="-285750">
              <a:buFont typeface="Wingdings" panose="05000000000000000000" pitchFamily="2" charset="2"/>
              <a:buChar char="u"/>
            </a:pPr>
            <a:r>
              <a:rPr lang="zh-CN" altLang="en-US" sz="1400" b="1" dirty="0">
                <a:latin typeface="微软雅黑" panose="020B0503020204020204" charset="-122"/>
                <a:ea typeface="微软雅黑" panose="020B0503020204020204" charset="-122"/>
              </a:rPr>
              <a:t>画面识别是什么任务？</a:t>
            </a:r>
            <a:endParaRPr lang="en-US" altLang="zh-CN" sz="1400" b="1" dirty="0">
              <a:latin typeface="微软雅黑" panose="020B0503020204020204" charset="-122"/>
              <a:ea typeface="微软雅黑" panose="020B0503020204020204" charset="-122"/>
            </a:endParaRPr>
          </a:p>
        </p:txBody>
      </p:sp>
      <p:cxnSp>
        <p:nvCxnSpPr>
          <p:cNvPr id="22" name="直接箭头连接符 21"/>
          <p:cNvCxnSpPr/>
          <p:nvPr/>
        </p:nvCxnSpPr>
        <p:spPr>
          <a:xfrm>
            <a:off x="3663583" y="2318599"/>
            <a:ext cx="1280587" cy="0"/>
          </a:xfrm>
          <a:prstGeom prst="straightConnector1">
            <a:avLst/>
          </a:prstGeom>
          <a:ln w="60325">
            <a:solidFill>
              <a:schemeClr val="accent1">
                <a:lumMod val="75000"/>
              </a:schemeClr>
            </a:solidFill>
            <a:headEnd type="triangle"/>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71950" y="634701"/>
            <a:ext cx="5311413" cy="2398955"/>
          </a:xfrm>
        </p:spPr>
        <p:txBody>
          <a:bodyPr/>
          <a:lstStyle/>
          <a:p>
            <a:pPr algn="l">
              <a:lnSpc>
                <a:spcPct val="150000"/>
              </a:lnSpc>
            </a:pPr>
            <a:r>
              <a:rPr lang="zh-CN" altLang="en-US" dirty="0"/>
              <a:t>第二节 </a:t>
            </a:r>
            <a:br>
              <a:rPr lang="en-US" altLang="zh-CN" dirty="0"/>
            </a:br>
            <a:r>
              <a:rPr lang="zh-CN" altLang="en-US" dirty="0"/>
              <a:t>图像表达</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14" name="文本占位符 3"/>
          <p:cNvSpPr txBox="1"/>
          <p:nvPr/>
        </p:nvSpPr>
        <p:spPr bwMode="auto">
          <a:xfrm>
            <a:off x="664984" y="1335740"/>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400" dirty="0"/>
              <a:t>在计算机中，图像又是如何被表达和存储的呢？</a:t>
            </a:r>
            <a:endParaRPr lang="en-US" altLang="zh-CN" sz="140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9" name="矩形 28"/>
          <p:cNvSpPr/>
          <p:nvPr/>
        </p:nvSpPr>
        <p:spPr>
          <a:xfrm>
            <a:off x="778430" y="3636063"/>
            <a:ext cx="4998958" cy="1023742"/>
          </a:xfrm>
          <a:prstGeom prst="rect">
            <a:avLst/>
          </a:prstGeom>
          <a:ln>
            <a:solidFill>
              <a:schemeClr val="tx1"/>
            </a:solidFill>
            <a:prstDash val="sysDot"/>
          </a:ln>
        </p:spPr>
        <p:txBody>
          <a:bodyPr wrap="square">
            <a:spAutoFit/>
          </a:bodyPr>
          <a:lstStyle/>
          <a:p>
            <a:pPr algn="just">
              <a:lnSpc>
                <a:spcPct val="150000"/>
              </a:lnSpc>
            </a:pPr>
            <a:r>
              <a:rPr lang="zh-CN" altLang="en-US" sz="1400" dirty="0">
                <a:latin typeface="微软雅黑" panose="020B0503020204020204" charset="-122"/>
                <a:ea typeface="微软雅黑" panose="020B0503020204020204" charset="-122"/>
              </a:rPr>
              <a:t>图像在计算机中是一堆按顺序排列的数字，数值为</a:t>
            </a:r>
            <a:r>
              <a:rPr lang="en-US" altLang="zh-CN" sz="1400" dirty="0">
                <a:latin typeface="微软雅黑" panose="020B0503020204020204" charset="-122"/>
                <a:ea typeface="微软雅黑" panose="020B0503020204020204" charset="-122"/>
              </a:rPr>
              <a:t>0</a:t>
            </a:r>
            <a:r>
              <a:rPr lang="zh-CN" altLang="en-US" sz="1400" dirty="0">
                <a:latin typeface="微软雅黑" panose="020B0503020204020204" charset="-122"/>
                <a:ea typeface="微软雅黑" panose="020B0503020204020204" charset="-122"/>
              </a:rPr>
              <a:t>到</a:t>
            </a:r>
            <a:r>
              <a:rPr lang="en-US" altLang="zh-CN" sz="1400" dirty="0">
                <a:latin typeface="微软雅黑" panose="020B0503020204020204" charset="-122"/>
                <a:ea typeface="微软雅黑" panose="020B0503020204020204" charset="-122"/>
              </a:rPr>
              <a:t>255</a:t>
            </a:r>
            <a:r>
              <a:rPr lang="zh-CN" altLang="en-US" sz="1400" dirty="0">
                <a:latin typeface="微软雅黑" panose="020B0503020204020204" charset="-122"/>
                <a:ea typeface="微软雅黑" panose="020B0503020204020204" charset="-122"/>
              </a:rPr>
              <a:t>。</a:t>
            </a:r>
            <a:r>
              <a:rPr lang="en-US" altLang="zh-CN" sz="1400" dirty="0">
                <a:latin typeface="微软雅黑" panose="020B0503020204020204" charset="-122"/>
                <a:ea typeface="微软雅黑" panose="020B0503020204020204" charset="-122"/>
              </a:rPr>
              <a:t>0</a:t>
            </a:r>
            <a:r>
              <a:rPr lang="zh-CN" altLang="en-US" sz="1400" dirty="0">
                <a:latin typeface="微软雅黑" panose="020B0503020204020204" charset="-122"/>
                <a:ea typeface="微软雅黑" panose="020B0503020204020204" charset="-122"/>
              </a:rPr>
              <a:t>表示最暗，</a:t>
            </a:r>
            <a:r>
              <a:rPr lang="en-US" altLang="zh-CN" sz="1400" dirty="0">
                <a:latin typeface="微软雅黑" panose="020B0503020204020204" charset="-122"/>
                <a:ea typeface="微软雅黑" panose="020B0503020204020204" charset="-122"/>
              </a:rPr>
              <a:t>255</a:t>
            </a:r>
            <a:r>
              <a:rPr lang="zh-CN" altLang="en-US" sz="1400" dirty="0">
                <a:latin typeface="微软雅黑" panose="020B0503020204020204" charset="-122"/>
                <a:ea typeface="微软雅黑" panose="020B0503020204020204" charset="-122"/>
              </a:rPr>
              <a:t>表示最亮。为了保留图像的结构信息，通常选择矩阵的表示方式。</a:t>
            </a:r>
            <a:endParaRPr lang="en-US" altLang="zh-CN" sz="1400" dirty="0">
              <a:latin typeface="微软雅黑" panose="020B0503020204020204" charset="-122"/>
              <a:ea typeface="微软雅黑" panose="020B0503020204020204" charset="-122"/>
            </a:endParaRPr>
          </a:p>
        </p:txBody>
      </p:sp>
      <p:pic>
        <p:nvPicPr>
          <p:cNvPr id="16" name="图片 15" descr="图像存储.gif"/>
          <p:cNvPicPr>
            <a:picLocks noChangeAspect="1"/>
          </p:cNvPicPr>
          <p:nvPr/>
        </p:nvPicPr>
        <p:blipFill>
          <a:blip r:embed="rId1"/>
          <a:stretch>
            <a:fillRect/>
          </a:stretch>
        </p:blipFill>
        <p:spPr>
          <a:xfrm>
            <a:off x="1158228" y="1849918"/>
            <a:ext cx="1641309" cy="1635669"/>
          </a:xfrm>
          <a:prstGeom prst="rect">
            <a:avLst/>
          </a:prstGeom>
        </p:spPr>
      </p:pic>
      <p:pic>
        <p:nvPicPr>
          <p:cNvPr id="17" name="图片 16" descr="RGB.jpg"/>
          <p:cNvPicPr>
            <a:picLocks noChangeAspect="1"/>
          </p:cNvPicPr>
          <p:nvPr/>
        </p:nvPicPr>
        <p:blipFill>
          <a:blip r:embed="rId2" cstate="print"/>
          <a:stretch>
            <a:fillRect/>
          </a:stretch>
        </p:blipFill>
        <p:spPr>
          <a:xfrm>
            <a:off x="3555551" y="1827934"/>
            <a:ext cx="2032897" cy="167963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14" name="文本占位符 3"/>
          <p:cNvSpPr txBox="1"/>
          <p:nvPr/>
        </p:nvSpPr>
        <p:spPr bwMode="auto">
          <a:xfrm>
            <a:off x="664984" y="1335740"/>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400" dirty="0"/>
              <a:t>在计算机中，图像又是如何被表达和存储的呢？</a:t>
            </a:r>
            <a:endParaRPr lang="en-US" altLang="zh-CN" sz="140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9" name="矩形 28"/>
          <p:cNvSpPr/>
          <p:nvPr/>
        </p:nvSpPr>
        <p:spPr>
          <a:xfrm>
            <a:off x="778430" y="3636063"/>
            <a:ext cx="4998958" cy="1061829"/>
          </a:xfrm>
          <a:prstGeom prst="rect">
            <a:avLst/>
          </a:prstGeom>
          <a:ln>
            <a:solidFill>
              <a:schemeClr val="tx1"/>
            </a:solidFill>
            <a:prstDash val="sysDot"/>
          </a:ln>
        </p:spPr>
        <p:txBody>
          <a:bodyPr wrap="square">
            <a:spAutoFit/>
          </a:bodyPr>
          <a:lstStyle/>
          <a:p>
            <a:pPr algn="just">
              <a:lnSpc>
                <a:spcPct val="150000"/>
              </a:lnSpc>
            </a:pPr>
            <a:r>
              <a:rPr lang="en-US" altLang="zh-CN" sz="1400" dirty="0">
                <a:latin typeface="微软雅黑" panose="020B0503020204020204" charset="-122"/>
                <a:ea typeface="微软雅黑" panose="020B0503020204020204" charset="-122"/>
              </a:rPr>
              <a:t>RGB</a:t>
            </a:r>
            <a:r>
              <a:rPr lang="zh-CN" altLang="en-US" sz="1400" dirty="0">
                <a:latin typeface="微软雅黑" panose="020B0503020204020204" charset="-122"/>
                <a:ea typeface="微软雅黑" panose="020B0503020204020204" charset="-122"/>
              </a:rPr>
              <a:t>颜色模型中，单个矩阵就扩展成了有序排列的三个矩阵，也可以用三维张量去理解，其中每一个矩阵又叫这个图片的一</a:t>
            </a:r>
            <a:r>
              <a:rPr lang="zh-CN" altLang="en-US" sz="1400" dirty="0" smtClean="0">
                <a:latin typeface="微软雅黑" panose="020B0503020204020204" charset="-122"/>
                <a:ea typeface="微软雅黑" panose="020B0503020204020204" charset="-122"/>
              </a:rPr>
              <a:t>个通道。</a:t>
            </a:r>
            <a:endParaRPr lang="en-US" altLang="zh-CN" sz="1400" dirty="0">
              <a:latin typeface="微软雅黑" panose="020B0503020204020204" charset="-122"/>
              <a:ea typeface="微软雅黑" panose="020B0503020204020204" charset="-122"/>
            </a:endParaRPr>
          </a:p>
        </p:txBody>
      </p:sp>
      <p:pic>
        <p:nvPicPr>
          <p:cNvPr id="16" name="图片 15" descr="图像存储.gif"/>
          <p:cNvPicPr>
            <a:picLocks noChangeAspect="1"/>
          </p:cNvPicPr>
          <p:nvPr/>
        </p:nvPicPr>
        <p:blipFill>
          <a:blip r:embed="rId1"/>
          <a:stretch>
            <a:fillRect/>
          </a:stretch>
        </p:blipFill>
        <p:spPr>
          <a:xfrm>
            <a:off x="1158228" y="1849918"/>
            <a:ext cx="1641309" cy="1635669"/>
          </a:xfrm>
          <a:prstGeom prst="rect">
            <a:avLst/>
          </a:prstGeom>
        </p:spPr>
      </p:pic>
      <p:pic>
        <p:nvPicPr>
          <p:cNvPr id="17" name="图片 16" descr="RGB.jpg"/>
          <p:cNvPicPr>
            <a:picLocks noChangeAspect="1"/>
          </p:cNvPicPr>
          <p:nvPr/>
        </p:nvPicPr>
        <p:blipFill>
          <a:blip r:embed="rId2" cstate="print"/>
          <a:stretch>
            <a:fillRect/>
          </a:stretch>
        </p:blipFill>
        <p:spPr>
          <a:xfrm>
            <a:off x="3555551" y="1827934"/>
            <a:ext cx="2032897" cy="167963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14" name="文本占位符 3"/>
          <p:cNvSpPr txBox="1"/>
          <p:nvPr/>
        </p:nvSpPr>
        <p:spPr bwMode="auto">
          <a:xfrm>
            <a:off x="664984" y="1335740"/>
            <a:ext cx="5450802" cy="425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600" dirty="0"/>
              <a:t>如何读取？</a:t>
            </a:r>
            <a:endParaRPr lang="en-US" altLang="zh-CN" sz="160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descr="二维图像.jpg"/>
          <p:cNvPicPr>
            <a:picLocks noChangeAspect="1"/>
          </p:cNvPicPr>
          <p:nvPr/>
        </p:nvPicPr>
        <p:blipFill>
          <a:blip r:embed="rId1" cstate="print"/>
          <a:stretch>
            <a:fillRect/>
          </a:stretch>
        </p:blipFill>
        <p:spPr>
          <a:xfrm>
            <a:off x="664984" y="1979182"/>
            <a:ext cx="1803386" cy="1747755"/>
          </a:xfrm>
          <a:prstGeom prst="rect">
            <a:avLst/>
          </a:prstGeom>
        </p:spPr>
      </p:pic>
      <p:pic>
        <p:nvPicPr>
          <p:cNvPr id="10" name="图片 9" descr="1维卷积动图.gif"/>
          <p:cNvPicPr>
            <a:picLocks noChangeAspect="1"/>
          </p:cNvPicPr>
          <p:nvPr/>
        </p:nvPicPr>
        <p:blipFill>
          <a:blip r:embed="rId2"/>
          <a:stretch>
            <a:fillRect/>
          </a:stretch>
        </p:blipFill>
        <p:spPr>
          <a:xfrm>
            <a:off x="2468370" y="1092420"/>
            <a:ext cx="3598559" cy="3605186"/>
          </a:xfrm>
          <a:prstGeom prst="rect">
            <a:avLst/>
          </a:prstGeom>
        </p:spPr>
      </p:pic>
      <p:sp>
        <p:nvSpPr>
          <p:cNvPr id="13" name="矩形 12"/>
          <p:cNvSpPr/>
          <p:nvPr/>
        </p:nvSpPr>
        <p:spPr>
          <a:xfrm>
            <a:off x="761095" y="4206326"/>
            <a:ext cx="4998958" cy="307777"/>
          </a:xfrm>
          <a:prstGeom prst="rect">
            <a:avLst/>
          </a:prstGeom>
        </p:spPr>
        <p:txBody>
          <a:bodyPr wrap="square">
            <a:spAutoFit/>
          </a:bodyPr>
          <a:lstStyle/>
          <a:p>
            <a:pPr marL="0" indent="0"/>
            <a:r>
              <a:rPr lang="zh-CN" altLang="en-US" sz="1400" dirty="0">
                <a:latin typeface="微软雅黑" panose="020B0503020204020204" charset="-122"/>
                <a:ea typeface="微软雅黑" panose="020B0503020204020204" charset="-122"/>
              </a:rPr>
              <a:t>对二维数字信号（图像）的操作，可以写成矩阵形式</a:t>
            </a:r>
            <a:endParaRPr lang="en-US" altLang="zh-CN" sz="1400" dirty="0">
              <a:latin typeface="微软雅黑" panose="020B0503020204020204" charset="-122"/>
              <a:ea typeface="微软雅黑" panose="020B0503020204020204" charset="-122"/>
            </a:endParaRPr>
          </a:p>
        </p:txBody>
      </p:sp>
      <p:sp>
        <p:nvSpPr>
          <p:cNvPr id="3" name="TextBox 2"/>
          <p:cNvSpPr txBox="1"/>
          <p:nvPr/>
        </p:nvSpPr>
        <p:spPr>
          <a:xfrm>
            <a:off x="2300976" y="3694674"/>
            <a:ext cx="1005403" cy="338554"/>
          </a:xfrm>
          <a:prstGeom prst="rect">
            <a:avLst/>
          </a:prstGeom>
          <a:noFill/>
        </p:spPr>
        <p:txBody>
          <a:bodyPr wrap="none" rtlCol="0">
            <a:spAutoFit/>
          </a:bodyPr>
          <a:lstStyle/>
          <a:p>
            <a:r>
              <a:rPr lang="zh-CN" altLang="en-US" sz="1600" dirty="0" smtClean="0"/>
              <a:t>图像矩阵</a:t>
            </a:r>
            <a:endParaRPr lang="zh-CN" altLang="en-US" sz="1600" dirty="0"/>
          </a:p>
        </p:txBody>
      </p:sp>
      <p:sp>
        <p:nvSpPr>
          <p:cNvPr id="12" name="TextBox 11"/>
          <p:cNvSpPr txBox="1"/>
          <p:nvPr/>
        </p:nvSpPr>
        <p:spPr>
          <a:xfrm>
            <a:off x="5113722" y="1754204"/>
            <a:ext cx="800219" cy="338554"/>
          </a:xfrm>
          <a:prstGeom prst="rect">
            <a:avLst/>
          </a:prstGeom>
          <a:noFill/>
        </p:spPr>
        <p:txBody>
          <a:bodyPr wrap="none" rtlCol="0">
            <a:spAutoFit/>
          </a:bodyPr>
          <a:lstStyle/>
          <a:p>
            <a:r>
              <a:rPr lang="zh-CN" altLang="en-US" sz="1600" dirty="0"/>
              <a:t>特征图</a:t>
            </a:r>
            <a:endParaRPr lang="zh-CN" altLang="en-US" sz="1600" dirty="0"/>
          </a:p>
        </p:txBody>
      </p:sp>
      <p:sp>
        <p:nvSpPr>
          <p:cNvPr id="15" name="TextBox 14"/>
          <p:cNvSpPr txBox="1"/>
          <p:nvPr/>
        </p:nvSpPr>
        <p:spPr>
          <a:xfrm>
            <a:off x="3932648" y="1781151"/>
            <a:ext cx="800219" cy="338554"/>
          </a:xfrm>
          <a:prstGeom prst="rect">
            <a:avLst/>
          </a:prstGeom>
          <a:noFill/>
        </p:spPr>
        <p:txBody>
          <a:bodyPr wrap="none" rtlCol="0">
            <a:spAutoFit/>
          </a:bodyPr>
          <a:lstStyle/>
          <a:p>
            <a:r>
              <a:rPr lang="zh-CN" altLang="en-US" sz="1600" dirty="0"/>
              <a:t>卷积核</a:t>
            </a:r>
            <a:endParaRPr lang="zh-CN" altLang="en-US" sz="16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14" name="文本占位符 3"/>
          <p:cNvSpPr txBox="1"/>
          <p:nvPr/>
        </p:nvSpPr>
        <p:spPr bwMode="auto">
          <a:xfrm>
            <a:off x="935927" y="1654635"/>
            <a:ext cx="5270139" cy="86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pPr>
            <a:r>
              <a:rPr lang="zh-CN" altLang="en-US" sz="1400" b="0" dirty="0">
                <a:latin typeface="微软雅黑" panose="020B0503020204020204" charset="-122"/>
                <a:ea typeface="微软雅黑" panose="020B0503020204020204" charset="-122"/>
              </a:rPr>
              <a:t>比如对图像做平滑，一个典型的</a:t>
            </a:r>
            <a:r>
              <a:rPr lang="en-US" altLang="zh-CN" sz="1400" b="0" dirty="0">
                <a:latin typeface="微软雅黑" panose="020B0503020204020204" charset="-122"/>
                <a:ea typeface="微软雅黑" panose="020B0503020204020204" charset="-122"/>
              </a:rPr>
              <a:t>8</a:t>
            </a:r>
            <a:r>
              <a:rPr lang="zh-CN" altLang="en-US" sz="1400" b="0" dirty="0">
                <a:latin typeface="微软雅黑" panose="020B0503020204020204" charset="-122"/>
                <a:ea typeface="微软雅黑" panose="020B0503020204020204" charset="-122"/>
              </a:rPr>
              <a:t>领域平滑，其结果中的每个值</a:t>
            </a:r>
            <a:r>
              <a:rPr lang="zh-CN" altLang="en-US" sz="1400" b="0" dirty="0" smtClean="0">
                <a:latin typeface="微软雅黑" panose="020B0503020204020204" charset="-122"/>
                <a:ea typeface="微软雅黑" panose="020B0503020204020204" charset="-122"/>
              </a:rPr>
              <a:t>都是通过原</a:t>
            </a:r>
            <a:r>
              <a:rPr lang="zh-CN" altLang="en-US" sz="1400" b="0" dirty="0">
                <a:latin typeface="微软雅黑" panose="020B0503020204020204" charset="-122"/>
                <a:ea typeface="微软雅黑" panose="020B0503020204020204" charset="-122"/>
              </a:rPr>
              <a:t>对应位置和其周边</a:t>
            </a:r>
            <a:r>
              <a:rPr lang="en-US" altLang="zh-CN" sz="1400" b="0" dirty="0">
                <a:latin typeface="微软雅黑" panose="020B0503020204020204" charset="-122"/>
                <a:ea typeface="微软雅黑" panose="020B0503020204020204" charset="-122"/>
              </a:rPr>
              <a:t>8</a:t>
            </a:r>
            <a:r>
              <a:rPr lang="zh-CN" altLang="en-US" sz="1400" b="0" dirty="0">
                <a:latin typeface="微软雅黑" panose="020B0503020204020204" charset="-122"/>
                <a:ea typeface="微软雅黑" panose="020B0503020204020204" charset="-122"/>
              </a:rPr>
              <a:t>个元素与一个</a:t>
            </a:r>
            <a:r>
              <a:rPr lang="en-US" altLang="zh-CN" sz="1400" b="0" dirty="0">
                <a:latin typeface="微软雅黑" panose="020B0503020204020204" charset="-122"/>
                <a:ea typeface="微软雅黑" panose="020B0503020204020204" charset="-122"/>
              </a:rPr>
              <a:t>3X3</a:t>
            </a:r>
            <a:r>
              <a:rPr lang="zh-CN" altLang="en-US" sz="1400" b="0" dirty="0" smtClean="0">
                <a:latin typeface="微软雅黑" panose="020B0503020204020204" charset="-122"/>
                <a:ea typeface="微软雅黑" panose="020B0503020204020204" charset="-122"/>
              </a:rPr>
              <a:t>矩阵运算得到。</a:t>
            </a:r>
            <a:endParaRPr lang="en-US" altLang="zh-CN" sz="1400" b="0" dirty="0">
              <a:latin typeface="微软雅黑" panose="020B0503020204020204" charset="-122"/>
              <a:ea typeface="微软雅黑" panose="020B0503020204020204" charset="-122"/>
            </a:endParaRPr>
          </a:p>
          <a:p>
            <a:pPr marL="0" indent="0"/>
            <a:r>
              <a:rPr lang="en-US" altLang="zh-CN" sz="1600" b="0" dirty="0" smtClean="0"/>
              <a:t>   </a:t>
            </a:r>
            <a:endParaRPr lang="en-US" altLang="zh-CN" sz="1600" b="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1" name="图片 10" descr="矩阵图像.jpg"/>
          <p:cNvPicPr>
            <a:picLocks noChangeAspect="1"/>
          </p:cNvPicPr>
          <p:nvPr/>
        </p:nvPicPr>
        <p:blipFill>
          <a:blip r:embed="rId1" cstate="print"/>
          <a:stretch>
            <a:fillRect/>
          </a:stretch>
        </p:blipFill>
        <p:spPr>
          <a:xfrm>
            <a:off x="879628" y="2777354"/>
            <a:ext cx="2519921" cy="1319104"/>
          </a:xfrm>
          <a:prstGeom prst="rect">
            <a:avLst/>
          </a:prstGeom>
        </p:spPr>
      </p:pic>
      <p:sp>
        <p:nvSpPr>
          <p:cNvPr id="10" name="圆角矩形 9"/>
          <p:cNvSpPr/>
          <p:nvPr/>
        </p:nvSpPr>
        <p:spPr>
          <a:xfrm>
            <a:off x="1342155" y="2520797"/>
            <a:ext cx="1299430" cy="301052"/>
          </a:xfrm>
          <a:prstGeom prst="round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平均</a:t>
            </a:r>
            <a:r>
              <a:rPr lang="en-US" altLang="zh-CN" sz="1400" dirty="0" smtClean="0">
                <a:solidFill>
                  <a:schemeClr val="tx1"/>
                </a:solidFill>
              </a:rPr>
              <a:t>27/9=3</a:t>
            </a:r>
            <a:endParaRPr lang="zh-CN" altLang="en-US" sz="1400" dirty="0">
              <a:solidFill>
                <a:schemeClr val="tx1"/>
              </a:solidFill>
            </a:endParaRPr>
          </a:p>
        </p:txBody>
      </p:sp>
      <p:sp>
        <p:nvSpPr>
          <p:cNvPr id="12" name="文本占位符 3"/>
          <p:cNvSpPr txBox="1"/>
          <p:nvPr/>
        </p:nvSpPr>
        <p:spPr bwMode="auto">
          <a:xfrm>
            <a:off x="664984" y="1335740"/>
            <a:ext cx="5450802" cy="425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600" dirty="0" smtClean="0"/>
              <a:t>如何读取</a:t>
            </a:r>
            <a:r>
              <a:rPr lang="zh-CN" altLang="en-US" sz="1600" dirty="0"/>
              <a:t>？</a:t>
            </a:r>
            <a:endParaRPr lang="en-US" altLang="zh-CN" sz="1600" dirty="0"/>
          </a:p>
        </p:txBody>
      </p:sp>
      <p:pic>
        <p:nvPicPr>
          <p:cNvPr id="16" name="Picture 5" descr="D:\Personal\Desktop\cnn\卷积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0996" y="2542743"/>
            <a:ext cx="2343220" cy="234322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71000" y="3520199"/>
            <a:ext cx="515723" cy="388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57228" y="2099733"/>
            <a:ext cx="3819572" cy="2574585"/>
          </a:xfrm>
          <a:prstGeom prst="rect">
            <a:avLst/>
          </a:prstGeom>
        </p:spPr>
      </p:pic>
      <p:sp>
        <p:nvSpPr>
          <p:cNvPr id="9" name="矩形 8"/>
          <p:cNvSpPr/>
          <p:nvPr/>
        </p:nvSpPr>
        <p:spPr>
          <a:xfrm>
            <a:off x="1057227" y="4540454"/>
            <a:ext cx="5148837" cy="369332"/>
          </a:xfrm>
          <a:prstGeom prst="rect">
            <a:avLst/>
          </a:prstGeom>
        </p:spPr>
        <p:txBody>
          <a:bodyPr wrap="square">
            <a:spAutoFit/>
          </a:bodyPr>
          <a:lstStyle/>
          <a:p>
            <a:pPr algn="just">
              <a:lnSpc>
                <a:spcPct val="150000"/>
              </a:lnSpc>
            </a:pPr>
            <a:r>
              <a:rPr lang="zh-CN" altLang="en-US" sz="1200" dirty="0" smtClean="0">
                <a:latin typeface="微软雅黑" panose="020B0503020204020204" charset="-122"/>
                <a:ea typeface="微软雅黑" panose="020B0503020204020204" charset="-122"/>
              </a:rPr>
              <a:t>使用</a:t>
            </a:r>
            <a:r>
              <a:rPr lang="zh-CN" altLang="en-US" sz="1200" b="1" dirty="0" smtClean="0">
                <a:latin typeface="微软雅黑" panose="020B0503020204020204" charset="-122"/>
                <a:ea typeface="微软雅黑" panose="020B0503020204020204" charset="-122"/>
              </a:rPr>
              <a:t>卷积</a:t>
            </a:r>
            <a:r>
              <a:rPr lang="zh-CN" altLang="en-US" sz="1200" b="1" dirty="0">
                <a:latin typeface="微软雅黑" panose="020B0503020204020204" charset="-122"/>
                <a:ea typeface="微软雅黑" panose="020B0503020204020204" charset="-122"/>
              </a:rPr>
              <a:t>核</a:t>
            </a:r>
            <a:r>
              <a:rPr lang="zh-CN" altLang="en-US" sz="1200" dirty="0">
                <a:latin typeface="微软雅黑" panose="020B0503020204020204" charset="-122"/>
                <a:ea typeface="微软雅黑" panose="020B0503020204020204" charset="-122"/>
              </a:rPr>
              <a:t>来检测图像的所有</a:t>
            </a:r>
            <a:r>
              <a:rPr lang="zh-CN" altLang="en-US" sz="1200" b="1" dirty="0">
                <a:latin typeface="微软雅黑" panose="020B0503020204020204" charset="-122"/>
                <a:ea typeface="微软雅黑" panose="020B0503020204020204" charset="-122"/>
              </a:rPr>
              <a:t>有价值的特征</a:t>
            </a:r>
            <a:r>
              <a:rPr lang="zh-CN" altLang="en-US" sz="1200" dirty="0" smtClean="0">
                <a:latin typeface="微软雅黑" panose="020B0503020204020204" charset="-122"/>
                <a:ea typeface="微软雅黑" panose="020B0503020204020204" charset="-122"/>
              </a:rPr>
              <a:t>。</a:t>
            </a:r>
            <a:endParaRPr lang="zh-CN" altLang="en-US" sz="1200" dirty="0">
              <a:latin typeface="微软雅黑" panose="020B0503020204020204" charset="-122"/>
              <a:ea typeface="微软雅黑" panose="020B0503020204020204" charset="-122"/>
            </a:endParaRPr>
          </a:p>
        </p:txBody>
      </p:sp>
      <p:sp>
        <p:nvSpPr>
          <p:cNvPr id="12" name="文本占位符 3"/>
          <p:cNvSpPr txBox="1"/>
          <p:nvPr/>
        </p:nvSpPr>
        <p:spPr bwMode="auto">
          <a:xfrm>
            <a:off x="664984" y="1335740"/>
            <a:ext cx="5450802" cy="425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600" dirty="0" smtClean="0"/>
              <a:t>如何读取</a:t>
            </a:r>
            <a:r>
              <a:rPr lang="zh-CN" altLang="en-US" sz="1600" dirty="0"/>
              <a:t>？</a:t>
            </a:r>
            <a:endParaRPr lang="en-US" altLang="zh-CN" sz="1600" dirty="0"/>
          </a:p>
        </p:txBody>
      </p:sp>
      <p:sp>
        <p:nvSpPr>
          <p:cNvPr id="13" name="文本占位符 3"/>
          <p:cNvSpPr txBox="1"/>
          <p:nvPr/>
        </p:nvSpPr>
        <p:spPr bwMode="auto">
          <a:xfrm>
            <a:off x="935926" y="1644954"/>
            <a:ext cx="5270139" cy="454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pPr>
            <a:r>
              <a:rPr lang="zh-CN" altLang="en-US" sz="1400" b="0" dirty="0" smtClean="0">
                <a:latin typeface="微软雅黑" panose="020B0503020204020204" charset="-122"/>
                <a:ea typeface="微软雅黑" panose="020B0503020204020204" charset="-122"/>
              </a:rPr>
              <a:t>实际是特征矩阵与卷积核矩阵做点积运算。</a:t>
            </a:r>
            <a:endParaRPr lang="en-US" altLang="zh-CN" sz="1600" b="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14" name="文本占位符 3"/>
          <p:cNvSpPr txBox="1"/>
          <p:nvPr/>
        </p:nvSpPr>
        <p:spPr bwMode="auto">
          <a:xfrm>
            <a:off x="664984" y="1335740"/>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zh-CN" altLang="en-US" sz="1600" b="0" dirty="0"/>
              <a:t>卷积核运算完后效果对比如下：</a:t>
            </a:r>
            <a:endParaRPr lang="en-US" altLang="zh-CN" sz="1600" b="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9" name="矩形 28"/>
          <p:cNvSpPr/>
          <p:nvPr/>
        </p:nvSpPr>
        <p:spPr>
          <a:xfrm>
            <a:off x="713039" y="4027308"/>
            <a:ext cx="5354691" cy="700576"/>
          </a:xfrm>
          <a:prstGeom prst="rect">
            <a:avLst/>
          </a:prstGeom>
        </p:spPr>
        <p:txBody>
          <a:bodyPr wrap="square">
            <a:spAutoFit/>
          </a:bodyPr>
          <a:lstStyle/>
          <a:p>
            <a:pPr>
              <a:lnSpc>
                <a:spcPct val="150000"/>
              </a:lnSpc>
            </a:pPr>
            <a:r>
              <a:rPr lang="zh-CN" altLang="en-US" sz="1400" dirty="0">
                <a:latin typeface="微软雅黑" panose="020B0503020204020204" charset="-122"/>
                <a:ea typeface="微软雅黑" panose="020B0503020204020204" charset="-122"/>
              </a:rPr>
              <a:t>通过卷积核对图像进行操作，相当于对图像进行了模糊，只提取了核心特征。整个操作过程按照概念称为：卷积。</a:t>
            </a:r>
            <a:endParaRPr lang="en-US" altLang="zh-CN" sz="1400" dirty="0">
              <a:latin typeface="微软雅黑" panose="020B0503020204020204" charset="-122"/>
              <a:ea typeface="微软雅黑" panose="020B0503020204020204" charset="-122"/>
            </a:endParaRPr>
          </a:p>
        </p:txBody>
      </p:sp>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13039" y="1752077"/>
            <a:ext cx="5234534" cy="2160021"/>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14" name="文本占位符 3"/>
          <p:cNvSpPr txBox="1"/>
          <p:nvPr/>
        </p:nvSpPr>
        <p:spPr bwMode="auto">
          <a:xfrm>
            <a:off x="664984" y="1335740"/>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pPr>
            <a:r>
              <a:rPr lang="zh-CN" altLang="en-US" sz="1400" dirty="0"/>
              <a:t>卷积的意义是什么呢？</a:t>
            </a:r>
            <a:endParaRPr lang="en-US" altLang="zh-CN" sz="1400" dirty="0"/>
          </a:p>
          <a:p>
            <a:pPr marL="0" indent="0">
              <a:lnSpc>
                <a:spcPct val="150000"/>
              </a:lnSpc>
            </a:pPr>
            <a:r>
              <a:rPr lang="zh-CN" altLang="en-US" sz="1400" b="0" dirty="0"/>
              <a:t>其实如果用图片处理上的专业术语，卷积被叫做锐化，卷积其实强调某些特性，然后</a:t>
            </a:r>
            <a:r>
              <a:rPr lang="zh-CN" altLang="en-US" sz="1400" dirty="0"/>
              <a:t>将特征强化后提取出来</a:t>
            </a:r>
            <a:r>
              <a:rPr lang="zh-CN" altLang="en-US" sz="1400" b="0" dirty="0"/>
              <a:t>，不同的卷积核关注图片上不同的特性，比如有的关注边缘而有的更关注中心地带等等，如下图：</a:t>
            </a:r>
            <a:endParaRPr lang="en-US" altLang="zh-CN" sz="1400" b="0" dirty="0"/>
          </a:p>
          <a:p>
            <a:pPr marL="0" indent="0">
              <a:lnSpc>
                <a:spcPct val="150000"/>
              </a:lnSpc>
            </a:pPr>
            <a:endParaRPr lang="en-US" altLang="zh-CN" sz="1400" b="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00767" y="2819981"/>
            <a:ext cx="4379236" cy="1946327"/>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14" name="文本占位符 3"/>
          <p:cNvSpPr txBox="1"/>
          <p:nvPr/>
        </p:nvSpPr>
        <p:spPr bwMode="auto">
          <a:xfrm>
            <a:off x="664984" y="1201480"/>
            <a:ext cx="2975281" cy="3370521"/>
          </a:xfrm>
          <a:prstGeom prst="rect">
            <a:avLst/>
          </a:prstGeom>
          <a:noFill/>
          <a:ln>
            <a:solidFill>
              <a:schemeClr val="tx1"/>
            </a:solidFill>
            <a:prstDash val="sysDot"/>
          </a:ln>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pPr>
            <a:r>
              <a:rPr lang="zh-CN" altLang="en-US" sz="1400" dirty="0"/>
              <a:t>卷积核的意义是什么呢？</a:t>
            </a:r>
            <a:endParaRPr lang="en-US" altLang="zh-CN" sz="1400" b="0" dirty="0"/>
          </a:p>
          <a:p>
            <a:pPr marL="0" indent="0">
              <a:lnSpc>
                <a:spcPct val="150000"/>
              </a:lnSpc>
            </a:pPr>
            <a:r>
              <a:rPr lang="zh-CN" altLang="en-US" sz="1400" b="0" dirty="0"/>
              <a:t>可以从右边这张图中感受到不同数值</a:t>
            </a:r>
            <a:r>
              <a:rPr lang="zh-CN" altLang="en-US" sz="1400" b="0" dirty="0" smtClean="0"/>
              <a:t>的</a:t>
            </a:r>
            <a:r>
              <a:rPr lang="zh-CN" altLang="en-US" sz="1400" b="0" dirty="0"/>
              <a:t>卷积核</a:t>
            </a:r>
            <a:r>
              <a:rPr lang="zh-CN" altLang="en-US" sz="1400" b="0" dirty="0" smtClean="0"/>
              <a:t>所卷积过后</a:t>
            </a:r>
            <a:r>
              <a:rPr lang="zh-CN" altLang="en-US" sz="1400" b="0" dirty="0"/>
              <a:t>的</a:t>
            </a:r>
            <a:r>
              <a:rPr lang="en-US" altLang="zh-CN" sz="1400" b="0" dirty="0" err="1"/>
              <a:t>FeatureMap</a:t>
            </a:r>
            <a:r>
              <a:rPr lang="en-US" altLang="zh-CN" sz="1400" b="0" dirty="0"/>
              <a:t> </a:t>
            </a:r>
            <a:r>
              <a:rPr lang="zh-CN" altLang="en-US" sz="1400" b="0" dirty="0"/>
              <a:t>可以探测边缘、棱角、模糊、突触等概念。</a:t>
            </a:r>
            <a:endParaRPr lang="en-US" altLang="zh-CN" sz="1400" b="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Picture 4" descr="https://pic1.zhimg.com/80/v2-034c6058037c03c544955111a749c280_hd.png"/>
          <p:cNvPicPr>
            <a:picLocks noChangeAspect="1" noChangeArrowheads="1"/>
          </p:cNvPicPr>
          <p:nvPr/>
        </p:nvPicPr>
        <p:blipFill>
          <a:blip r:embed="rId1" cstate="print"/>
          <a:srcRect/>
          <a:stretch>
            <a:fillRect/>
          </a:stretch>
        </p:blipFill>
        <p:spPr bwMode="auto">
          <a:xfrm>
            <a:off x="3912027" y="1201480"/>
            <a:ext cx="2078116" cy="341720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14" name="文本占位符 3"/>
          <p:cNvSpPr txBox="1"/>
          <p:nvPr/>
        </p:nvSpPr>
        <p:spPr bwMode="auto">
          <a:xfrm>
            <a:off x="664983" y="1335740"/>
            <a:ext cx="5608225"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a:t>人类视觉原理</a:t>
            </a:r>
            <a:endParaRPr lang="en-US" altLang="zh-CN" sz="1400" dirty="0"/>
          </a:p>
          <a:p>
            <a:pPr marL="0" indent="0">
              <a:lnSpc>
                <a:spcPct val="150000"/>
              </a:lnSpc>
            </a:pPr>
            <a:r>
              <a:rPr lang="zh-CN" altLang="en-US" sz="1400" b="0" dirty="0"/>
              <a:t>对于不同的物体，人类视觉也是通过这样逐层分级，来进行认知的。</a:t>
            </a:r>
            <a:endParaRPr lang="en-US" altLang="zh-CN" sz="1600" b="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741183" y="2185246"/>
            <a:ext cx="4071257" cy="251634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2440" y="2125133"/>
            <a:ext cx="1495165" cy="1145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图像表达</a:t>
            </a:r>
            <a:endParaRPr lang="zh-CN" altLang="en-US" dirty="0"/>
          </a:p>
        </p:txBody>
      </p:sp>
      <p:sp>
        <p:nvSpPr>
          <p:cNvPr id="14" name="文本占位符 3"/>
          <p:cNvSpPr txBox="1"/>
          <p:nvPr/>
        </p:nvSpPr>
        <p:spPr bwMode="auto">
          <a:xfrm>
            <a:off x="664983" y="1161076"/>
            <a:ext cx="6560903" cy="452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a:t>人类视觉原理</a:t>
            </a:r>
            <a:endParaRPr lang="en-US" altLang="zh-CN" sz="1400" dirty="0"/>
          </a:p>
          <a:p>
            <a:pPr marL="0" indent="0">
              <a:lnSpc>
                <a:spcPct val="150000"/>
              </a:lnSpc>
            </a:pPr>
            <a:endParaRPr lang="en-US" altLang="zh-CN" sz="1600" b="0" dirty="0"/>
          </a:p>
          <a:p>
            <a:pPr marL="0" indent="0">
              <a:lnSpc>
                <a:spcPct val="150000"/>
              </a:lnSpc>
            </a:pPr>
            <a:endParaRPr lang="en-US" altLang="zh-CN" sz="1600" b="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1926805" y="1566709"/>
            <a:ext cx="4037258" cy="3026556"/>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901641" y="1613931"/>
            <a:ext cx="961183" cy="2979334"/>
          </a:xfrm>
          <a:prstGeom prst="rect">
            <a:avLst/>
          </a:prstGeom>
          <a:noFill/>
          <a:ln w="12700">
            <a:solidFill>
              <a:schemeClr val="tx1">
                <a:lumMod val="65000"/>
                <a:lumOff val="3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200" dirty="0">
                <a:solidFill>
                  <a:schemeClr val="tx1"/>
                </a:solidFill>
              </a:rPr>
              <a:t>右</a:t>
            </a:r>
            <a:r>
              <a:rPr lang="zh-CN" altLang="en-US" sz="1200" b="0" dirty="0">
                <a:solidFill>
                  <a:schemeClr val="tx1"/>
                </a:solidFill>
              </a:rPr>
              <a:t>图展示了人脸识别中经过层层的卷积后，所能够探测的形状、概念也变的越来越抽象和复杂。</a:t>
            </a:r>
            <a:endParaRPr lang="en-US" altLang="zh-CN" sz="1200" b="0" dirty="0">
              <a:solidFill>
                <a:schemeClr val="tx1"/>
              </a:solidFill>
            </a:endParaRPr>
          </a:p>
          <a:p>
            <a:pPr algn="ctr"/>
            <a:endParaRPr lang="zh-CN" altLang="en-US" sz="1200" dirty="0">
              <a:solidFill>
                <a:schemeClr val="tx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867" y="420087"/>
            <a:ext cx="7116105" cy="513327"/>
          </a:xfrm>
        </p:spPr>
        <p:txBody>
          <a:bodyPr/>
          <a:lstStyle/>
          <a:p>
            <a:r>
              <a:rPr lang="zh-CN" altLang="en-US" dirty="0"/>
              <a:t>小结</a:t>
            </a:r>
            <a:endParaRPr lang="zh-CN" altLang="en-US" sz="2400" dirty="0"/>
          </a:p>
        </p:txBody>
      </p:sp>
      <p:sp>
        <p:nvSpPr>
          <p:cNvPr id="6" name="文本占位符 3"/>
          <p:cNvSpPr txBox="1"/>
          <p:nvPr/>
        </p:nvSpPr>
        <p:spPr bwMode="auto">
          <a:xfrm>
            <a:off x="643612" y="1085869"/>
            <a:ext cx="5782588" cy="372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mj-ea"/>
              <a:buAutoNum type="circleNumDbPlain"/>
            </a:pPr>
            <a:r>
              <a:rPr lang="zh-CN" altLang="en-US" sz="1500" dirty="0" smtClean="0">
                <a:latin typeface="+mj-ea"/>
                <a:ea typeface="+mj-ea"/>
              </a:rPr>
              <a:t>图像转化为数值矩阵存储在电脑中</a:t>
            </a:r>
            <a:endParaRPr lang="en-US" altLang="zh-CN" sz="1500" dirty="0" smtClean="0">
              <a:latin typeface="+mj-ea"/>
              <a:ea typeface="+mj-ea"/>
            </a:endParaRPr>
          </a:p>
          <a:p>
            <a:pPr marL="742950" lvl="1" indent="-285750">
              <a:lnSpc>
                <a:spcPct val="150000"/>
              </a:lnSpc>
              <a:buFont typeface="+mj-ea"/>
              <a:buAutoNum type="circleNumDbPlain"/>
            </a:pPr>
            <a:r>
              <a:rPr lang="zh-CN" altLang="en-US" sz="1200" b="0" dirty="0" smtClean="0">
                <a:latin typeface="+mj-ea"/>
                <a:ea typeface="+mj-ea"/>
              </a:rPr>
              <a:t>黑白图片是单通道灰度矩阵</a:t>
            </a:r>
            <a:endParaRPr lang="en-US" altLang="zh-CN" sz="1200" b="0" dirty="0" smtClean="0">
              <a:latin typeface="+mj-ea"/>
              <a:ea typeface="+mj-ea"/>
            </a:endParaRPr>
          </a:p>
          <a:p>
            <a:pPr marL="742950" lvl="1" indent="-285750">
              <a:lnSpc>
                <a:spcPct val="150000"/>
              </a:lnSpc>
              <a:buFont typeface="+mj-ea"/>
              <a:buAutoNum type="circleNumDbPlain"/>
            </a:pPr>
            <a:r>
              <a:rPr lang="zh-CN" altLang="en-US" sz="1200" b="0" dirty="0" smtClean="0">
                <a:latin typeface="+mj-ea"/>
                <a:ea typeface="+mj-ea"/>
              </a:rPr>
              <a:t>彩色图是</a:t>
            </a:r>
            <a:r>
              <a:rPr lang="en-US" altLang="zh-CN" sz="1200" b="0" dirty="0" smtClean="0">
                <a:latin typeface="+mj-ea"/>
                <a:ea typeface="+mj-ea"/>
              </a:rPr>
              <a:t>RGB</a:t>
            </a:r>
            <a:r>
              <a:rPr lang="zh-CN" altLang="en-US" sz="1200" b="0" dirty="0" smtClean="0">
                <a:latin typeface="+mj-ea"/>
                <a:ea typeface="+mj-ea"/>
              </a:rPr>
              <a:t>三通道矩阵</a:t>
            </a:r>
            <a:endParaRPr lang="en-US" altLang="zh-CN" sz="1200" b="0" dirty="0" smtClean="0">
              <a:latin typeface="+mj-ea"/>
              <a:ea typeface="+mj-ea"/>
            </a:endParaRPr>
          </a:p>
          <a:p>
            <a:pPr marL="342900" indent="-342900">
              <a:lnSpc>
                <a:spcPct val="150000"/>
              </a:lnSpc>
              <a:buFont typeface="+mj-ea"/>
              <a:buAutoNum type="circleNumDbPlain"/>
            </a:pPr>
            <a:r>
              <a:rPr lang="zh-CN" altLang="en-US" sz="1500" dirty="0" smtClean="0">
                <a:latin typeface="+mj-ea"/>
                <a:ea typeface="+mj-ea"/>
              </a:rPr>
              <a:t>卷积神经网络通过卷积运算提图像核心特征</a:t>
            </a:r>
            <a:endParaRPr lang="en-US" altLang="zh-CN" sz="1500" dirty="0" smtClean="0">
              <a:latin typeface="+mj-ea"/>
              <a:ea typeface="+mj-ea"/>
            </a:endParaRPr>
          </a:p>
          <a:p>
            <a:pPr marL="800100" lvl="1" indent="-342900">
              <a:lnSpc>
                <a:spcPct val="150000"/>
              </a:lnSpc>
              <a:buFont typeface="+mj-ea"/>
              <a:buAutoNum type="circleNumDbPlain"/>
            </a:pPr>
            <a:r>
              <a:rPr lang="zh-CN" altLang="en-US" sz="1100" b="0" dirty="0" smtClean="0">
                <a:latin typeface="+mj-ea"/>
                <a:ea typeface="+mj-ea"/>
              </a:rPr>
              <a:t>卷积运算是特征矩阵和卷积核做点阵积</a:t>
            </a:r>
            <a:endParaRPr lang="en-US" altLang="zh-CN" sz="1100" b="0" dirty="0" smtClean="0">
              <a:latin typeface="+mj-ea"/>
              <a:ea typeface="+mj-ea"/>
            </a:endParaRPr>
          </a:p>
          <a:p>
            <a:pPr marL="342900" indent="-342900">
              <a:lnSpc>
                <a:spcPct val="150000"/>
              </a:lnSpc>
              <a:buFont typeface="+mj-ea"/>
              <a:buAutoNum type="circleNumDbPlain"/>
            </a:pPr>
            <a:r>
              <a:rPr lang="zh-CN" altLang="en-US" sz="1500" dirty="0" smtClean="0">
                <a:latin typeface="+mj-ea"/>
                <a:ea typeface="+mj-ea"/>
              </a:rPr>
              <a:t>卷积的意义是提取图像核心特征</a:t>
            </a:r>
            <a:endParaRPr lang="en-US" altLang="zh-CN" sz="1500" dirty="0" smtClean="0">
              <a:latin typeface="+mj-ea"/>
              <a:ea typeface="+mj-ea"/>
            </a:endParaRPr>
          </a:p>
          <a:p>
            <a:pPr marL="800100" lvl="1" indent="-342900">
              <a:lnSpc>
                <a:spcPct val="150000"/>
              </a:lnSpc>
              <a:buFont typeface="+mj-ea"/>
              <a:buAutoNum type="circleNumDbPlain"/>
            </a:pPr>
            <a:r>
              <a:rPr lang="zh-CN" altLang="en-US" sz="1100" b="0" dirty="0" smtClean="0">
                <a:latin typeface="+mj-ea"/>
                <a:ea typeface="+mj-ea"/>
              </a:rPr>
              <a:t>不同卷积核可以检测不同的图片特征</a:t>
            </a:r>
            <a:endParaRPr lang="en-US" altLang="zh-CN" sz="1100" b="0" dirty="0" smtClean="0">
              <a:latin typeface="+mj-ea"/>
              <a:ea typeface="+mj-ea"/>
            </a:endParaRPr>
          </a:p>
          <a:p>
            <a:pPr marL="342900" indent="-342900">
              <a:lnSpc>
                <a:spcPct val="150000"/>
              </a:lnSpc>
              <a:buFont typeface="+mj-ea"/>
              <a:buAutoNum type="circleNumDbPlain"/>
            </a:pPr>
            <a:r>
              <a:rPr lang="en-US" altLang="zh-CN" sz="1500" dirty="0" smtClean="0">
                <a:latin typeface="+mj-ea"/>
                <a:ea typeface="+mj-ea"/>
              </a:rPr>
              <a:t> </a:t>
            </a:r>
            <a:r>
              <a:rPr lang="zh-CN" altLang="en-US" sz="1500" dirty="0" smtClean="0">
                <a:latin typeface="+mj-ea"/>
                <a:ea typeface="+mj-ea"/>
              </a:rPr>
              <a:t>卷积神经网络模仿了人类大脑多层处理的特点</a:t>
            </a:r>
            <a:endParaRPr lang="en-US" altLang="zh-CN" sz="1500" dirty="0" smtClean="0">
              <a:latin typeface="+mj-ea"/>
              <a:ea typeface="+mj-ea"/>
            </a:endParaRPr>
          </a:p>
          <a:p>
            <a:pPr marL="800100" lvl="1" indent="-342900">
              <a:lnSpc>
                <a:spcPct val="150000"/>
              </a:lnSpc>
              <a:buFont typeface="+mj-ea"/>
              <a:buAutoNum type="circleNumDbPlain"/>
            </a:pPr>
            <a:r>
              <a:rPr lang="zh-CN" altLang="en-US" sz="1100" b="0" dirty="0" smtClean="0">
                <a:latin typeface="+mj-ea"/>
                <a:ea typeface="+mj-ea"/>
              </a:rPr>
              <a:t>经过构建多层神经网络，在顶层做出分类</a:t>
            </a:r>
            <a:endParaRPr lang="en-US" altLang="zh-CN" sz="1100" b="0" dirty="0">
              <a:latin typeface="+mj-ea"/>
              <a:ea typeface="+mj-ea"/>
            </a:endParaRPr>
          </a:p>
          <a:p>
            <a:pPr marL="285750" indent="-285750">
              <a:lnSpc>
                <a:spcPct val="150000"/>
              </a:lnSpc>
              <a:buFont typeface="Wingdings" panose="05000000000000000000" pitchFamily="2" charset="2"/>
              <a:buChar char="Ø"/>
            </a:pPr>
            <a:endParaRPr lang="en-US" altLang="zh-CN" sz="1500" dirty="0">
              <a:solidFill>
                <a:srgbClr val="177DFF"/>
              </a:solidFill>
              <a:latin typeface="+mj-ea"/>
              <a:ea typeface="+mj-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71950" y="634701"/>
            <a:ext cx="5311413" cy="2398955"/>
          </a:xfrm>
        </p:spPr>
        <p:txBody>
          <a:bodyPr/>
          <a:lstStyle/>
          <a:p>
            <a:pPr algn="l">
              <a:lnSpc>
                <a:spcPct val="150000"/>
              </a:lnSpc>
            </a:pPr>
            <a:r>
              <a:rPr lang="zh-CN" altLang="en-US" dirty="0"/>
              <a:t>第三节 </a:t>
            </a:r>
            <a:br>
              <a:rPr lang="en-US" altLang="zh-CN" dirty="0"/>
            </a:br>
            <a:r>
              <a:rPr lang="zh-CN" altLang="en-US" dirty="0"/>
              <a:t>卷积的实现原理</a:t>
            </a:r>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卷积的实现原理</a:t>
            </a:r>
            <a:endParaRPr lang="zh-CN" altLang="en-US" dirty="0"/>
          </a:p>
        </p:txBody>
      </p:sp>
      <p:sp>
        <p:nvSpPr>
          <p:cNvPr id="14" name="文本占位符 3"/>
          <p:cNvSpPr txBox="1"/>
          <p:nvPr/>
        </p:nvSpPr>
        <p:spPr bwMode="auto">
          <a:xfrm>
            <a:off x="664984" y="1335740"/>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400" dirty="0"/>
              <a:t>卷积实现原理</a:t>
            </a:r>
            <a:endParaRPr lang="en-US" altLang="zh-CN" sz="140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片 9" descr="老鼠.jpg"/>
          <p:cNvPicPr>
            <a:picLocks noChangeAspect="1"/>
          </p:cNvPicPr>
          <p:nvPr/>
        </p:nvPicPr>
        <p:blipFill>
          <a:blip r:embed="rId1" cstate="print"/>
          <a:stretch>
            <a:fillRect/>
          </a:stretch>
        </p:blipFill>
        <p:spPr>
          <a:xfrm>
            <a:off x="809968" y="3652148"/>
            <a:ext cx="3400637" cy="1131758"/>
          </a:xfrm>
          <a:prstGeom prst="rect">
            <a:avLst/>
          </a:prstGeom>
        </p:spPr>
      </p:pic>
      <p:sp>
        <p:nvSpPr>
          <p:cNvPr id="13" name="矩形 12"/>
          <p:cNvSpPr/>
          <p:nvPr/>
        </p:nvSpPr>
        <p:spPr>
          <a:xfrm>
            <a:off x="664014" y="1620388"/>
            <a:ext cx="5354691" cy="646331"/>
          </a:xfrm>
          <a:prstGeom prst="rect">
            <a:avLst/>
          </a:prstGeom>
        </p:spPr>
        <p:txBody>
          <a:bodyPr wrap="square">
            <a:spAutoFit/>
          </a:bodyPr>
          <a:lstStyle/>
          <a:p>
            <a:pPr>
              <a:lnSpc>
                <a:spcPct val="150000"/>
              </a:lnSpc>
            </a:pPr>
            <a:r>
              <a:rPr lang="zh-CN" altLang="en-US" sz="1200" dirty="0">
                <a:latin typeface="微软雅黑" panose="020B0503020204020204" charset="-122"/>
                <a:ea typeface="微软雅黑" panose="020B0503020204020204" charset="-122"/>
              </a:rPr>
              <a:t>不同</a:t>
            </a:r>
            <a:r>
              <a:rPr lang="zh-CN" altLang="en-US" sz="1200" dirty="0" smtClean="0">
                <a:latin typeface="微软雅黑" panose="020B0503020204020204" charset="-122"/>
                <a:ea typeface="微软雅黑" panose="020B0503020204020204" charset="-122"/>
              </a:rPr>
              <a:t>的</a:t>
            </a:r>
            <a:r>
              <a:rPr lang="zh-CN" altLang="en-US" sz="1200" dirty="0">
                <a:latin typeface="微软雅黑" panose="020B0503020204020204" charset="-122"/>
                <a:ea typeface="微软雅黑" panose="020B0503020204020204" charset="-122"/>
              </a:rPr>
              <a:t>卷积核</a:t>
            </a:r>
            <a:r>
              <a:rPr lang="zh-CN" altLang="en-US" sz="1200" dirty="0" smtClean="0">
                <a:latin typeface="微软雅黑" panose="020B0503020204020204" charset="-122"/>
                <a:ea typeface="微软雅黑" panose="020B0503020204020204" charset="-122"/>
              </a:rPr>
              <a:t>可以</a:t>
            </a:r>
            <a:r>
              <a:rPr lang="zh-CN" altLang="en-US" sz="1200" dirty="0">
                <a:latin typeface="微软雅黑" panose="020B0503020204020204" charset="-122"/>
                <a:ea typeface="微软雅黑" panose="020B0503020204020204" charset="-122"/>
              </a:rPr>
              <a:t>检测图像的不同特征，举个例子，假设现在我有一</a:t>
            </a:r>
            <a:r>
              <a:rPr lang="zh-CN" altLang="en-US" sz="1200" dirty="0" smtClean="0">
                <a:latin typeface="微软雅黑" panose="020B0503020204020204" charset="-122"/>
                <a:ea typeface="微软雅黑" panose="020B0503020204020204" charset="-122"/>
              </a:rPr>
              <a:t>个</a:t>
            </a:r>
            <a:r>
              <a:rPr lang="zh-CN" altLang="en-US" sz="1200" dirty="0">
                <a:latin typeface="微软雅黑" panose="020B0503020204020204" charset="-122"/>
                <a:ea typeface="微软雅黑" panose="020B0503020204020204" charset="-122"/>
              </a:rPr>
              <a:t>卷积核</a:t>
            </a:r>
            <a:r>
              <a:rPr lang="zh-CN" altLang="en-US" sz="1200" dirty="0" smtClean="0">
                <a:latin typeface="微软雅黑" panose="020B0503020204020204" charset="-122"/>
                <a:ea typeface="微软雅黑" panose="020B0503020204020204" charset="-122"/>
              </a:rPr>
              <a:t>用来</a:t>
            </a:r>
            <a:r>
              <a:rPr lang="zh-CN" altLang="en-US" sz="1200" dirty="0">
                <a:latin typeface="微软雅黑" panose="020B0503020204020204" charset="-122"/>
                <a:ea typeface="微软雅黑" panose="020B0503020204020204" charset="-122"/>
              </a:rPr>
              <a:t>检测特定弧度，大小为</a:t>
            </a:r>
            <a:r>
              <a:rPr lang="en-US" altLang="zh-CN" sz="1200" dirty="0">
                <a:latin typeface="微软雅黑" panose="020B0503020204020204" charset="-122"/>
                <a:ea typeface="微软雅黑" panose="020B0503020204020204" charset="-122"/>
              </a:rPr>
              <a:t>7*7</a:t>
            </a:r>
            <a:r>
              <a:rPr lang="zh-CN" altLang="en-US" sz="1200" dirty="0">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endParaRPr>
          </a:p>
        </p:txBody>
      </p:sp>
      <p:pic>
        <p:nvPicPr>
          <p:cNvPr id="11" name="图片 10" descr="曲线识别.jpg"/>
          <p:cNvPicPr>
            <a:picLocks noChangeAspect="1"/>
          </p:cNvPicPr>
          <p:nvPr/>
        </p:nvPicPr>
        <p:blipFill>
          <a:blip r:embed="rId2" cstate="print"/>
          <a:stretch>
            <a:fillRect/>
          </a:stretch>
        </p:blipFill>
        <p:spPr>
          <a:xfrm>
            <a:off x="742734" y="2235108"/>
            <a:ext cx="3215792" cy="1417040"/>
          </a:xfrm>
          <a:prstGeom prst="rect">
            <a:avLst/>
          </a:prstGeom>
        </p:spPr>
      </p:pic>
      <p:sp>
        <p:nvSpPr>
          <p:cNvPr id="3" name="右箭头 2"/>
          <p:cNvSpPr/>
          <p:nvPr/>
        </p:nvSpPr>
        <p:spPr>
          <a:xfrm>
            <a:off x="2190973" y="2423886"/>
            <a:ext cx="319314" cy="384628"/>
          </a:xfrm>
          <a:prstGeom prst="rightArrow">
            <a:avLst/>
          </a:prstGeom>
          <a:solidFill>
            <a:srgbClr val="C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卷积的实现原理</a:t>
            </a:r>
            <a:endParaRPr lang="zh-CN" altLang="en-US" dirty="0"/>
          </a:p>
        </p:txBody>
      </p:sp>
      <p:sp>
        <p:nvSpPr>
          <p:cNvPr id="14" name="文本占位符 3"/>
          <p:cNvSpPr txBox="1"/>
          <p:nvPr/>
        </p:nvSpPr>
        <p:spPr bwMode="auto">
          <a:xfrm>
            <a:off x="664984" y="1335741"/>
            <a:ext cx="5450802" cy="26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400" dirty="0"/>
              <a:t>卷积实现原理</a:t>
            </a:r>
            <a:endParaRPr lang="en-US" altLang="zh-CN" sz="1400"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2707" y="1600820"/>
            <a:ext cx="3948896" cy="1461313"/>
          </a:xfrm>
          <a:prstGeom prst="rect">
            <a:avLst/>
          </a:prstGeom>
        </p:spPr>
      </p:pic>
      <p:sp>
        <p:nvSpPr>
          <p:cNvPr id="13" name="矩形 12"/>
          <p:cNvSpPr/>
          <p:nvPr/>
        </p:nvSpPr>
        <p:spPr>
          <a:xfrm>
            <a:off x="762707" y="3062133"/>
            <a:ext cx="5354691" cy="336695"/>
          </a:xfrm>
          <a:prstGeom prst="rect">
            <a:avLst/>
          </a:prstGeom>
        </p:spPr>
        <p:txBody>
          <a:bodyPr wrap="square">
            <a:spAutoFit/>
          </a:bodyPr>
          <a:lstStyle/>
          <a:p>
            <a:pPr>
              <a:lnSpc>
                <a:spcPct val="150000"/>
              </a:lnSpc>
            </a:pPr>
            <a:r>
              <a:rPr lang="zh-CN" altLang="en-US" sz="1200" dirty="0">
                <a:latin typeface="微软雅黑" panose="020B0503020204020204" charset="-122"/>
                <a:ea typeface="微软雅黑" panose="020B0503020204020204" charset="-122"/>
              </a:rPr>
              <a:t>卷积核会与该原始图像对应区域进行点乘后求和，继续移动卷积核，</a:t>
            </a:r>
            <a:r>
              <a:rPr lang="zh-CN" altLang="en-US" sz="1200" b="1" dirty="0">
                <a:latin typeface="微软雅黑" panose="020B0503020204020204" charset="-122"/>
                <a:ea typeface="微软雅黑" panose="020B0503020204020204" charset="-122"/>
              </a:rPr>
              <a:t>结果？</a:t>
            </a:r>
            <a:endParaRPr lang="en-US" altLang="zh-CN" sz="1200" b="1" dirty="0">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707" y="3439544"/>
            <a:ext cx="3969837" cy="1417799"/>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卷积的实现原理</a:t>
            </a:r>
            <a:endParaRPr lang="zh-CN" altLang="en-US" dirty="0"/>
          </a:p>
        </p:txBody>
      </p:sp>
      <p:sp>
        <p:nvSpPr>
          <p:cNvPr id="14" name="文本占位符 3"/>
          <p:cNvSpPr txBox="1"/>
          <p:nvPr/>
        </p:nvSpPr>
        <p:spPr bwMode="auto">
          <a:xfrm>
            <a:off x="664984" y="1335740"/>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400" dirty="0">
                <a:latin typeface="微软雅黑" panose="020B0503020204020204" charset="-122"/>
                <a:ea typeface="微软雅黑" panose="020B0503020204020204" charset="-122"/>
              </a:rPr>
              <a:t>二维图像</a:t>
            </a:r>
            <a:r>
              <a:rPr lang="zh-CN" altLang="en-US" sz="1400" dirty="0" smtClean="0">
                <a:latin typeface="微软雅黑" panose="020B0503020204020204" charset="-122"/>
                <a:ea typeface="微软雅黑" panose="020B0503020204020204" charset="-122"/>
              </a:rPr>
              <a:t>卷积</a:t>
            </a:r>
            <a:r>
              <a:rPr lang="zh-CN" altLang="en-US" sz="1400" dirty="0">
                <a:latin typeface="微软雅黑" panose="020B0503020204020204" charset="-122"/>
                <a:ea typeface="微软雅黑" panose="020B0503020204020204" charset="-122"/>
              </a:rPr>
              <a:t>过程</a:t>
            </a:r>
            <a:endParaRPr lang="en-US" altLang="zh-CN" sz="1400" dirty="0">
              <a:latin typeface="微软雅黑" panose="020B0503020204020204" charset="-122"/>
              <a:ea typeface="微软雅黑" panose="020B0503020204020204" charset="-122"/>
            </a:endParaRPr>
          </a:p>
          <a:p>
            <a:pPr marL="0" indent="0"/>
            <a:r>
              <a:rPr lang="en-US" altLang="zh-CN" sz="2000" b="0" dirty="0"/>
              <a:t>			</a:t>
            </a:r>
            <a:endParaRPr lang="en-US" altLang="zh-CN" sz="12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3" name="图片 12"/>
          <p:cNvPicPr>
            <a:picLocks noChangeAspect="1"/>
          </p:cNvPicPr>
          <p:nvPr/>
        </p:nvPicPr>
        <p:blipFill>
          <a:blip r:embed="rId1"/>
          <a:stretch>
            <a:fillRect/>
          </a:stretch>
        </p:blipFill>
        <p:spPr>
          <a:xfrm>
            <a:off x="530158" y="1774343"/>
            <a:ext cx="2302355" cy="1680807"/>
          </a:xfrm>
          <a:prstGeom prst="rect">
            <a:avLst/>
          </a:prstGeom>
        </p:spPr>
      </p:pic>
      <p:sp>
        <p:nvSpPr>
          <p:cNvPr id="15" name="矩形 14"/>
          <p:cNvSpPr/>
          <p:nvPr/>
        </p:nvSpPr>
        <p:spPr>
          <a:xfrm>
            <a:off x="628650" y="3875616"/>
            <a:ext cx="5354691" cy="613694"/>
          </a:xfrm>
          <a:prstGeom prst="rect">
            <a:avLst/>
          </a:prstGeom>
        </p:spPr>
        <p:txBody>
          <a:bodyPr wrap="square">
            <a:spAutoFit/>
          </a:bodyPr>
          <a:lstStyle/>
          <a:p>
            <a:pPr marL="228600" indent="-228600">
              <a:lnSpc>
                <a:spcPct val="150000"/>
              </a:lnSpc>
              <a:buFont typeface="+mj-lt"/>
              <a:buAutoNum type="arabicPeriod"/>
            </a:pPr>
            <a:r>
              <a:rPr lang="zh-CN" altLang="en-US" sz="1200" dirty="0">
                <a:latin typeface="微软雅黑" panose="020B0503020204020204" charset="-122"/>
                <a:ea typeface="微软雅黑" panose="020B0503020204020204" charset="-122"/>
              </a:rPr>
              <a:t>对图像进行卷积操作（可以理解为有一个滑动窗口，把卷积核与对应的图像像素做 </a:t>
            </a:r>
            <a:r>
              <a:rPr lang="zh-CN" altLang="en-US" sz="1200" b="1" dirty="0">
                <a:latin typeface="微软雅黑" panose="020B0503020204020204" charset="-122"/>
                <a:ea typeface="微软雅黑" panose="020B0503020204020204" charset="-122"/>
              </a:rPr>
              <a:t>乘积</a:t>
            </a:r>
            <a:r>
              <a:rPr lang="en-US" altLang="zh-CN" sz="1200" b="1" dirty="0">
                <a:latin typeface="微软雅黑" panose="020B0503020204020204" charset="-122"/>
                <a:ea typeface="微软雅黑" panose="020B0503020204020204" charset="-122"/>
              </a:rPr>
              <a:t>/</a:t>
            </a:r>
            <a:r>
              <a:rPr lang="zh-CN" altLang="en-US" sz="1200" b="1" dirty="0">
                <a:latin typeface="微软雅黑" panose="020B0503020204020204" charset="-122"/>
                <a:ea typeface="微软雅黑" panose="020B0503020204020204" charset="-122"/>
              </a:rPr>
              <a:t>加权</a:t>
            </a:r>
            <a:r>
              <a:rPr lang="zh-CN" altLang="en-US" sz="1200" dirty="0">
                <a:latin typeface="微软雅黑" panose="020B0503020204020204" charset="-122"/>
                <a:ea typeface="微软雅黑" panose="020B0503020204020204" charset="-122"/>
              </a:rPr>
              <a:t> 然后</a:t>
            </a:r>
            <a:r>
              <a:rPr lang="zh-CN" altLang="en-US" sz="1200" b="1" dirty="0">
                <a:latin typeface="微软雅黑" panose="020B0503020204020204" charset="-122"/>
                <a:ea typeface="微软雅黑" panose="020B0503020204020204" charset="-122"/>
              </a:rPr>
              <a:t>求和</a:t>
            </a:r>
            <a:r>
              <a:rPr lang="zh-CN" altLang="en-US" sz="1200" dirty="0">
                <a:latin typeface="微软雅黑" panose="020B0503020204020204" charset="-122"/>
                <a:ea typeface="微软雅黑" panose="020B0503020204020204" charset="-122"/>
              </a:rPr>
              <a:t>），得到了</a:t>
            </a:r>
            <a:r>
              <a:rPr lang="en-US" altLang="zh-CN" sz="1200" dirty="0">
                <a:latin typeface="微软雅黑" panose="020B0503020204020204" charset="-122"/>
                <a:ea typeface="微软雅黑" panose="020B0503020204020204" charset="-122"/>
              </a:rPr>
              <a:t>3x3</a:t>
            </a:r>
            <a:r>
              <a:rPr lang="zh-CN" altLang="en-US" sz="1200" dirty="0">
                <a:latin typeface="微软雅黑" panose="020B0503020204020204" charset="-122"/>
                <a:ea typeface="微软雅黑" panose="020B0503020204020204" charset="-122"/>
              </a:rPr>
              <a:t>的卷积结果</a:t>
            </a:r>
            <a:r>
              <a:rPr lang="zh-CN" altLang="en-US" sz="1200" dirty="0" smtClean="0">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2513" y="1399555"/>
            <a:ext cx="3772710" cy="2542997"/>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卷积的实现原理</a:t>
            </a:r>
            <a:endParaRPr lang="zh-CN" altLang="en-US" dirty="0"/>
          </a:p>
        </p:txBody>
      </p:sp>
      <p:sp>
        <p:nvSpPr>
          <p:cNvPr id="14" name="文本占位符 3"/>
          <p:cNvSpPr txBox="1"/>
          <p:nvPr/>
        </p:nvSpPr>
        <p:spPr bwMode="auto">
          <a:xfrm>
            <a:off x="664984"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en-US" altLang="zh-CN" sz="1400" dirty="0">
                <a:latin typeface="微软雅黑" panose="020B0503020204020204" charset="-122"/>
                <a:ea typeface="微软雅黑" panose="020B0503020204020204" charset="-122"/>
              </a:rPr>
              <a:t>Padding(</a:t>
            </a:r>
            <a:r>
              <a:rPr lang="zh-CN" altLang="en-US" sz="1400" dirty="0">
                <a:latin typeface="微软雅黑" panose="020B0503020204020204" charset="-122"/>
                <a:ea typeface="微软雅黑" panose="020B0503020204020204" charset="-122"/>
              </a:rPr>
              <a:t>填充</a:t>
            </a:r>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Picture 4" descr="https://pic3.zhimg.com/v2-b20dcefb0683dbe24ba6cf4598613242_b.gif"/>
          <p:cNvPicPr>
            <a:picLocks noChangeAspect="1" noChangeArrowheads="1" noCrop="1"/>
          </p:cNvPicPr>
          <p:nvPr/>
        </p:nvPicPr>
        <p:blipFill>
          <a:blip r:embed="rId1" cstate="print"/>
          <a:srcRect/>
          <a:stretch>
            <a:fillRect/>
          </a:stretch>
        </p:blipFill>
        <p:spPr bwMode="auto">
          <a:xfrm>
            <a:off x="540740" y="1498585"/>
            <a:ext cx="2849645" cy="2065993"/>
          </a:xfrm>
          <a:prstGeom prst="rect">
            <a:avLst/>
          </a:prstGeom>
          <a:noFill/>
        </p:spPr>
      </p:pic>
      <p:pic>
        <p:nvPicPr>
          <p:cNvPr id="11" name="Picture 6" descr="https://pic3.zhimg.com/v2-2a2307d5c20551f1a3e8458c7070cf16_b.gif"/>
          <p:cNvPicPr>
            <a:picLocks noChangeAspect="1" noChangeArrowheads="1" noCrop="1"/>
          </p:cNvPicPr>
          <p:nvPr/>
        </p:nvPicPr>
        <p:blipFill>
          <a:blip r:embed="rId2" cstate="print"/>
          <a:srcRect/>
          <a:stretch>
            <a:fillRect/>
          </a:stretch>
        </p:blipFill>
        <p:spPr bwMode="auto">
          <a:xfrm>
            <a:off x="3649361" y="1216349"/>
            <a:ext cx="1996696" cy="2269662"/>
          </a:xfrm>
          <a:prstGeom prst="rect">
            <a:avLst/>
          </a:prstGeom>
          <a:noFill/>
        </p:spPr>
      </p:pic>
      <p:sp>
        <p:nvSpPr>
          <p:cNvPr id="7" name="矩形 6"/>
          <p:cNvSpPr/>
          <p:nvPr/>
        </p:nvSpPr>
        <p:spPr>
          <a:xfrm>
            <a:off x="713038" y="3470236"/>
            <a:ext cx="5402748" cy="1346907"/>
          </a:xfrm>
          <a:prstGeom prst="rect">
            <a:avLst/>
          </a:prstGeom>
          <a:ln>
            <a:solidFill>
              <a:schemeClr val="tx1"/>
            </a:solidFill>
            <a:prstDash val="sysDot"/>
          </a:ln>
        </p:spPr>
        <p:txBody>
          <a:bodyPr wrap="square">
            <a:spAutoFit/>
          </a:bodyPr>
          <a:lstStyle/>
          <a:p>
            <a:pPr marL="342900" indent="-342900" algn="just">
              <a:lnSpc>
                <a:spcPct val="150000"/>
              </a:lnSpc>
              <a:buFont typeface="Wingdings" panose="05000000000000000000" pitchFamily="2" charset="2"/>
              <a:buChar char="Ø"/>
            </a:pPr>
            <a:r>
              <a:rPr lang="zh-CN" altLang="en-US" sz="1400" dirty="0">
                <a:latin typeface="微软雅黑" panose="020B0503020204020204" charset="-122"/>
                <a:ea typeface="微软雅黑" panose="020B0503020204020204" charset="-122"/>
              </a:rPr>
              <a:t>用额外的“假”像素（通常值为</a:t>
            </a:r>
            <a:r>
              <a:rPr lang="en-US" altLang="zh-CN" sz="1400" dirty="0">
                <a:latin typeface="微软雅黑" panose="020B0503020204020204" charset="-122"/>
                <a:ea typeface="微软雅黑" panose="020B0503020204020204" charset="-122"/>
              </a:rPr>
              <a:t>0</a:t>
            </a:r>
            <a:r>
              <a:rPr lang="zh-CN" altLang="en-US" sz="1400" dirty="0">
                <a:latin typeface="微软雅黑" panose="020B0503020204020204" charset="-122"/>
                <a:ea typeface="微软雅黑" panose="020B0503020204020204" charset="-122"/>
              </a:rPr>
              <a:t>，因此称为“零填充”）填充边缘。</a:t>
            </a:r>
            <a:endParaRPr lang="en-US" altLang="zh-CN" sz="1400" dirty="0">
              <a:latin typeface="微软雅黑" panose="020B0503020204020204" charset="-122"/>
              <a:ea typeface="微软雅黑" panose="020B0503020204020204" charset="-122"/>
            </a:endParaRPr>
          </a:p>
          <a:p>
            <a:pPr marL="342900" indent="-342900" algn="just">
              <a:lnSpc>
                <a:spcPct val="150000"/>
              </a:lnSpc>
              <a:buFont typeface="Wingdings" panose="05000000000000000000" pitchFamily="2" charset="2"/>
              <a:buChar char="Ø"/>
            </a:pPr>
            <a:r>
              <a:rPr lang="zh-CN" altLang="en-US" sz="1400" dirty="0">
                <a:latin typeface="微软雅黑" panose="020B0503020204020204" charset="-122"/>
                <a:ea typeface="微软雅黑" panose="020B0503020204020204" charset="-122"/>
              </a:rPr>
              <a:t>滑动时的核可以延伸到边缘之外的假像素，允许原始边缘像素位于核中心，从而产生与输入相同大小的输出。</a:t>
            </a:r>
            <a:endParaRPr lang="zh-CN" altLang="en-US" sz="14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卷积的实现原理</a:t>
            </a:r>
            <a:endParaRPr lang="zh-CN" altLang="en-US" dirty="0"/>
          </a:p>
        </p:txBody>
      </p:sp>
      <p:sp>
        <p:nvSpPr>
          <p:cNvPr id="14" name="文本占位符 3"/>
          <p:cNvSpPr txBox="1"/>
          <p:nvPr/>
        </p:nvSpPr>
        <p:spPr bwMode="auto">
          <a:xfrm>
            <a:off x="664984"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en-US" altLang="zh-CN" sz="1400" dirty="0">
                <a:latin typeface="微软雅黑" panose="020B0503020204020204" charset="-122"/>
                <a:ea typeface="微软雅黑" panose="020B0503020204020204" charset="-122"/>
              </a:rPr>
              <a:t>Striding(</a:t>
            </a:r>
            <a:r>
              <a:rPr lang="zh-CN" altLang="en-US" sz="1400" dirty="0">
                <a:latin typeface="微软雅黑" panose="020B0503020204020204" charset="-122"/>
                <a:ea typeface="微软雅黑" panose="020B0503020204020204" charset="-122"/>
              </a:rPr>
              <a:t>步长</a:t>
            </a:r>
            <a:r>
              <a:rPr lang="en-US" altLang="zh-CN"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矩形 6"/>
          <p:cNvSpPr/>
          <p:nvPr/>
        </p:nvSpPr>
        <p:spPr>
          <a:xfrm>
            <a:off x="713038" y="3470236"/>
            <a:ext cx="5402748" cy="1346907"/>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400" dirty="0">
                <a:latin typeface="微软雅黑" panose="020B0503020204020204" charset="-122"/>
                <a:ea typeface="微软雅黑" panose="020B0503020204020204" charset="-122"/>
              </a:rPr>
              <a:t>步长即在核的滑动过程中进行“跳步”</a:t>
            </a:r>
            <a:endParaRPr lang="zh-CN" altLang="en-US" sz="1400"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Ø"/>
            </a:pPr>
            <a:r>
              <a:rPr lang="zh-CN" altLang="en-US" sz="1400" dirty="0">
                <a:latin typeface="微软雅黑" panose="020B0503020204020204" charset="-122"/>
                <a:ea typeface="微软雅黑" panose="020B0503020204020204" charset="-122"/>
              </a:rPr>
              <a:t>步长为</a:t>
            </a:r>
            <a:r>
              <a:rPr lang="en-US" altLang="zh-CN" sz="1400" dirty="0">
                <a:latin typeface="微软雅黑" panose="020B0503020204020204" charset="-122"/>
                <a:ea typeface="微软雅黑" panose="020B0503020204020204" charset="-122"/>
              </a:rPr>
              <a:t>1</a:t>
            </a:r>
            <a:r>
              <a:rPr lang="zh-CN" altLang="en-US" sz="1400" dirty="0">
                <a:latin typeface="微软雅黑" panose="020B0503020204020204" charset="-122"/>
                <a:ea typeface="微软雅黑" panose="020B0503020204020204" charset="-122"/>
              </a:rPr>
              <a:t>意味着每次滑动跳过一个像素，即标准卷积操作</a:t>
            </a:r>
            <a:endParaRPr lang="zh-CN" altLang="en-US" sz="1400"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Ø"/>
            </a:pPr>
            <a:r>
              <a:rPr lang="zh-CN" altLang="en-US" sz="1400" dirty="0">
                <a:latin typeface="微软雅黑" panose="020B0503020204020204" charset="-122"/>
                <a:ea typeface="微软雅黑" panose="020B0503020204020204" charset="-122"/>
              </a:rPr>
              <a:t>步长为</a:t>
            </a:r>
            <a:r>
              <a:rPr lang="en-US" altLang="zh-CN" sz="1400" dirty="0">
                <a:latin typeface="微软雅黑" panose="020B0503020204020204" charset="-122"/>
                <a:ea typeface="微软雅黑" panose="020B0503020204020204" charset="-122"/>
              </a:rPr>
              <a:t>2</a:t>
            </a:r>
            <a:r>
              <a:rPr lang="zh-CN" altLang="en-US" sz="1400" dirty="0">
                <a:latin typeface="微软雅黑" panose="020B0503020204020204" charset="-122"/>
                <a:ea typeface="微软雅黑" panose="020B0503020204020204" charset="-122"/>
              </a:rPr>
              <a:t>意味着每次滑动跳过两个像素，缩小大约</a:t>
            </a:r>
            <a:r>
              <a:rPr lang="en-US" altLang="zh-CN" sz="1400" dirty="0">
                <a:latin typeface="微软雅黑" panose="020B0503020204020204" charset="-122"/>
                <a:ea typeface="微软雅黑" panose="020B0503020204020204" charset="-122"/>
              </a:rPr>
              <a:t>2</a:t>
            </a:r>
            <a:r>
              <a:rPr lang="zh-CN" altLang="en-US" sz="1400" dirty="0">
                <a:latin typeface="微软雅黑" panose="020B0503020204020204" charset="-122"/>
                <a:ea typeface="微软雅黑" panose="020B0503020204020204" charset="-122"/>
              </a:rPr>
              <a:t>倍，步长为</a:t>
            </a:r>
            <a:r>
              <a:rPr lang="en-US" altLang="zh-CN" sz="1400" dirty="0">
                <a:latin typeface="微软雅黑" panose="020B0503020204020204" charset="-122"/>
                <a:ea typeface="微软雅黑" panose="020B0503020204020204" charset="-122"/>
              </a:rPr>
              <a:t>3</a:t>
            </a:r>
            <a:r>
              <a:rPr lang="zh-CN" altLang="en-US" sz="1400" dirty="0">
                <a:latin typeface="微软雅黑" panose="020B0503020204020204" charset="-122"/>
                <a:ea typeface="微软雅黑" panose="020B0503020204020204" charset="-122"/>
              </a:rPr>
              <a:t>意味着每次滑动跳过三个像素，大致缩小</a:t>
            </a:r>
            <a:r>
              <a:rPr lang="en-US" altLang="zh-CN" sz="1400" dirty="0">
                <a:latin typeface="微软雅黑" panose="020B0503020204020204" charset="-122"/>
                <a:ea typeface="微软雅黑" panose="020B0503020204020204" charset="-122"/>
              </a:rPr>
              <a:t>3</a:t>
            </a:r>
            <a:r>
              <a:rPr lang="zh-CN" altLang="en-US" sz="1400" dirty="0">
                <a:latin typeface="微软雅黑" panose="020B0503020204020204" charset="-122"/>
                <a:ea typeface="微软雅黑" panose="020B0503020204020204" charset="-122"/>
              </a:rPr>
              <a:t>倍，等等。</a:t>
            </a:r>
            <a:endParaRPr lang="zh-CN" altLang="en-US" sz="1400" dirty="0">
              <a:latin typeface="微软雅黑" panose="020B0503020204020204" charset="-122"/>
              <a:ea typeface="微软雅黑" panose="020B0503020204020204" charset="-122"/>
            </a:endParaRPr>
          </a:p>
        </p:txBody>
      </p:sp>
      <p:pic>
        <p:nvPicPr>
          <p:cNvPr id="9" name="Picture 2" descr="https://pic2.zhimg.com/50/v2-395aa82f1e59cf80e8e17a9209bc22f2_hd.gif"/>
          <p:cNvPicPr>
            <a:picLocks noChangeAspect="1" noChangeArrowheads="1" noCrop="1"/>
          </p:cNvPicPr>
          <p:nvPr/>
        </p:nvPicPr>
        <p:blipFill>
          <a:blip r:embed="rId1"/>
          <a:srcRect/>
          <a:stretch>
            <a:fillRect/>
          </a:stretch>
        </p:blipFill>
        <p:spPr bwMode="auto">
          <a:xfrm>
            <a:off x="882698" y="1519741"/>
            <a:ext cx="1991130" cy="1950495"/>
          </a:xfrm>
          <a:prstGeom prst="rect">
            <a:avLst/>
          </a:prstGeom>
          <a:noFill/>
        </p:spPr>
      </p:pic>
      <p:pic>
        <p:nvPicPr>
          <p:cNvPr id="12" name="Picture 4" descr="preview"/>
          <p:cNvPicPr>
            <a:picLocks noChangeAspect="1" noChangeArrowheads="1"/>
          </p:cNvPicPr>
          <p:nvPr/>
        </p:nvPicPr>
        <p:blipFill>
          <a:blip r:embed="rId2" cstate="print"/>
          <a:srcRect/>
          <a:stretch>
            <a:fillRect/>
          </a:stretch>
        </p:blipFill>
        <p:spPr bwMode="auto">
          <a:xfrm>
            <a:off x="3202732" y="1617686"/>
            <a:ext cx="2913054" cy="1644856"/>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卷积的实现原理</a:t>
            </a:r>
            <a:endParaRPr lang="zh-CN" altLang="en-US" dirty="0"/>
          </a:p>
        </p:txBody>
      </p:sp>
      <p:sp>
        <p:nvSpPr>
          <p:cNvPr id="14" name="文本占位符 3"/>
          <p:cNvSpPr txBox="1"/>
          <p:nvPr/>
        </p:nvSpPr>
        <p:spPr bwMode="auto">
          <a:xfrm>
            <a:off x="664984" y="1335740"/>
            <a:ext cx="5450802" cy="33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400" dirty="0">
                <a:latin typeface="微软雅黑" panose="020B0503020204020204" charset="-122"/>
                <a:ea typeface="微软雅黑" panose="020B0503020204020204" charset="-122"/>
              </a:rPr>
              <a:t>多维图像</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多通道</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 </a:t>
            </a:r>
            <a:r>
              <a:rPr lang="zh-CN" altLang="en-US" sz="1400" dirty="0" smtClean="0">
                <a:latin typeface="微软雅黑" panose="020B0503020204020204" charset="-122"/>
                <a:ea typeface="微软雅黑" panose="020B0503020204020204" charset="-122"/>
              </a:rPr>
              <a:t>卷积过程</a:t>
            </a: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矩形 14"/>
          <p:cNvSpPr/>
          <p:nvPr/>
        </p:nvSpPr>
        <p:spPr>
          <a:xfrm>
            <a:off x="713038" y="1670465"/>
            <a:ext cx="5354691" cy="415498"/>
          </a:xfrm>
          <a:prstGeom prst="rect">
            <a:avLst/>
          </a:prstGeom>
        </p:spPr>
        <p:txBody>
          <a:bodyPr wrap="square">
            <a:spAutoFit/>
          </a:bodyPr>
          <a:lstStyle/>
          <a:p>
            <a:pPr>
              <a:lnSpc>
                <a:spcPct val="150000"/>
              </a:lnSpc>
            </a:pPr>
            <a:r>
              <a:rPr lang="zh-CN" altLang="en-US" sz="1400" dirty="0">
                <a:latin typeface="微软雅黑" panose="020B0503020204020204" charset="-122"/>
                <a:ea typeface="微软雅黑" panose="020B0503020204020204" charset="-122"/>
              </a:rPr>
              <a:t>卷积</a:t>
            </a:r>
            <a:r>
              <a:rPr lang="zh-CN" altLang="en-US" sz="1400" dirty="0" smtClean="0">
                <a:latin typeface="微软雅黑" panose="020B0503020204020204" charset="-122"/>
                <a:ea typeface="微软雅黑" panose="020B0503020204020204" charset="-122"/>
              </a:rPr>
              <a:t>核</a:t>
            </a:r>
            <a:r>
              <a:rPr lang="en-US" altLang="zh-CN" sz="1400" dirty="0" smtClean="0">
                <a:latin typeface="微软雅黑" panose="020B0503020204020204" charset="-122"/>
                <a:ea typeface="微软雅黑" panose="020B0503020204020204" charset="-122"/>
              </a:rPr>
              <a:t>(3*3*3) </a:t>
            </a:r>
            <a:r>
              <a:rPr lang="zh-CN" altLang="en-US" sz="1400" dirty="0" smtClean="0">
                <a:latin typeface="微软雅黑" panose="020B0503020204020204" charset="-122"/>
                <a:ea typeface="微软雅黑" panose="020B0503020204020204" charset="-122"/>
              </a:rPr>
              <a:t>在各每个通道</a:t>
            </a:r>
            <a:r>
              <a:rPr lang="zh-CN" altLang="en-US" sz="1400" dirty="0">
                <a:latin typeface="微软雅黑" panose="020B0503020204020204" charset="-122"/>
                <a:ea typeface="微软雅黑" panose="020B0503020204020204" charset="-122"/>
              </a:rPr>
              <a:t>上“滑动”，</a:t>
            </a:r>
            <a:r>
              <a:rPr lang="zh-CN" altLang="en-US" sz="1400" dirty="0" smtClean="0">
                <a:latin typeface="微软雅黑" panose="020B0503020204020204" charset="-122"/>
                <a:ea typeface="微软雅黑" panose="020B0503020204020204" charset="-122"/>
              </a:rPr>
              <a:t>产生</a:t>
            </a:r>
            <a:r>
              <a:rPr lang="zh-CN" altLang="en-US" sz="1400" dirty="0">
                <a:latin typeface="微软雅黑" panose="020B0503020204020204" charset="-122"/>
                <a:ea typeface="微软雅黑" panose="020B0503020204020204" charset="-122"/>
              </a:rPr>
              <a:t>给自</a:t>
            </a:r>
            <a:r>
              <a:rPr lang="zh-CN" altLang="en-US" sz="1400" dirty="0" smtClean="0">
                <a:latin typeface="微软雅黑" panose="020B0503020204020204" charset="-122"/>
                <a:ea typeface="微软雅黑" panose="020B0503020204020204" charset="-122"/>
              </a:rPr>
              <a:t>处理结果。</a:t>
            </a:r>
            <a:endParaRPr lang="zh-CN" altLang="en-US" sz="1400" dirty="0">
              <a:latin typeface="微软雅黑" panose="020B0503020204020204" charset="-122"/>
              <a:ea typeface="微软雅黑" panose="020B0503020204020204" charset="-122"/>
            </a:endParaRPr>
          </a:p>
        </p:txBody>
      </p:sp>
      <p:pic>
        <p:nvPicPr>
          <p:cNvPr id="11" name="Picture 4" descr="https://pic4.zhimg.com/50/v2-126cbf6a2e3c5da39e18383290bca93e_hd.gif"/>
          <p:cNvPicPr>
            <a:picLocks noChangeAspect="1" noChangeArrowheads="1" noCrop="1"/>
          </p:cNvPicPr>
          <p:nvPr/>
        </p:nvPicPr>
        <p:blipFill>
          <a:blip r:embed="rId1"/>
          <a:srcRect/>
          <a:stretch>
            <a:fillRect/>
          </a:stretch>
        </p:blipFill>
        <p:spPr bwMode="auto">
          <a:xfrm>
            <a:off x="713038" y="2680765"/>
            <a:ext cx="5645080" cy="2085544"/>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卷积的实现原理</a:t>
            </a:r>
            <a:endParaRPr lang="zh-CN" altLang="en-US" dirty="0"/>
          </a:p>
        </p:txBody>
      </p:sp>
      <p:sp>
        <p:nvSpPr>
          <p:cNvPr id="14" name="文本占位符 3"/>
          <p:cNvSpPr txBox="1"/>
          <p:nvPr/>
        </p:nvSpPr>
        <p:spPr bwMode="auto">
          <a:xfrm>
            <a:off x="664984" y="1335740"/>
            <a:ext cx="5450802" cy="33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1400" dirty="0">
                <a:latin typeface="微软雅黑" panose="020B0503020204020204" charset="-122"/>
                <a:ea typeface="微软雅黑" panose="020B0503020204020204" charset="-122"/>
              </a:rPr>
              <a:t>多维图像</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多通道</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 卷积过程</a:t>
            </a: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矩形 14"/>
          <p:cNvSpPr/>
          <p:nvPr/>
        </p:nvSpPr>
        <p:spPr>
          <a:xfrm>
            <a:off x="713038" y="1670465"/>
            <a:ext cx="5354691" cy="415498"/>
          </a:xfrm>
          <a:prstGeom prst="rect">
            <a:avLst/>
          </a:prstGeom>
        </p:spPr>
        <p:txBody>
          <a:bodyPr wrap="square">
            <a:spAutoFit/>
          </a:bodyPr>
          <a:lstStyle/>
          <a:p>
            <a:pPr>
              <a:lnSpc>
                <a:spcPct val="150000"/>
              </a:lnSpc>
            </a:pPr>
            <a:r>
              <a:rPr lang="zh-CN" altLang="en-US" sz="1400" dirty="0" smtClean="0">
                <a:latin typeface="微软雅黑" panose="020B0503020204020204" charset="-122"/>
                <a:ea typeface="微软雅黑" panose="020B0503020204020204" charset="-122"/>
              </a:rPr>
              <a:t>对每个结果进行汇总</a:t>
            </a:r>
            <a:r>
              <a:rPr lang="zh-CN" altLang="en-US" sz="1400" dirty="0">
                <a:latin typeface="微软雅黑" panose="020B0503020204020204" charset="-122"/>
                <a:ea typeface="微软雅黑" panose="020B0503020204020204" charset="-122"/>
              </a:rPr>
              <a:t>，这样</a:t>
            </a:r>
            <a:r>
              <a:rPr lang="zh-CN" altLang="en-US" sz="1400" dirty="0" smtClean="0">
                <a:latin typeface="微软雅黑" panose="020B0503020204020204" charset="-122"/>
                <a:ea typeface="微软雅黑" panose="020B0503020204020204" charset="-122"/>
              </a:rPr>
              <a:t>整个卷积过程，就产生了一个结果。</a:t>
            </a:r>
            <a:endParaRPr lang="zh-CN" altLang="en-US" sz="1400" dirty="0">
              <a:latin typeface="微软雅黑" panose="020B0503020204020204" charset="-122"/>
              <a:ea typeface="微软雅黑" panose="020B0503020204020204" charset="-122"/>
            </a:endParaRPr>
          </a:p>
        </p:txBody>
      </p:sp>
      <p:pic>
        <p:nvPicPr>
          <p:cNvPr id="9" name="Picture 2" descr="https://pic4.zhimg.com/50/v2-e68b5e71704d966b3796c96a958c28ac_hd.gif"/>
          <p:cNvPicPr>
            <a:picLocks noChangeAspect="1" noChangeArrowheads="1" noCrop="1"/>
          </p:cNvPicPr>
          <p:nvPr/>
        </p:nvPicPr>
        <p:blipFill>
          <a:blip r:embed="rId1"/>
          <a:srcRect/>
          <a:stretch>
            <a:fillRect/>
          </a:stretch>
        </p:blipFill>
        <p:spPr bwMode="auto">
          <a:xfrm>
            <a:off x="841828" y="2447919"/>
            <a:ext cx="5951717" cy="2331090"/>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卷积的实现原理</a:t>
            </a:r>
            <a:endParaRPr lang="zh-CN" altLang="en-US" dirty="0"/>
          </a:p>
        </p:txBody>
      </p:sp>
      <p:sp>
        <p:nvSpPr>
          <p:cNvPr id="14" name="文本占位符 3"/>
          <p:cNvSpPr txBox="1"/>
          <p:nvPr/>
        </p:nvSpPr>
        <p:spPr bwMode="auto">
          <a:xfrm>
            <a:off x="664984"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smtClean="0">
                <a:latin typeface="微软雅黑" panose="020B0503020204020204" charset="-122"/>
                <a:ea typeface="微软雅黑" panose="020B0503020204020204" charset="-122"/>
              </a:rPr>
              <a:t>多通道卷积过程</a:t>
            </a: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矩形 6"/>
          <p:cNvSpPr/>
          <p:nvPr/>
        </p:nvSpPr>
        <p:spPr>
          <a:xfrm>
            <a:off x="713039" y="1670465"/>
            <a:ext cx="2320448" cy="1708160"/>
          </a:xfrm>
          <a:prstGeom prst="rect">
            <a:avLst/>
          </a:prstGeom>
        </p:spPr>
        <p:txBody>
          <a:bodyPr wrap="square">
            <a:spAutoFit/>
          </a:bodyPr>
          <a:lstStyle/>
          <a:p>
            <a:pPr>
              <a:lnSpc>
                <a:spcPct val="150000"/>
              </a:lnSpc>
            </a:pPr>
            <a:r>
              <a:rPr lang="zh-CN" altLang="en-US" sz="1400" dirty="0">
                <a:latin typeface="微软雅黑" panose="020B0503020204020204" charset="-122"/>
                <a:ea typeface="微软雅黑" panose="020B0503020204020204" charset="-122"/>
              </a:rPr>
              <a:t>右图展示了</a:t>
            </a:r>
            <a:r>
              <a:rPr lang="en-US" altLang="zh-CN" sz="1400" dirty="0">
                <a:latin typeface="微软雅黑" panose="020B0503020204020204" charset="-122"/>
                <a:ea typeface="微软雅黑" panose="020B0503020204020204" charset="-122"/>
              </a:rPr>
              <a:t>RGB</a:t>
            </a:r>
            <a:r>
              <a:rPr lang="zh-CN" altLang="en-US" sz="1400" dirty="0">
                <a:latin typeface="微软雅黑" panose="020B0503020204020204" charset="-122"/>
                <a:ea typeface="微软雅黑" panose="020B0503020204020204" charset="-122"/>
              </a:rPr>
              <a:t>三个通道图片的卷积运算过程</a:t>
            </a:r>
            <a:r>
              <a:rPr lang="zh-CN" altLang="en-US" sz="1400" dirty="0" smtClean="0">
                <a:latin typeface="微软雅黑" panose="020B0503020204020204" charset="-122"/>
                <a:ea typeface="微软雅黑" panose="020B0503020204020204" charset="-122"/>
              </a:rPr>
              <a:t>，共卷积</a:t>
            </a:r>
            <a:r>
              <a:rPr lang="en-US" altLang="zh-CN" sz="1400" dirty="0" smtClean="0">
                <a:latin typeface="微软雅黑" panose="020B0503020204020204" charset="-122"/>
                <a:ea typeface="微软雅黑" panose="020B0503020204020204" charset="-122"/>
              </a:rPr>
              <a:t>2</a:t>
            </a:r>
            <a:r>
              <a:rPr lang="zh-CN" altLang="en-US" sz="1400" dirty="0" smtClean="0">
                <a:latin typeface="微软雅黑" panose="020B0503020204020204" charset="-122"/>
                <a:ea typeface="微软雅黑" panose="020B0503020204020204" charset="-122"/>
              </a:rPr>
              <a:t>次，有两个卷积核，每个卷积核都产生一个特征</a:t>
            </a:r>
            <a:r>
              <a:rPr lang="zh-CN" altLang="en-US" sz="1400" dirty="0">
                <a:latin typeface="微软雅黑" panose="020B0503020204020204" charset="-122"/>
                <a:ea typeface="微软雅黑" panose="020B0503020204020204" charset="-122"/>
              </a:rPr>
              <a:t>图</a:t>
            </a:r>
            <a:r>
              <a:rPr lang="en-US" altLang="zh-CN" sz="1400" dirty="0" smtClean="0">
                <a:latin typeface="微软雅黑" panose="020B0503020204020204" charset="-122"/>
                <a:ea typeface="微软雅黑" panose="020B0503020204020204" charset="-122"/>
              </a:rPr>
              <a:t>(Feature Map</a:t>
            </a:r>
            <a:r>
              <a:rPr lang="en-US" altLang="zh-CN" sz="1400" dirty="0">
                <a:latin typeface="微软雅黑" panose="020B0503020204020204" charset="-122"/>
                <a:ea typeface="微软雅黑" panose="020B0503020204020204" charset="-122"/>
              </a:rPr>
              <a:t>)</a:t>
            </a:r>
            <a:endParaRPr lang="zh-CN" altLang="en-US" sz="1400" dirty="0">
              <a:latin typeface="微软雅黑" panose="020B0503020204020204" charset="-122"/>
              <a:ea typeface="微软雅黑" panose="020B0503020204020204" charset="-122"/>
            </a:endParaRPr>
          </a:p>
        </p:txBody>
      </p:sp>
      <p:pic>
        <p:nvPicPr>
          <p:cNvPr id="9" name="Picture 2"/>
          <p:cNvPicPr>
            <a:picLocks noChangeAspect="1" noChangeArrowheads="1" noCrop="1"/>
          </p:cNvPicPr>
          <p:nvPr/>
        </p:nvPicPr>
        <p:blipFill>
          <a:blip r:embed="rId1"/>
          <a:stretch>
            <a:fillRect/>
          </a:stretch>
        </p:blipFill>
        <p:spPr bwMode="auto">
          <a:xfrm>
            <a:off x="3033487" y="1233036"/>
            <a:ext cx="3484598" cy="2795782"/>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卷积</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Picture 2"/>
          <p:cNvPicPr>
            <a:picLocks noChangeAspect="1" noChangeArrowheads="1" noCrop="1"/>
          </p:cNvPicPr>
          <p:nvPr/>
        </p:nvPicPr>
        <p:blipFill>
          <a:blip r:embed="rId1"/>
          <a:stretch>
            <a:fillRect/>
          </a:stretch>
        </p:blipFill>
        <p:spPr bwMode="auto">
          <a:xfrm>
            <a:off x="665825" y="426943"/>
            <a:ext cx="5336032" cy="4281234"/>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867" y="420087"/>
            <a:ext cx="7116105" cy="513327"/>
          </a:xfrm>
        </p:spPr>
        <p:txBody>
          <a:bodyPr/>
          <a:lstStyle/>
          <a:p>
            <a:r>
              <a:rPr lang="zh-CN" altLang="en-US" dirty="0"/>
              <a:t>小结</a:t>
            </a:r>
            <a:endParaRPr lang="zh-CN" altLang="en-US" sz="2400" dirty="0"/>
          </a:p>
        </p:txBody>
      </p:sp>
      <p:sp>
        <p:nvSpPr>
          <p:cNvPr id="6" name="文本占位符 3"/>
          <p:cNvSpPr txBox="1"/>
          <p:nvPr/>
        </p:nvSpPr>
        <p:spPr bwMode="auto">
          <a:xfrm>
            <a:off x="643612" y="1085869"/>
            <a:ext cx="5782588" cy="372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mj-ea"/>
              <a:buAutoNum type="circleNumDbPlain"/>
            </a:pPr>
            <a:r>
              <a:rPr lang="zh-CN" altLang="en-US" sz="1500" dirty="0">
                <a:latin typeface="+mj-ea"/>
                <a:ea typeface="+mj-ea"/>
              </a:rPr>
              <a:t>卷积运算结果值越大，特征相关度越大</a:t>
            </a:r>
            <a:r>
              <a:rPr lang="zh-CN" altLang="en-US" sz="1500" dirty="0" smtClean="0">
                <a:latin typeface="+mj-ea"/>
                <a:ea typeface="+mj-ea"/>
              </a:rPr>
              <a:t>。</a:t>
            </a:r>
            <a:endParaRPr lang="en-US" altLang="zh-CN" sz="1500" dirty="0" smtClean="0">
              <a:latin typeface="+mj-ea"/>
              <a:ea typeface="+mj-ea"/>
            </a:endParaRPr>
          </a:p>
          <a:p>
            <a:pPr marL="800100" lvl="1" indent="-342900">
              <a:lnSpc>
                <a:spcPct val="150000"/>
              </a:lnSpc>
              <a:buFont typeface="+mj-ea"/>
              <a:buAutoNum type="circleNumDbPlain"/>
            </a:pPr>
            <a:r>
              <a:rPr lang="zh-CN" altLang="en-US" sz="1200" b="0" dirty="0" smtClean="0">
                <a:latin typeface="+mj-ea"/>
                <a:ea typeface="+mj-ea"/>
              </a:rPr>
              <a:t>卷积可以提取图像的核心特征</a:t>
            </a:r>
            <a:endParaRPr lang="en-US" altLang="zh-CN" sz="1200" b="0" dirty="0" smtClean="0">
              <a:latin typeface="+mj-ea"/>
              <a:ea typeface="+mj-ea"/>
            </a:endParaRPr>
          </a:p>
          <a:p>
            <a:pPr marL="342900" indent="-342900">
              <a:lnSpc>
                <a:spcPct val="150000"/>
              </a:lnSpc>
              <a:buFont typeface="+mj-ea"/>
              <a:buAutoNum type="circleNumDbPlain"/>
            </a:pPr>
            <a:r>
              <a:rPr lang="zh-CN" altLang="en-US" sz="1500" dirty="0" smtClean="0">
                <a:latin typeface="+mj-ea"/>
                <a:ea typeface="+mj-ea"/>
              </a:rPr>
              <a:t>填充在步长为</a:t>
            </a:r>
            <a:r>
              <a:rPr lang="en-US" altLang="zh-CN" sz="1500" dirty="0" smtClean="0">
                <a:latin typeface="+mj-ea"/>
                <a:ea typeface="+mj-ea"/>
              </a:rPr>
              <a:t>1</a:t>
            </a:r>
            <a:r>
              <a:rPr lang="zh-CN" altLang="en-US" sz="1500" dirty="0" smtClean="0">
                <a:latin typeface="+mj-ea"/>
                <a:ea typeface="+mj-ea"/>
              </a:rPr>
              <a:t>时可以保证输出与原始图像大小一致</a:t>
            </a:r>
            <a:endParaRPr lang="en-US" altLang="zh-CN" sz="1500" dirty="0" smtClean="0">
              <a:latin typeface="+mj-ea"/>
              <a:ea typeface="+mj-ea"/>
            </a:endParaRPr>
          </a:p>
          <a:p>
            <a:pPr marL="800100" lvl="1" indent="-342900">
              <a:lnSpc>
                <a:spcPct val="150000"/>
              </a:lnSpc>
              <a:buFont typeface="+mj-ea"/>
              <a:buAutoNum type="circleNumDbPlain"/>
            </a:pPr>
            <a:r>
              <a:rPr lang="zh-CN" altLang="en-US" sz="1200" b="0" dirty="0" smtClean="0">
                <a:latin typeface="+mj-ea"/>
                <a:ea typeface="+mj-ea"/>
              </a:rPr>
              <a:t>填充有利于边缘特征的检测。</a:t>
            </a:r>
            <a:endParaRPr lang="en-US" altLang="zh-CN" sz="1200" b="0" dirty="0" smtClean="0">
              <a:latin typeface="+mj-ea"/>
              <a:ea typeface="+mj-ea"/>
            </a:endParaRPr>
          </a:p>
          <a:p>
            <a:pPr marL="342900" indent="-342900">
              <a:lnSpc>
                <a:spcPct val="150000"/>
              </a:lnSpc>
              <a:buFont typeface="+mj-ea"/>
              <a:buAutoNum type="circleNumDbPlain"/>
            </a:pPr>
            <a:r>
              <a:rPr lang="en-US" altLang="zh-CN" sz="1500" dirty="0" smtClean="0">
                <a:latin typeface="+mj-ea"/>
                <a:ea typeface="+mj-ea"/>
              </a:rPr>
              <a:t> </a:t>
            </a:r>
            <a:r>
              <a:rPr lang="zh-CN" altLang="en-US" sz="1500" dirty="0" smtClean="0">
                <a:latin typeface="+mj-ea"/>
                <a:ea typeface="+mj-ea"/>
              </a:rPr>
              <a:t>每个卷积核每次卷积都会产生一个</a:t>
            </a:r>
            <a:r>
              <a:rPr lang="en-US" altLang="zh-CN" sz="1500" dirty="0">
                <a:latin typeface="+mj-ea"/>
                <a:ea typeface="+mj-ea"/>
              </a:rPr>
              <a:t>Feature </a:t>
            </a:r>
            <a:r>
              <a:rPr lang="en-US" altLang="zh-CN" sz="1500" dirty="0" smtClean="0">
                <a:latin typeface="+mj-ea"/>
                <a:ea typeface="+mj-ea"/>
              </a:rPr>
              <a:t>Map</a:t>
            </a:r>
            <a:endParaRPr lang="en-US" altLang="zh-CN" sz="1100" b="0" dirty="0" smtClean="0">
              <a:latin typeface="+mj-ea"/>
              <a:ea typeface="+mj-ea"/>
            </a:endParaRPr>
          </a:p>
          <a:p>
            <a:pPr marL="285750" indent="-285750">
              <a:lnSpc>
                <a:spcPct val="150000"/>
              </a:lnSpc>
              <a:buFont typeface="Wingdings" panose="05000000000000000000" pitchFamily="2" charset="2"/>
              <a:buChar char="Ø"/>
            </a:pPr>
            <a:endParaRPr lang="en-US" altLang="zh-CN" sz="1500" dirty="0">
              <a:solidFill>
                <a:srgbClr val="177DFF"/>
              </a:solidFill>
              <a:latin typeface="+mj-ea"/>
              <a:ea typeface="+mj-ea"/>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71950" y="634701"/>
            <a:ext cx="5311413" cy="2398955"/>
          </a:xfrm>
        </p:spPr>
        <p:txBody>
          <a:bodyPr/>
          <a:lstStyle/>
          <a:p>
            <a:pPr algn="l">
              <a:lnSpc>
                <a:spcPct val="150000"/>
              </a:lnSpc>
            </a:pPr>
            <a:r>
              <a:rPr lang="zh-CN" altLang="en-US" dirty="0" smtClean="0"/>
              <a:t>第</a:t>
            </a:r>
            <a:r>
              <a:rPr lang="zh-CN" altLang="en-US" dirty="0"/>
              <a:t>四</a:t>
            </a:r>
            <a:r>
              <a:rPr lang="zh-CN" altLang="en-US" dirty="0" smtClean="0"/>
              <a:t>节 </a:t>
            </a:r>
            <a:br>
              <a:rPr lang="en-US" altLang="zh-CN" dirty="0"/>
            </a:br>
            <a:r>
              <a:rPr lang="zh-CN" altLang="en-US" dirty="0"/>
              <a:t>池化和全链接</a:t>
            </a:r>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12566" y="1290373"/>
            <a:ext cx="4136629" cy="2473359"/>
          </a:xfrm>
          <a:prstGeom prst="rect">
            <a:avLst/>
          </a:prstGeom>
        </p:spPr>
      </p:pic>
      <p:sp>
        <p:nvSpPr>
          <p:cNvPr id="14" name="文本占位符 3"/>
          <p:cNvSpPr txBox="1"/>
          <p:nvPr/>
        </p:nvSpPr>
        <p:spPr bwMode="auto">
          <a:xfrm>
            <a:off x="664984"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a:latin typeface="微软雅黑" panose="020B0503020204020204" charset="-122"/>
                <a:ea typeface="微软雅黑" panose="020B0503020204020204" charset="-122"/>
              </a:rPr>
              <a:t>池化（</a:t>
            </a:r>
            <a:r>
              <a:rPr lang="en-US" altLang="zh-CN" sz="1400" dirty="0">
                <a:latin typeface="微软雅黑" panose="020B0503020204020204" charset="-122"/>
                <a:ea typeface="微软雅黑" panose="020B0503020204020204" charset="-122"/>
              </a:rPr>
              <a:t>Polling</a:t>
            </a:r>
            <a:r>
              <a:rPr lang="zh-CN" altLang="en-US"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p:txBody>
      </p:sp>
      <p:sp>
        <p:nvSpPr>
          <p:cNvPr id="2" name="标题 1"/>
          <p:cNvSpPr>
            <a:spLocks noGrp="1"/>
          </p:cNvSpPr>
          <p:nvPr>
            <p:ph type="title"/>
          </p:nvPr>
        </p:nvSpPr>
        <p:spPr/>
        <p:txBody>
          <a:bodyPr/>
          <a:lstStyle/>
          <a:p>
            <a:r>
              <a:rPr lang="zh-CN" altLang="en-US" dirty="0"/>
              <a:t>池化和</a:t>
            </a:r>
            <a:r>
              <a:rPr lang="zh-CN" altLang="en-US" dirty="0"/>
              <a:t>全链接</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矩形 6"/>
          <p:cNvSpPr/>
          <p:nvPr/>
        </p:nvSpPr>
        <p:spPr>
          <a:xfrm>
            <a:off x="713038" y="3644609"/>
            <a:ext cx="5402748" cy="1167692"/>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200" dirty="0">
                <a:latin typeface="微软雅黑" panose="020B0503020204020204" charset="-122"/>
                <a:ea typeface="微软雅黑" panose="020B0503020204020204" charset="-122"/>
              </a:rPr>
              <a:t>池化：主要用于特征降维、压缩数据和参数的数量，减少过拟合，提高模型的兼容性。主要有：</a:t>
            </a:r>
            <a:endParaRPr lang="zh-CN" altLang="en-US" sz="1200" dirty="0">
              <a:latin typeface="微软雅黑" panose="020B0503020204020204" charset="-122"/>
              <a:ea typeface="微软雅黑" panose="020B0503020204020204" charset="-122"/>
            </a:endParaRPr>
          </a:p>
          <a:p>
            <a:pPr marL="685800" lvl="1" indent="-342900">
              <a:lnSpc>
                <a:spcPct val="150000"/>
              </a:lnSpc>
              <a:buFont typeface="+mj-ea"/>
              <a:buAutoNum type="circleNumDbPlain"/>
            </a:pPr>
            <a:r>
              <a:rPr lang="en-US" altLang="zh-CN" sz="1200" dirty="0">
                <a:latin typeface="微软雅黑" panose="020B0503020204020204" charset="-122"/>
                <a:ea typeface="微软雅黑" panose="020B0503020204020204" charset="-122"/>
              </a:rPr>
              <a:t>Max Polling</a:t>
            </a:r>
            <a:r>
              <a:rPr lang="zh-CN" altLang="en-US" sz="1200" dirty="0">
                <a:latin typeface="微软雅黑" panose="020B0503020204020204" charset="-122"/>
                <a:ea typeface="微软雅黑" panose="020B0503020204020204" charset="-122"/>
              </a:rPr>
              <a:t>：最大池化 （效果更好） </a:t>
            </a:r>
            <a:endParaRPr lang="en-US" altLang="zh-CN" sz="1200" dirty="0">
              <a:latin typeface="微软雅黑" panose="020B0503020204020204" charset="-122"/>
              <a:ea typeface="微软雅黑" panose="020B0503020204020204" charset="-122"/>
            </a:endParaRPr>
          </a:p>
          <a:p>
            <a:pPr marL="685800" lvl="1" indent="-342900">
              <a:lnSpc>
                <a:spcPct val="150000"/>
              </a:lnSpc>
              <a:buFont typeface="+mj-ea"/>
              <a:buAutoNum type="circleNumDbPlain"/>
            </a:pPr>
            <a:r>
              <a:rPr lang="en-US" altLang="zh-CN" sz="1200" dirty="0" err="1">
                <a:latin typeface="微软雅黑" panose="020B0503020204020204" charset="-122"/>
                <a:ea typeface="微软雅黑" panose="020B0503020204020204" charset="-122"/>
              </a:rPr>
              <a:t>Averge</a:t>
            </a:r>
            <a:r>
              <a:rPr lang="en-US" altLang="zh-CN" sz="1200" dirty="0">
                <a:latin typeface="微软雅黑" panose="020B0503020204020204" charset="-122"/>
                <a:ea typeface="微软雅黑" panose="020B0503020204020204" charset="-122"/>
              </a:rPr>
              <a:t> Polling</a:t>
            </a:r>
            <a:r>
              <a:rPr lang="zh-CN" altLang="en-US" sz="1200" dirty="0">
                <a:latin typeface="微软雅黑" panose="020B0503020204020204" charset="-122"/>
                <a:ea typeface="微软雅黑" panose="020B0503020204020204" charset="-122"/>
              </a:rPr>
              <a:t>：平均池化</a:t>
            </a:r>
            <a:endParaRPr lang="zh-CN" altLang="en-US" sz="12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池化和全链接</a:t>
            </a:r>
            <a:endParaRPr lang="zh-CN" altLang="en-US" dirty="0"/>
          </a:p>
        </p:txBody>
      </p:sp>
      <p:sp>
        <p:nvSpPr>
          <p:cNvPr id="14" name="文本占位符 3"/>
          <p:cNvSpPr txBox="1"/>
          <p:nvPr/>
        </p:nvSpPr>
        <p:spPr bwMode="auto">
          <a:xfrm>
            <a:off x="664982" y="1103513"/>
            <a:ext cx="5450802" cy="465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a:latin typeface="微软雅黑" panose="020B0503020204020204" charset="-122"/>
                <a:ea typeface="微软雅黑" panose="020B0503020204020204" charset="-122"/>
              </a:rPr>
              <a:t>池化（</a:t>
            </a:r>
            <a:r>
              <a:rPr lang="en-US" altLang="zh-CN" sz="1400" dirty="0">
                <a:latin typeface="微软雅黑" panose="020B0503020204020204" charset="-122"/>
                <a:ea typeface="微软雅黑" panose="020B0503020204020204" charset="-122"/>
              </a:rPr>
              <a:t>Polling</a:t>
            </a:r>
            <a:r>
              <a:rPr lang="zh-CN" altLang="en-US" sz="1400" dirty="0">
                <a:latin typeface="微软雅黑" panose="020B0503020204020204" charset="-122"/>
                <a:ea typeface="微软雅黑" panose="020B0503020204020204" charset="-122"/>
              </a:rPr>
              <a:t>）</a:t>
            </a: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矩形 8"/>
          <p:cNvSpPr/>
          <p:nvPr/>
        </p:nvSpPr>
        <p:spPr>
          <a:xfrm>
            <a:off x="761093" y="4248741"/>
            <a:ext cx="5410044" cy="336695"/>
          </a:xfrm>
          <a:prstGeom prst="rect">
            <a:avLst/>
          </a:prstGeom>
        </p:spPr>
        <p:txBody>
          <a:bodyPr wrap="square">
            <a:spAutoFit/>
          </a:bodyPr>
          <a:lstStyle/>
          <a:p>
            <a:pPr>
              <a:lnSpc>
                <a:spcPct val="150000"/>
              </a:lnSpc>
            </a:pPr>
            <a:r>
              <a:rPr lang="zh-CN" altLang="en-US" sz="1200" dirty="0">
                <a:latin typeface="微软雅黑" panose="020B0503020204020204" charset="-122"/>
                <a:ea typeface="微软雅黑" panose="020B0503020204020204" charset="-122"/>
              </a:rPr>
              <a:t>虽然人不太容易分辨出池化后的特征图，但是没关系，机器还是可以识别的。</a:t>
            </a:r>
            <a:endParaRPr lang="zh-CN" altLang="en-US" sz="1200" dirty="0">
              <a:latin typeface="微软雅黑" panose="020B0503020204020204" charset="-122"/>
              <a:ea typeface="微软雅黑" panose="020B0503020204020204" charset="-122"/>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7834" y="1789560"/>
            <a:ext cx="5187950" cy="2128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29660" y="991651"/>
            <a:ext cx="4407720" cy="3477306"/>
          </a:xfrm>
          <a:prstGeom prst="rect">
            <a:avLst/>
          </a:prstGeom>
        </p:spPr>
      </p:pic>
      <p:sp>
        <p:nvSpPr>
          <p:cNvPr id="14" name="文本占位符 3"/>
          <p:cNvSpPr txBox="1"/>
          <p:nvPr/>
        </p:nvSpPr>
        <p:spPr bwMode="auto">
          <a:xfrm>
            <a:off x="664982"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30000"/>
              </a:lnSpc>
              <a:buFont typeface="Wingdings" panose="05000000000000000000" pitchFamily="2" charset="2"/>
              <a:buChar char="u"/>
            </a:pPr>
            <a:r>
              <a:rPr lang="zh-CN" altLang="en-US" sz="1300" dirty="0" smtClean="0">
                <a:latin typeface="微软雅黑" panose="020B0503020204020204" charset="-122"/>
                <a:ea typeface="微软雅黑" panose="020B0503020204020204" charset="-122"/>
              </a:rPr>
              <a:t>全连接</a:t>
            </a:r>
            <a:r>
              <a:rPr lang="zh-CN" altLang="en-US" sz="1300" dirty="0">
                <a:latin typeface="微软雅黑" panose="020B0503020204020204" charset="-122"/>
                <a:ea typeface="微软雅黑" panose="020B0503020204020204" charset="-122"/>
              </a:rPr>
              <a:t>：作用是分类</a:t>
            </a:r>
            <a:endParaRPr lang="en-US" altLang="zh-CN" sz="1300" dirty="0">
              <a:latin typeface="微软雅黑" panose="020B0503020204020204" charset="-122"/>
              <a:ea typeface="微软雅黑" panose="020B0503020204020204" charset="-122"/>
            </a:endParaRPr>
          </a:p>
        </p:txBody>
      </p:sp>
      <p:sp>
        <p:nvSpPr>
          <p:cNvPr id="2" name="标题 1"/>
          <p:cNvSpPr>
            <a:spLocks noGrp="1"/>
          </p:cNvSpPr>
          <p:nvPr>
            <p:ph type="title"/>
          </p:nvPr>
        </p:nvSpPr>
        <p:spPr/>
        <p:txBody>
          <a:bodyPr/>
          <a:lstStyle/>
          <a:p>
            <a:r>
              <a:rPr lang="zh-CN" altLang="en-US" dirty="0">
                <a:sym typeface="+mn-ea"/>
              </a:rPr>
              <a:t>池化和全链接</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矩形 8"/>
          <p:cNvSpPr/>
          <p:nvPr/>
        </p:nvSpPr>
        <p:spPr>
          <a:xfrm>
            <a:off x="628650" y="4080478"/>
            <a:ext cx="5354691" cy="789127"/>
          </a:xfrm>
          <a:prstGeom prst="rect">
            <a:avLst/>
          </a:prstGeom>
          <a:ln>
            <a:solidFill>
              <a:schemeClr val="tx1"/>
            </a:solidFill>
            <a:prstDash val="sysDot"/>
          </a:ln>
        </p:spPr>
        <p:txBody>
          <a:bodyPr wrap="square">
            <a:spAutoFit/>
          </a:bodyPr>
          <a:lstStyle/>
          <a:p>
            <a:pPr>
              <a:lnSpc>
                <a:spcPct val="130000"/>
              </a:lnSpc>
            </a:pPr>
            <a:r>
              <a:rPr lang="zh-CN" altLang="en-US" sz="1200" dirty="0">
                <a:latin typeface="微软雅黑" panose="020B0503020204020204" charset="-122"/>
                <a:ea typeface="微软雅黑" panose="020B0503020204020204" charset="-122"/>
              </a:rPr>
              <a:t>红色的神经元表示这个特征被找到了（激活了）。同一层的其他神经元，要么猫的特征不明显，要么没找到。当我们把这些找到的</a:t>
            </a:r>
            <a:r>
              <a:rPr lang="zh-CN" altLang="en-US" sz="1200" b="1" dirty="0">
                <a:latin typeface="微软雅黑" panose="020B0503020204020204" charset="-122"/>
                <a:ea typeface="微软雅黑" panose="020B0503020204020204" charset="-122"/>
              </a:rPr>
              <a:t>特征组合在一起</a:t>
            </a:r>
            <a:r>
              <a:rPr lang="zh-CN" altLang="en-US" sz="1200" dirty="0">
                <a:latin typeface="微软雅黑" panose="020B0503020204020204" charset="-122"/>
                <a:ea typeface="微软雅黑" panose="020B0503020204020204" charset="-122"/>
              </a:rPr>
              <a:t>，发现最符合要求的是猫，我认为这是猫了。</a:t>
            </a:r>
            <a:endParaRPr lang="zh-CN" altLang="en-US" sz="12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池化和全链接</a:t>
            </a:r>
            <a:endParaRPr lang="zh-CN" altLang="en-US" dirty="0"/>
          </a:p>
        </p:txBody>
      </p:sp>
      <p:sp>
        <p:nvSpPr>
          <p:cNvPr id="14" name="文本占位符 3"/>
          <p:cNvSpPr txBox="1"/>
          <p:nvPr/>
        </p:nvSpPr>
        <p:spPr bwMode="auto">
          <a:xfrm>
            <a:off x="664982"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smtClean="0">
                <a:latin typeface="微软雅黑" panose="020B0503020204020204" charset="-122"/>
                <a:ea typeface="微软雅黑" panose="020B0503020204020204" charset="-122"/>
              </a:rPr>
              <a:t>全连接</a:t>
            </a:r>
            <a:r>
              <a:rPr lang="zh-CN" altLang="en-US" sz="1400" dirty="0">
                <a:latin typeface="微软雅黑" panose="020B0503020204020204" charset="-122"/>
                <a:ea typeface="微软雅黑" panose="020B0503020204020204" charset="-122"/>
              </a:rPr>
              <a:t>：作用是分类</a:t>
            </a: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矩形 8"/>
          <p:cNvSpPr/>
          <p:nvPr/>
        </p:nvSpPr>
        <p:spPr>
          <a:xfrm>
            <a:off x="628650" y="3999864"/>
            <a:ext cx="5354691" cy="613694"/>
          </a:xfrm>
          <a:prstGeom prst="rect">
            <a:avLst/>
          </a:prstGeom>
        </p:spPr>
        <p:txBody>
          <a:bodyPr wrap="square">
            <a:spAutoFit/>
          </a:bodyPr>
          <a:lstStyle/>
          <a:p>
            <a:pPr>
              <a:lnSpc>
                <a:spcPct val="150000"/>
              </a:lnSpc>
            </a:pPr>
            <a:r>
              <a:rPr lang="zh-CN" altLang="en-US" sz="1200" dirty="0">
                <a:latin typeface="微软雅黑" panose="020B0503020204020204" charset="-122"/>
                <a:ea typeface="微软雅黑" panose="020B0503020204020204" charset="-122"/>
              </a:rPr>
              <a:t>当我们把这些特征组合在一起，发现最符合要求的是猫。就实现了分类任务，</a:t>
            </a:r>
            <a:r>
              <a:rPr lang="zh-CN" altLang="en-US" sz="1200" dirty="0" smtClean="0">
                <a:latin typeface="微软雅黑" panose="020B0503020204020204" charset="-122"/>
                <a:ea typeface="微软雅黑" panose="020B0503020204020204" charset="-122"/>
              </a:rPr>
              <a:t>全连接</a:t>
            </a:r>
            <a:r>
              <a:rPr lang="zh-CN" altLang="en-US" sz="1200" dirty="0">
                <a:latin typeface="微软雅黑" panose="020B0503020204020204" charset="-122"/>
                <a:ea typeface="微软雅黑" panose="020B0503020204020204" charset="-122"/>
              </a:rPr>
              <a:t>层的作用就是实现分类。</a:t>
            </a:r>
            <a:endParaRPr lang="zh-CN" altLang="en-US" sz="1200" dirty="0">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13934" y="1015590"/>
            <a:ext cx="3081315" cy="2883958"/>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池化和全链接</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片 9"/>
          <p:cNvPicPr>
            <a:picLocks noChangeAspect="1"/>
          </p:cNvPicPr>
          <p:nvPr/>
        </p:nvPicPr>
        <p:blipFill>
          <a:blip r:embed="rId1"/>
          <a:stretch>
            <a:fillRect/>
          </a:stretch>
        </p:blipFill>
        <p:spPr>
          <a:xfrm>
            <a:off x="280495" y="1034880"/>
            <a:ext cx="8382565" cy="3796555"/>
          </a:xfrm>
          <a:prstGeom prst="rect">
            <a:avLst/>
          </a:prstGeom>
        </p:spPr>
      </p:pic>
      <p:sp>
        <p:nvSpPr>
          <p:cNvPr id="6" name="文本占位符 3"/>
          <p:cNvSpPr txBox="1"/>
          <p:nvPr/>
        </p:nvSpPr>
        <p:spPr bwMode="auto">
          <a:xfrm>
            <a:off x="664982"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smtClean="0">
                <a:latin typeface="微软雅黑" panose="020B0503020204020204" charset="-122"/>
                <a:ea typeface="微软雅黑" panose="020B0503020204020204" charset="-122"/>
              </a:rPr>
              <a:t>全连接：</a:t>
            </a:r>
            <a:r>
              <a:rPr lang="zh-CN" altLang="en-US" sz="1400" dirty="0">
                <a:latin typeface="微软雅黑" panose="020B0503020204020204" charset="-122"/>
                <a:ea typeface="微软雅黑" panose="020B0503020204020204" charset="-122"/>
              </a:rPr>
              <a:t>把所有特征矩合并为</a:t>
            </a:r>
            <a:r>
              <a:rPr lang="en-US" altLang="zh-CN" sz="1400" dirty="0">
                <a:latin typeface="微软雅黑" panose="020B0503020204020204" charset="-122"/>
                <a:ea typeface="微软雅黑" panose="020B0503020204020204" charset="-122"/>
              </a:rPr>
              <a:t>1</a:t>
            </a:r>
            <a:r>
              <a:rPr lang="zh-CN" altLang="en-US" sz="1400" dirty="0">
                <a:latin typeface="微软雅黑" panose="020B0503020204020204" charset="-122"/>
                <a:ea typeface="微软雅黑" panose="020B0503020204020204" charset="-122"/>
              </a:rPr>
              <a:t>个矩阵方便运算</a:t>
            </a:r>
            <a:endParaRPr lang="en-US" altLang="zh-CN" sz="14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卷积神经网络结构及框架介绍</a:t>
            </a:r>
            <a:endParaRPr lang="zh-CN" altLang="en-US" dirty="0"/>
          </a:p>
        </p:txBody>
      </p:sp>
      <p:sp>
        <p:nvSpPr>
          <p:cNvPr id="14" name="文本占位符 3"/>
          <p:cNvSpPr txBox="1"/>
          <p:nvPr/>
        </p:nvSpPr>
        <p:spPr bwMode="auto">
          <a:xfrm>
            <a:off x="664982"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a:latin typeface="微软雅黑" panose="020B0503020204020204" charset="-122"/>
                <a:ea typeface="微软雅黑" panose="020B0503020204020204" charset="-122"/>
              </a:rPr>
              <a:t>卷积神经网络结构</a:t>
            </a: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94626" y="1904695"/>
            <a:ext cx="6264895" cy="2065630"/>
          </a:xfrm>
          <a:prstGeom prst="rect">
            <a:avLst/>
          </a:prstGeom>
        </p:spPr>
      </p:pic>
      <p:sp>
        <p:nvSpPr>
          <p:cNvPr id="9" name="矩形 8"/>
          <p:cNvSpPr/>
          <p:nvPr/>
        </p:nvSpPr>
        <p:spPr>
          <a:xfrm>
            <a:off x="747060" y="4240905"/>
            <a:ext cx="5402748" cy="498598"/>
          </a:xfrm>
          <a:prstGeom prst="rect">
            <a:avLst/>
          </a:prstGeom>
        </p:spPr>
        <p:txBody>
          <a:bodyPr wrap="square">
            <a:spAutoFit/>
          </a:bodyPr>
          <a:lstStyle/>
          <a:p>
            <a:pPr marL="342900" indent="-342900">
              <a:lnSpc>
                <a:spcPct val="120000"/>
              </a:lnSpc>
              <a:buFont typeface="Wingdings" panose="05000000000000000000" pitchFamily="2" charset="2"/>
              <a:buChar char="n"/>
            </a:pPr>
            <a:r>
              <a:rPr lang="en-US" altLang="zh-CN" sz="1100" dirty="0">
                <a:latin typeface="微软雅黑" panose="020B0503020204020204" charset="-122"/>
                <a:ea typeface="微软雅黑" panose="020B0503020204020204" charset="-122"/>
              </a:rPr>
              <a:t>CNN</a:t>
            </a:r>
            <a:r>
              <a:rPr lang="zh-CN" altLang="en-US" sz="1100" dirty="0">
                <a:latin typeface="微软雅黑" panose="020B0503020204020204" charset="-122"/>
                <a:ea typeface="微软雅黑" panose="020B0503020204020204" charset="-122"/>
              </a:rPr>
              <a:t>网络一共有</a:t>
            </a:r>
            <a:r>
              <a:rPr lang="en-US" altLang="zh-CN" sz="1100" dirty="0" smtClean="0">
                <a:latin typeface="微软雅黑" panose="020B0503020204020204" charset="-122"/>
                <a:ea typeface="微软雅黑" panose="020B0503020204020204" charset="-122"/>
              </a:rPr>
              <a:t>4</a:t>
            </a:r>
            <a:r>
              <a:rPr lang="zh-CN" altLang="en-US" sz="1100" dirty="0">
                <a:latin typeface="微软雅黑" panose="020B0503020204020204" charset="-122"/>
                <a:ea typeface="微软雅黑" panose="020B0503020204020204" charset="-122"/>
              </a:rPr>
              <a:t>个</a:t>
            </a:r>
            <a:r>
              <a:rPr lang="zh-CN" altLang="en-US" sz="1100" dirty="0" smtClean="0">
                <a:latin typeface="微软雅黑" panose="020B0503020204020204" charset="-122"/>
                <a:ea typeface="微软雅黑" panose="020B0503020204020204" charset="-122"/>
              </a:rPr>
              <a:t>核心的层级</a:t>
            </a:r>
            <a:r>
              <a:rPr lang="zh-CN" altLang="en-US" sz="1100" dirty="0">
                <a:latin typeface="微软雅黑" panose="020B0503020204020204" charset="-122"/>
                <a:ea typeface="微软雅黑" panose="020B0503020204020204" charset="-122"/>
              </a:rPr>
              <a:t>结构</a:t>
            </a:r>
            <a:endParaRPr lang="en-US" altLang="zh-CN" sz="1100" dirty="0">
              <a:latin typeface="微软雅黑" panose="020B0503020204020204" charset="-122"/>
              <a:ea typeface="微软雅黑" panose="020B0503020204020204" charset="-122"/>
            </a:endParaRPr>
          </a:p>
          <a:p>
            <a:pPr lvl="1">
              <a:lnSpc>
                <a:spcPct val="120000"/>
              </a:lnSpc>
            </a:pPr>
            <a:r>
              <a:rPr lang="zh-CN" altLang="en-US" sz="1100" dirty="0">
                <a:latin typeface="微软雅黑" panose="020B0503020204020204" charset="-122"/>
                <a:ea typeface="微软雅黑" panose="020B0503020204020204" charset="-122"/>
              </a:rPr>
              <a:t>①输入层 ；②卷积层； ③池化层； ④全连接</a:t>
            </a:r>
            <a:r>
              <a:rPr lang="en-US" altLang="zh-CN" sz="1100" dirty="0">
                <a:latin typeface="微软雅黑" panose="020B0503020204020204" charset="-122"/>
                <a:ea typeface="微软雅黑" panose="020B0503020204020204" charset="-122"/>
              </a:rPr>
              <a:t>FC</a:t>
            </a:r>
            <a:r>
              <a:rPr lang="zh-CN" altLang="en-US" sz="1100" dirty="0">
                <a:latin typeface="微软雅黑" panose="020B0503020204020204" charset="-122"/>
                <a:ea typeface="微软雅黑" panose="020B0503020204020204" charset="-122"/>
              </a:rPr>
              <a:t>层</a:t>
            </a:r>
            <a:endParaRPr lang="zh-CN" altLang="en-US" sz="11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70821" y="1549351"/>
            <a:ext cx="4861975" cy="2538890"/>
          </a:xfrm>
          <a:prstGeom prst="rect">
            <a:avLst/>
          </a:prstGeom>
        </p:spPr>
      </p:pic>
      <p:sp>
        <p:nvSpPr>
          <p:cNvPr id="2" name="标题 1"/>
          <p:cNvSpPr>
            <a:spLocks noGrp="1"/>
          </p:cNvSpPr>
          <p:nvPr>
            <p:ph type="title"/>
          </p:nvPr>
        </p:nvSpPr>
        <p:spPr/>
        <p:txBody>
          <a:bodyPr/>
          <a:lstStyle/>
          <a:p>
            <a:r>
              <a:rPr lang="zh-CN" altLang="en-US" dirty="0"/>
              <a:t>卷积神经网络结构及框架</a:t>
            </a:r>
            <a:r>
              <a:rPr lang="zh-CN" altLang="en-US" dirty="0"/>
              <a:t>介绍</a:t>
            </a:r>
            <a:endParaRPr lang="zh-CN" altLang="en-US" dirty="0"/>
          </a:p>
        </p:txBody>
      </p:sp>
      <p:sp>
        <p:nvSpPr>
          <p:cNvPr id="14" name="文本占位符 3"/>
          <p:cNvSpPr txBox="1"/>
          <p:nvPr/>
        </p:nvSpPr>
        <p:spPr bwMode="auto">
          <a:xfrm>
            <a:off x="664982"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a:latin typeface="微软雅黑" panose="020B0503020204020204" charset="-122"/>
                <a:ea typeface="微软雅黑" panose="020B0503020204020204" charset="-122"/>
              </a:rPr>
              <a:t>卷积神经网络结构</a:t>
            </a: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矩形 9"/>
          <p:cNvSpPr/>
          <p:nvPr/>
        </p:nvSpPr>
        <p:spPr>
          <a:xfrm>
            <a:off x="747060" y="4240905"/>
            <a:ext cx="5402748" cy="481414"/>
          </a:xfrm>
          <a:prstGeom prst="rect">
            <a:avLst/>
          </a:prstGeom>
        </p:spPr>
        <p:txBody>
          <a:bodyPr wrap="square">
            <a:spAutoFit/>
          </a:bodyPr>
          <a:lstStyle/>
          <a:p>
            <a:pPr marL="342900" indent="-342900">
              <a:lnSpc>
                <a:spcPct val="120000"/>
              </a:lnSpc>
              <a:buFont typeface="Wingdings" panose="05000000000000000000" pitchFamily="2" charset="2"/>
              <a:buChar char="n"/>
            </a:pPr>
            <a:r>
              <a:rPr lang="en-US" altLang="zh-CN" sz="1100" dirty="0">
                <a:latin typeface="微软雅黑" panose="020B0503020204020204" charset="-122"/>
                <a:ea typeface="微软雅黑" panose="020B0503020204020204" charset="-122"/>
              </a:rPr>
              <a:t>CNN</a:t>
            </a:r>
            <a:r>
              <a:rPr lang="zh-CN" altLang="en-US" sz="1100" dirty="0">
                <a:latin typeface="微软雅黑" panose="020B0503020204020204" charset="-122"/>
                <a:ea typeface="微软雅黑" panose="020B0503020204020204" charset="-122"/>
              </a:rPr>
              <a:t>网络一共有</a:t>
            </a:r>
            <a:r>
              <a:rPr lang="en-US" altLang="zh-CN" sz="1100" dirty="0">
                <a:latin typeface="微软雅黑" panose="020B0503020204020204" charset="-122"/>
                <a:ea typeface="微软雅黑" panose="020B0503020204020204" charset="-122"/>
              </a:rPr>
              <a:t>4</a:t>
            </a:r>
            <a:r>
              <a:rPr lang="zh-CN" altLang="en-US" sz="1100" dirty="0">
                <a:latin typeface="微软雅黑" panose="020B0503020204020204" charset="-122"/>
                <a:ea typeface="微软雅黑" panose="020B0503020204020204" charset="-122"/>
              </a:rPr>
              <a:t>个层级结构</a:t>
            </a:r>
            <a:endParaRPr lang="en-US" altLang="zh-CN" sz="1100" dirty="0">
              <a:latin typeface="微软雅黑" panose="020B0503020204020204" charset="-122"/>
              <a:ea typeface="微软雅黑" panose="020B0503020204020204" charset="-122"/>
            </a:endParaRPr>
          </a:p>
          <a:p>
            <a:pPr lvl="1">
              <a:lnSpc>
                <a:spcPct val="120000"/>
              </a:lnSpc>
            </a:pPr>
            <a:r>
              <a:rPr lang="zh-CN" altLang="en-US" sz="1100" dirty="0">
                <a:latin typeface="微软雅黑" panose="020B0503020204020204" charset="-122"/>
                <a:ea typeface="微软雅黑" panose="020B0503020204020204" charset="-122"/>
              </a:rPr>
              <a:t>①输入层 ；②卷积层； ③池化层； ④全连接</a:t>
            </a:r>
            <a:r>
              <a:rPr lang="en-US" altLang="zh-CN" sz="1100" dirty="0">
                <a:latin typeface="微软雅黑" panose="020B0503020204020204" charset="-122"/>
                <a:ea typeface="微软雅黑" panose="020B0503020204020204" charset="-122"/>
              </a:rPr>
              <a:t>FC</a:t>
            </a:r>
            <a:r>
              <a:rPr lang="zh-CN" altLang="en-US" sz="1100" dirty="0">
                <a:latin typeface="微软雅黑" panose="020B0503020204020204" charset="-122"/>
                <a:ea typeface="微软雅黑" panose="020B0503020204020204" charset="-122"/>
              </a:rPr>
              <a:t>层</a:t>
            </a:r>
            <a:endParaRPr lang="zh-CN" altLang="en-US" sz="1100"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卷积神经网络结构及框架介绍</a:t>
            </a:r>
            <a:endParaRPr lang="zh-CN" altLang="en-US" dirty="0"/>
          </a:p>
        </p:txBody>
      </p:sp>
      <p:sp>
        <p:nvSpPr>
          <p:cNvPr id="14" name="文本占位符 3"/>
          <p:cNvSpPr txBox="1"/>
          <p:nvPr/>
        </p:nvSpPr>
        <p:spPr bwMode="auto">
          <a:xfrm>
            <a:off x="664982" y="1103512"/>
            <a:ext cx="5450802" cy="3430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u"/>
            </a:pPr>
            <a:r>
              <a:rPr lang="zh-CN" altLang="en-US" sz="1400" dirty="0">
                <a:latin typeface="微软雅黑" panose="020B0503020204020204" charset="-122"/>
                <a:ea typeface="微软雅黑" panose="020B0503020204020204" charset="-122"/>
              </a:rPr>
              <a:t>卷积</a:t>
            </a:r>
            <a:r>
              <a:rPr lang="zh-CN" altLang="en-US" sz="1400" dirty="0" smtClean="0">
                <a:latin typeface="微软雅黑" panose="020B0503020204020204" charset="-122"/>
                <a:ea typeface="微软雅黑" panose="020B0503020204020204" charset="-122"/>
              </a:rPr>
              <a:t>神经网络层级结构</a:t>
            </a:r>
            <a:endParaRPr lang="en-US" altLang="zh-CN" sz="1400" dirty="0" smtClean="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u"/>
            </a:pPr>
            <a:endParaRPr lang="en-US" altLang="zh-CN" sz="1400" dirty="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u"/>
            </a:pPr>
            <a:endParaRPr lang="en-US" altLang="zh-CN" sz="1400" dirty="0" smtClean="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u"/>
            </a:pPr>
            <a:endParaRPr lang="en-US" altLang="zh-CN" sz="1400" dirty="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u"/>
            </a:pPr>
            <a:endParaRPr lang="en-US" altLang="zh-CN" sz="1400" dirty="0" smtClean="0">
              <a:latin typeface="微软雅黑" panose="020B0503020204020204" charset="-122"/>
              <a:ea typeface="微软雅黑" panose="020B0503020204020204" charset="-122"/>
            </a:endParaRPr>
          </a:p>
          <a:p>
            <a:pPr marL="285750" indent="-285750">
              <a:lnSpc>
                <a:spcPct val="150000"/>
              </a:lnSpc>
              <a:buFont typeface="Wingdings" panose="05000000000000000000" pitchFamily="2" charset="2"/>
              <a:buChar char="u"/>
            </a:pPr>
            <a:endParaRPr lang="en-US" altLang="zh-CN" sz="1400" dirty="0">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1377" y="1642533"/>
            <a:ext cx="5156362" cy="2490899"/>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867" y="420087"/>
            <a:ext cx="7116105" cy="513327"/>
          </a:xfrm>
        </p:spPr>
        <p:txBody>
          <a:bodyPr/>
          <a:lstStyle/>
          <a:p>
            <a:r>
              <a:rPr lang="zh-CN" altLang="en-US" dirty="0">
                <a:sym typeface="+mn-ea"/>
              </a:rPr>
              <a:t>卷积神经网络结构及框架介绍</a:t>
            </a:r>
            <a:endParaRPr lang="zh-CN" altLang="en-US" sz="2400" dirty="0"/>
          </a:p>
        </p:txBody>
      </p:sp>
      <p:sp>
        <p:nvSpPr>
          <p:cNvPr id="6" name="文本占位符 3"/>
          <p:cNvSpPr txBox="1"/>
          <p:nvPr/>
        </p:nvSpPr>
        <p:spPr bwMode="auto">
          <a:xfrm>
            <a:off x="643612" y="1085869"/>
            <a:ext cx="5782588" cy="372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Ø"/>
            </a:pPr>
            <a:r>
              <a:rPr lang="zh-CN" altLang="en-US" sz="1500" dirty="0">
                <a:solidFill>
                  <a:srgbClr val="177DFF"/>
                </a:solidFill>
                <a:latin typeface="+mj-ea"/>
                <a:ea typeface="+mj-ea"/>
              </a:rPr>
              <a:t>环境</a:t>
            </a:r>
            <a:endParaRPr lang="en-US" altLang="zh-CN" sz="1500" dirty="0">
              <a:solidFill>
                <a:srgbClr val="177DFF"/>
              </a:solidFill>
              <a:latin typeface="+mj-ea"/>
              <a:ea typeface="+mj-ea"/>
            </a:endParaRPr>
          </a:p>
          <a:p>
            <a:pPr marL="537845" indent="-285750">
              <a:lnSpc>
                <a:spcPct val="150000"/>
              </a:lnSpc>
              <a:buFont typeface="Arial" panose="020B0604020202020204" pitchFamily="34" charset="0"/>
              <a:buChar char="•"/>
            </a:pPr>
            <a:r>
              <a:rPr lang="en-US" altLang="zh-CN" sz="1500" b="0" dirty="0">
                <a:latin typeface="微软雅黑" panose="020B0503020204020204" charset="-122"/>
                <a:ea typeface="微软雅黑" panose="020B0503020204020204" charset="-122"/>
                <a:cs typeface="黑体" panose="02010609060101010101" charset="-122"/>
              </a:rPr>
              <a:t>python 3.6</a:t>
            </a: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en-US" altLang="zh-CN" sz="1500" b="0" dirty="0" err="1">
                <a:latin typeface="微软雅黑" panose="020B0503020204020204" charset="-122"/>
                <a:ea typeface="微软雅黑" panose="020B0503020204020204" charset="-122"/>
                <a:cs typeface="黑体" panose="02010609060101010101" charset="-122"/>
              </a:rPr>
              <a:t>tensorflow</a:t>
            </a:r>
            <a:r>
              <a:rPr lang="en-US" altLang="zh-CN" sz="1500" b="0" dirty="0">
                <a:latin typeface="微软雅黑" panose="020B0503020204020204" charset="-122"/>
                <a:ea typeface="微软雅黑" panose="020B0503020204020204" charset="-122"/>
                <a:cs typeface="黑体" panose="02010609060101010101" charset="-122"/>
              </a:rPr>
              <a:t> 2.4.1</a:t>
            </a: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en-US" altLang="zh-CN" sz="1500" b="0" dirty="0" err="1">
                <a:latin typeface="微软雅黑" panose="020B0503020204020204" charset="-122"/>
                <a:ea typeface="微软雅黑" panose="020B0503020204020204" charset="-122"/>
                <a:cs typeface="黑体" panose="02010609060101010101" charset="-122"/>
              </a:rPr>
              <a:t>Keras</a:t>
            </a:r>
            <a:r>
              <a:rPr lang="en-US" altLang="zh-CN" sz="1500" b="0" dirty="0">
                <a:latin typeface="微软雅黑" panose="020B0503020204020204" charset="-122"/>
                <a:ea typeface="微软雅黑" panose="020B0503020204020204" charset="-122"/>
                <a:cs typeface="黑体" panose="02010609060101010101" charset="-122"/>
              </a:rPr>
              <a:t> 2.4.3</a:t>
            </a: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en-US" altLang="zh-CN" sz="1500" b="0" dirty="0">
                <a:latin typeface="微软雅黑" panose="020B0503020204020204" charset="-122"/>
                <a:ea typeface="微软雅黑" panose="020B0503020204020204" charset="-122"/>
                <a:cs typeface="黑体" panose="02010609060101010101" charset="-122"/>
              </a:rPr>
              <a:t>pytorch</a:t>
            </a:r>
            <a:endParaRPr lang="en-US" altLang="zh-CN" sz="1500" b="0" dirty="0">
              <a:latin typeface="微软雅黑" panose="020B0503020204020204" charset="-122"/>
              <a:ea typeface="微软雅黑" panose="020B0503020204020204" charset="-122"/>
              <a:cs typeface="黑体" panose="02010609060101010101" charset="-122"/>
            </a:endParaRPr>
          </a:p>
        </p:txBody>
      </p:sp>
      <p:pic>
        <p:nvPicPr>
          <p:cNvPr id="3" name="图片 2"/>
          <p:cNvPicPr>
            <a:picLocks noChangeAspect="1"/>
          </p:cNvPicPr>
          <p:nvPr>
            <p:custDataLst>
              <p:tags r:id="rId1"/>
            </p:custDataLst>
          </p:nvPr>
        </p:nvPicPr>
        <p:blipFill>
          <a:blip r:embed="rId2"/>
          <a:stretch>
            <a:fillRect/>
          </a:stretch>
        </p:blipFill>
        <p:spPr>
          <a:xfrm>
            <a:off x="3063875" y="1438910"/>
            <a:ext cx="5050790" cy="2265045"/>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867" y="420087"/>
            <a:ext cx="7116105" cy="513327"/>
          </a:xfrm>
        </p:spPr>
        <p:txBody>
          <a:bodyPr/>
          <a:lstStyle/>
          <a:p>
            <a:r>
              <a:rPr lang="zh-CN" altLang="en-US" dirty="0">
                <a:sym typeface="+mn-ea"/>
              </a:rPr>
              <a:t>卷积神经网络结构及框架介绍</a:t>
            </a:r>
            <a:endParaRPr lang="zh-CN" altLang="en-US" sz="2400" dirty="0"/>
          </a:p>
        </p:txBody>
      </p:sp>
      <p:sp>
        <p:nvSpPr>
          <p:cNvPr id="6" name="文本占位符 3"/>
          <p:cNvSpPr txBox="1"/>
          <p:nvPr/>
        </p:nvSpPr>
        <p:spPr bwMode="auto">
          <a:xfrm>
            <a:off x="643612" y="1085869"/>
            <a:ext cx="5782588" cy="372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Ø"/>
            </a:pPr>
            <a:r>
              <a:rPr lang="en-US" altLang="zh-CN" sz="1500" dirty="0">
                <a:solidFill>
                  <a:srgbClr val="177DFF"/>
                </a:solidFill>
                <a:latin typeface="+mj-ea"/>
                <a:ea typeface="+mj-ea"/>
                <a:hlinkClick r:id="rId1" action="ppaction://hlinkfile"/>
              </a:rPr>
              <a:t>keras</a:t>
            </a:r>
            <a:r>
              <a:rPr lang="zh-CN" altLang="en-US" sz="1500" dirty="0">
                <a:solidFill>
                  <a:srgbClr val="177DFF"/>
                </a:solidFill>
                <a:latin typeface="+mj-ea"/>
                <a:ea typeface="+mj-ea"/>
                <a:hlinkClick r:id="rId1" action="ppaction://hlinkfile"/>
              </a:rPr>
              <a:t>、</a:t>
            </a:r>
            <a:r>
              <a:rPr lang="en-US" altLang="zh-CN" sz="1500" dirty="0">
                <a:solidFill>
                  <a:srgbClr val="177DFF"/>
                </a:solidFill>
                <a:latin typeface="+mj-ea"/>
                <a:ea typeface="+mj-ea"/>
                <a:hlinkClick r:id="rId1" action="ppaction://hlinkfile"/>
              </a:rPr>
              <a:t>tensorflow</a:t>
            </a:r>
            <a:r>
              <a:rPr lang="zh-CN" altLang="en-US" sz="1500" dirty="0">
                <a:solidFill>
                  <a:srgbClr val="177DFF"/>
                </a:solidFill>
                <a:latin typeface="+mj-ea"/>
                <a:ea typeface="+mj-ea"/>
                <a:hlinkClick r:id="rId1" action="ppaction://hlinkfile"/>
              </a:rPr>
              <a:t>如何实现卷积神经网络</a:t>
            </a:r>
            <a:endParaRPr lang="en-US" altLang="zh-CN" sz="1500" dirty="0">
              <a:solidFill>
                <a:srgbClr val="177DFF"/>
              </a:solidFill>
              <a:latin typeface="+mj-ea"/>
              <a:ea typeface="+mj-ea"/>
            </a:endParaRPr>
          </a:p>
          <a:p>
            <a:pPr marL="537845" indent="-285750">
              <a:lnSpc>
                <a:spcPct val="150000"/>
              </a:lnSpc>
              <a:buFont typeface="Arial" panose="020B0604020202020204" pitchFamily="34" charset="0"/>
              <a:buChar char="•"/>
            </a:pPr>
            <a:r>
              <a:rPr lang="en-US" altLang="zh-CN" sz="1500" b="0" dirty="0">
                <a:latin typeface="微软雅黑" panose="020B0503020204020204" charset="-122"/>
                <a:ea typeface="微软雅黑" panose="020B0503020204020204" charset="-122"/>
                <a:cs typeface="黑体" panose="02010609060101010101" charset="-122"/>
              </a:rPr>
              <a:t>keras</a:t>
            </a: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en-US" altLang="zh-CN" sz="1500" b="0" dirty="0">
                <a:latin typeface="微软雅黑" panose="020B0503020204020204" charset="-122"/>
                <a:ea typeface="微软雅黑" panose="020B0503020204020204" charset="-122"/>
                <a:cs typeface="黑体" panose="02010609060101010101" charset="-122"/>
              </a:rPr>
              <a:t>tensorflow</a:t>
            </a: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endParaRPr lang="en-US" altLang="zh-CN"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zh-CN" altLang="en-US" sz="1500" b="0" dirty="0">
                <a:latin typeface="微软雅黑" panose="020B0503020204020204" charset="-122"/>
                <a:ea typeface="微软雅黑" panose="020B0503020204020204" charset="-122"/>
                <a:cs typeface="黑体" panose="02010609060101010101" charset="-122"/>
              </a:rPr>
              <a:t>参考：Keras 速成 构建卷积神经网络</a:t>
            </a:r>
            <a:endParaRPr lang="zh-CN" altLang="en-US" sz="1500" b="0" dirty="0">
              <a:latin typeface="微软雅黑" panose="020B0503020204020204" charset="-122"/>
              <a:ea typeface="微软雅黑" panose="020B0503020204020204" charset="-122"/>
              <a:cs typeface="黑体" panose="02010609060101010101" charset="-122"/>
            </a:endParaRPr>
          </a:p>
          <a:p>
            <a:pPr marL="537845" indent="-285750">
              <a:lnSpc>
                <a:spcPct val="150000"/>
              </a:lnSpc>
              <a:buFont typeface="Arial" panose="020B0604020202020204" pitchFamily="34" charset="0"/>
              <a:buChar char="•"/>
            </a:pPr>
            <a:r>
              <a:rPr lang="en-US" altLang="zh-CN" sz="1500" b="0" dirty="0">
                <a:latin typeface="微软雅黑" panose="020B0503020204020204" charset="-122"/>
                <a:ea typeface="微软雅黑" panose="020B0503020204020204" charset="-122"/>
                <a:cs typeface="黑体" panose="02010609060101010101" charset="-122"/>
              </a:rPr>
              <a:t>https://blog.51cto.com/u_15844361/5793268</a:t>
            </a:r>
            <a:endParaRPr lang="en-US" altLang="zh-CN" sz="1500" b="0" dirty="0">
              <a:latin typeface="微软雅黑" panose="020B0503020204020204" charset="-122"/>
              <a:ea typeface="微软雅黑" panose="020B0503020204020204" charset="-122"/>
              <a:cs typeface="黑体" panose="0201060906010101010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867" y="420087"/>
            <a:ext cx="7116105" cy="513327"/>
          </a:xfrm>
        </p:spPr>
        <p:txBody>
          <a:bodyPr/>
          <a:lstStyle/>
          <a:p>
            <a:r>
              <a:rPr lang="zh-CN" altLang="en-US" dirty="0"/>
              <a:t>总结</a:t>
            </a:r>
            <a:endParaRPr lang="zh-CN" altLang="en-US" sz="2400" dirty="0"/>
          </a:p>
        </p:txBody>
      </p:sp>
      <p:sp>
        <p:nvSpPr>
          <p:cNvPr id="6" name="文本占位符 3"/>
          <p:cNvSpPr txBox="1"/>
          <p:nvPr/>
        </p:nvSpPr>
        <p:spPr bwMode="auto">
          <a:xfrm>
            <a:off x="643612" y="1085869"/>
            <a:ext cx="5782588" cy="3727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None/>
              <a:defRPr sz="2800" b="1"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None/>
              <a:defRPr sz="2400" b="1"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None/>
              <a:defRPr sz="2000" b="1"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None/>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Ø"/>
            </a:pPr>
            <a:r>
              <a:rPr lang="zh-CN" altLang="en-US" sz="1500" dirty="0">
                <a:solidFill>
                  <a:srgbClr val="177DFF"/>
                </a:solidFill>
                <a:latin typeface="+mj-ea"/>
                <a:ea typeface="+mj-ea"/>
              </a:rPr>
              <a:t>卷积神经网络</a:t>
            </a:r>
            <a:r>
              <a:rPr lang="en-US" altLang="zh-CN" sz="1500" dirty="0">
                <a:solidFill>
                  <a:srgbClr val="177DFF"/>
                </a:solidFill>
                <a:latin typeface="+mj-ea"/>
                <a:ea typeface="+mj-ea"/>
              </a:rPr>
              <a:t>CNN</a:t>
            </a:r>
            <a:r>
              <a:rPr lang="zh-CN" altLang="en-US" sz="1500" dirty="0">
                <a:solidFill>
                  <a:srgbClr val="177DFF"/>
                </a:solidFill>
                <a:latin typeface="+mj-ea"/>
                <a:ea typeface="+mj-ea"/>
              </a:rPr>
              <a:t>实现图像识别</a:t>
            </a:r>
            <a:endParaRPr lang="en-US" altLang="zh-CN" sz="1500" dirty="0">
              <a:solidFill>
                <a:srgbClr val="177DFF"/>
              </a:solidFill>
              <a:latin typeface="+mj-ea"/>
              <a:ea typeface="+mj-ea"/>
            </a:endParaRPr>
          </a:p>
          <a:p>
            <a:pPr marL="285750" indent="-285750">
              <a:lnSpc>
                <a:spcPct val="150000"/>
              </a:lnSpc>
              <a:buFont typeface="Wingdings" panose="05000000000000000000" pitchFamily="2" charset="2"/>
              <a:buChar char="Ø"/>
            </a:pPr>
            <a:r>
              <a:rPr lang="zh-CN" altLang="en-US" sz="1500" dirty="0">
                <a:solidFill>
                  <a:srgbClr val="177DFF"/>
                </a:solidFill>
                <a:latin typeface="+mj-ea"/>
                <a:ea typeface="+mj-ea"/>
              </a:rPr>
              <a:t>卷积的核心：数据降维</a:t>
            </a:r>
            <a:r>
              <a:rPr lang="zh-CN" altLang="en-US" sz="1500">
                <a:solidFill>
                  <a:srgbClr val="177DFF"/>
                </a:solidFill>
                <a:latin typeface="+mj-ea"/>
                <a:ea typeface="+mj-ea"/>
              </a:rPr>
              <a:t>，</a:t>
            </a:r>
            <a:r>
              <a:rPr lang="zh-CN" altLang="en-US" sz="1500" smtClean="0">
                <a:solidFill>
                  <a:srgbClr val="177DFF"/>
                </a:solidFill>
                <a:latin typeface="+mj-ea"/>
                <a:ea typeface="+mj-ea"/>
              </a:rPr>
              <a:t>提取图像核心</a:t>
            </a:r>
            <a:r>
              <a:rPr lang="zh-CN" altLang="en-US" sz="1500" dirty="0">
                <a:solidFill>
                  <a:srgbClr val="177DFF"/>
                </a:solidFill>
                <a:latin typeface="+mj-ea"/>
                <a:ea typeface="+mj-ea"/>
              </a:rPr>
              <a:t>特征</a:t>
            </a:r>
            <a:endParaRPr lang="en-US" altLang="zh-CN" sz="1500" dirty="0">
              <a:solidFill>
                <a:srgbClr val="177DFF"/>
              </a:solidFill>
              <a:latin typeface="+mj-ea"/>
              <a:ea typeface="+mj-ea"/>
            </a:endParaRPr>
          </a:p>
          <a:p>
            <a:pPr marL="285750" indent="-285750">
              <a:lnSpc>
                <a:spcPct val="150000"/>
              </a:lnSpc>
              <a:buFont typeface="Wingdings" panose="05000000000000000000" pitchFamily="2" charset="2"/>
              <a:buChar char="Ø"/>
            </a:pPr>
            <a:r>
              <a:rPr lang="en-US" altLang="zh-CN" sz="1500" dirty="0">
                <a:solidFill>
                  <a:srgbClr val="177DFF"/>
                </a:solidFill>
                <a:latin typeface="+mj-ea"/>
                <a:ea typeface="+mj-ea"/>
              </a:rPr>
              <a:t>CNN</a:t>
            </a:r>
            <a:r>
              <a:rPr lang="zh-CN" altLang="en-US" sz="1500" dirty="0">
                <a:solidFill>
                  <a:srgbClr val="177DFF"/>
                </a:solidFill>
                <a:latin typeface="+mj-ea"/>
                <a:ea typeface="+mj-ea"/>
              </a:rPr>
              <a:t>网络完整结构：</a:t>
            </a:r>
            <a:endParaRPr lang="en-US" altLang="zh-CN" sz="1500" dirty="0">
              <a:solidFill>
                <a:srgbClr val="177DFF"/>
              </a:solidFill>
              <a:latin typeface="+mj-ea"/>
              <a:ea typeface="+mj-ea"/>
            </a:endParaRPr>
          </a:p>
          <a:p>
            <a:pPr marL="0" indent="0">
              <a:lnSpc>
                <a:spcPct val="150000"/>
              </a:lnSpc>
            </a:pPr>
            <a:r>
              <a:rPr lang="en-US" altLang="zh-CN" sz="1500" dirty="0">
                <a:latin typeface="+mj-ea"/>
                <a:ea typeface="+mj-ea"/>
              </a:rPr>
              <a:t> 	</a:t>
            </a:r>
            <a:r>
              <a:rPr lang="zh-CN" altLang="en-US" sz="1500" dirty="0">
                <a:latin typeface="+mj-ea"/>
                <a:ea typeface="+mj-ea"/>
              </a:rPr>
              <a:t>输入层、卷积层、池化层、全连接层、输出结果</a:t>
            </a:r>
            <a:endParaRPr lang="en-US" altLang="zh-CN" sz="1500" dirty="0">
              <a:latin typeface="+mj-ea"/>
              <a:ea typeface="+mj-ea"/>
            </a:endParaRPr>
          </a:p>
          <a:p>
            <a:pPr marL="285750" indent="-285750">
              <a:lnSpc>
                <a:spcPct val="150000"/>
              </a:lnSpc>
              <a:buFont typeface="Wingdings" panose="05000000000000000000" pitchFamily="2" charset="2"/>
              <a:buChar char="Ø"/>
            </a:pPr>
            <a:endParaRPr lang="en-US" altLang="zh-CN" sz="1500" dirty="0">
              <a:solidFill>
                <a:srgbClr val="177DFF"/>
              </a:solidFill>
              <a:latin typeface="+mj-ea"/>
              <a:ea typeface="+mj-ea"/>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Textfeld 50"/>
          <p:cNvSpPr txBox="1">
            <a:spLocks noChangeArrowheads="1"/>
          </p:cNvSpPr>
          <p:nvPr/>
        </p:nvSpPr>
        <p:spPr bwMode="auto">
          <a:xfrm>
            <a:off x="1341240" y="2280048"/>
            <a:ext cx="6184106" cy="263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defTabSz="22860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defTabSz="22860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defTabSz="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defTabSz="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defTabSz="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a:buFont typeface="Arial" panose="020B0604020202020204" pitchFamily="34" charset="0"/>
              <a:buNone/>
            </a:pPr>
            <a:r>
              <a:rPr lang="en-US" altLang="zh-CN" sz="1400" b="1" dirty="0">
                <a:solidFill>
                  <a:srgbClr val="404040"/>
                </a:solidFill>
                <a:latin typeface="微软雅黑" panose="020B0503020204020204" charset="-122"/>
                <a:ea typeface="微软雅黑" panose="020B0503020204020204" charset="-122"/>
              </a:rPr>
              <a:t>AI</a:t>
            </a:r>
            <a:r>
              <a:rPr lang="zh-CN" altLang="en-US" sz="1400" b="1" dirty="0">
                <a:solidFill>
                  <a:srgbClr val="404040"/>
                </a:solidFill>
                <a:latin typeface="微软雅黑" panose="020B0503020204020204" charset="-122"/>
                <a:ea typeface="微软雅黑" panose="020B0503020204020204" charset="-122"/>
              </a:rPr>
              <a:t>改变生活</a:t>
            </a:r>
            <a:endParaRPr lang="zh-CN" altLang="en-US" sz="1400" b="1" dirty="0">
              <a:solidFill>
                <a:srgbClr val="404040"/>
              </a:solidFill>
              <a:latin typeface="微软雅黑" panose="020B0503020204020204" charset="-122"/>
              <a:ea typeface="微软雅黑" panose="020B0503020204020204" charset="-122"/>
            </a:endParaRPr>
          </a:p>
        </p:txBody>
      </p:sp>
      <p:sp>
        <p:nvSpPr>
          <p:cNvPr id="12294" name="Textfeld 33"/>
          <p:cNvSpPr txBox="1">
            <a:spLocks noChangeArrowheads="1"/>
          </p:cNvSpPr>
          <p:nvPr/>
        </p:nvSpPr>
        <p:spPr bwMode="auto">
          <a:xfrm>
            <a:off x="1339454" y="994173"/>
            <a:ext cx="6187678" cy="1177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22860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defTabSz="22860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defTabSz="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defTabSz="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defTabSz="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defTabSz="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a:lnSpc>
                <a:spcPct val="100000"/>
              </a:lnSpc>
              <a:spcBef>
                <a:spcPct val="0"/>
              </a:spcBef>
              <a:buFontTx/>
              <a:buNone/>
            </a:pPr>
            <a:endParaRPr lang="de-DE" altLang="zh-CN" sz="3600" dirty="0">
              <a:solidFill>
                <a:srgbClr val="0065FA"/>
              </a:solidFill>
              <a:latin typeface="Century Gothic" panose="020B0502020202020204" pitchFamily="34" charset="0"/>
            </a:endParaRPr>
          </a:p>
          <a:p>
            <a:pPr algn="ctr">
              <a:lnSpc>
                <a:spcPct val="100000"/>
              </a:lnSpc>
              <a:spcBef>
                <a:spcPct val="0"/>
              </a:spcBef>
              <a:buFontTx/>
              <a:buNone/>
            </a:pPr>
            <a:r>
              <a:rPr lang="de-DE" altLang="zh-CN" sz="3600" b="1" dirty="0" err="1">
                <a:solidFill>
                  <a:srgbClr val="2473D4"/>
                </a:solidFill>
                <a:latin typeface="Century Gothic" panose="020B0502020202020204" pitchFamily="34" charset="0"/>
              </a:rPr>
              <a:t>Thank</a:t>
            </a:r>
            <a:r>
              <a:rPr lang="de-DE" altLang="zh-CN" sz="3600" b="1" dirty="0">
                <a:solidFill>
                  <a:srgbClr val="2473D4"/>
                </a:solidFill>
                <a:latin typeface="Century Gothic" panose="020B0502020202020204" pitchFamily="34" charset="0"/>
              </a:rPr>
              <a:t> </a:t>
            </a:r>
            <a:r>
              <a:rPr lang="de-DE" altLang="zh-CN" sz="3600" b="1" dirty="0" err="1">
                <a:solidFill>
                  <a:srgbClr val="2473D4"/>
                </a:solidFill>
                <a:latin typeface="Century Gothic" panose="020B0502020202020204" pitchFamily="34" charset="0"/>
              </a:rPr>
              <a:t>You</a:t>
            </a:r>
            <a:endParaRPr lang="de-DE" altLang="zh-CN" sz="3600" dirty="0">
              <a:solidFill>
                <a:srgbClr val="2473D4"/>
              </a:solidFill>
              <a:latin typeface="Century Gothic" panose="020B0502020202020204" pitchFamily="34" charset="0"/>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MH" val="20160830110146"/>
  <p:tag name="MH_LIBRARY" val="CONTENTS"/>
  <p:tag name="MH_TYPE" val="ENTRY"/>
  <p:tag name="ID" val="553512"/>
  <p:tag name="MH_ORDER" val="1"/>
</p:tagLst>
</file>

<file path=ppt/tags/tag4.xml><?xml version="1.0" encoding="utf-8"?>
<p:tagLst xmlns:p="http://schemas.openxmlformats.org/presentationml/2006/main">
  <p:tag name="MH" val="20160830110146"/>
  <p:tag name="MH_LIBRARY" val="CONTENTS"/>
  <p:tag name="MH_TYPE" val="NUMBER"/>
  <p:tag name="ID" val="553512"/>
  <p:tag name="MH_ORDER" val="3"/>
</p:tagLst>
</file>

<file path=ppt/tags/tag5.xml><?xml version="1.0" encoding="utf-8"?>
<p:tagLst xmlns:p="http://schemas.openxmlformats.org/presentationml/2006/main">
  <p:tag name="MH" val="20160830110146"/>
  <p:tag name="MH_LIBRARY" val="CONTENTS"/>
  <p:tag name="MH_TYPE" val="ENTRY"/>
  <p:tag name="ID" val="553512"/>
  <p:tag name="MH_ORDER" val="3"/>
</p:tagLst>
</file>

<file path=ppt/tags/tag6.xml><?xml version="1.0" encoding="utf-8"?>
<p:tagLst xmlns:p="http://schemas.openxmlformats.org/presentationml/2006/main">
  <p:tag name="MH" val="20160830110146"/>
  <p:tag name="MH_LIBRARY" val="CONTENTS"/>
  <p:tag name="MH_TYPE" val="NUMBER"/>
  <p:tag name="ID" val="553512"/>
  <p:tag name="MH_ORDER" val="4"/>
</p:tagLst>
</file>

<file path=ppt/tags/tag7.xml><?xml version="1.0" encoding="utf-8"?>
<p:tagLst xmlns:p="http://schemas.openxmlformats.org/presentationml/2006/main">
  <p:tag name="MH" val="20160830110146"/>
  <p:tag name="MH_LIBRARY" val="CONTENTS"/>
  <p:tag name="MH_TYPE" val="ENTRY"/>
  <p:tag name="ID" val="553512"/>
  <p:tag name="MH_ORDER" val="3"/>
</p:tagLst>
</file>

<file path=ppt/tags/tag8.xml><?xml version="1.0" encoding="utf-8"?>
<p:tagLst xmlns:p="http://schemas.openxmlformats.org/presentationml/2006/main">
  <p:tag name="MH" val="20160830110146"/>
  <p:tag name="MH_LIBRARY" val="CONTENTS"/>
  <p:tag name="MH_TYPE" val="ENTRY"/>
  <p:tag name="ID" val="553512"/>
  <p:tag name="MH_ORDER" val="3"/>
</p:tagLst>
</file>

<file path=ppt/tags/tag9.xml><?xml version="1.0" encoding="utf-8"?>
<p:tagLst xmlns:p="http://schemas.openxmlformats.org/presentationml/2006/main">
  <p:tag name="MH" val="20160830110146"/>
  <p:tag name="MH_LIBRARY" val="CONTENTS"/>
  <p:tag name="MH_TYPE" val="NUMBER"/>
  <p:tag name="ID" val="553512"/>
  <p:tag name="MH_ORDER" val="4"/>
</p:tagLst>
</file>

<file path=ppt/tags/tag10.xml><?xml version="1.0" encoding="utf-8"?>
<p:tagLst xmlns:p="http://schemas.openxmlformats.org/presentationml/2006/main">
  <p:tag name="MH" val="20160830110146"/>
  <p:tag name="MH_LIBRARY" val="CONTENTS"/>
  <p:tag name="MH_TYPE" val="NUMBER"/>
  <p:tag name="ID" val="553512"/>
  <p:tag name="MH_ORDER" val="4"/>
</p:tagLst>
</file>

<file path=ppt/tags/tag11.xml><?xml version="1.0" encoding="utf-8"?>
<p:tagLst xmlns:p="http://schemas.openxmlformats.org/presentationml/2006/main">
  <p:tag name="MH" val="20160830110146"/>
  <p:tag name="MH_LIBRARY" val="CONTENTS"/>
  <p:tag name="MH_TYPE" val="ENTRY"/>
  <p:tag name="ID" val="553512"/>
  <p:tag name="MH_ORDER" val="3"/>
  <p:tag name="KSO_WM_BEAUTIFY_FLAG" val=""/>
</p:tagLst>
</file>

<file path=ppt/tags/tag12.xml><?xml version="1.0" encoding="utf-8"?>
<p:tagLst xmlns:p="http://schemas.openxmlformats.org/presentationml/2006/main">
  <p:tag name="MH" val="20160830110146"/>
  <p:tag name="MH_LIBRARY" val="CONTENTS"/>
  <p:tag name="MH_TYPE" val="NUMBER"/>
  <p:tag name="ID" val="553512"/>
  <p:tag name="MH_ORDER" val="4"/>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COMMONDATA" val="eyJoZGlkIjoiYzdhOTFjYzQ2YmI3N2MxOTk3NzUzOGVjMTg2YTkx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chemeClr val="bg1"/>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60325">
          <a:solidFill>
            <a:srgbClr val="EB8642"/>
          </a:solidFill>
          <a:headEnd type="triangle"/>
          <a:tailEnd type="triangle"/>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2676</Words>
  <Application>WPS 演示</Application>
  <PresentationFormat>全屏显示(16:9)</PresentationFormat>
  <Paragraphs>324</Paragraphs>
  <Slides>43</Slides>
  <Notes>51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43</vt:i4>
      </vt:variant>
    </vt:vector>
  </HeadingPairs>
  <TitlesOfParts>
    <vt:vector size="57" baseType="lpstr">
      <vt:lpstr>Arial</vt:lpstr>
      <vt:lpstr>宋体</vt:lpstr>
      <vt:lpstr>Wingdings</vt:lpstr>
      <vt:lpstr>Calibri</vt:lpstr>
      <vt:lpstr>Calibri Light</vt:lpstr>
      <vt:lpstr>Times New Roman</vt:lpstr>
      <vt:lpstr>微软雅黑</vt:lpstr>
      <vt:lpstr>Century Gothic</vt:lpstr>
      <vt:lpstr>等线</vt:lpstr>
      <vt:lpstr>黑体</vt:lpstr>
      <vt:lpstr>Times New Roman</vt:lpstr>
      <vt:lpstr>Arial Unicode MS</vt:lpstr>
      <vt:lpstr>Microsoft JhengHei</vt:lpstr>
      <vt:lpstr>Office 主题</vt:lpstr>
      <vt:lpstr>卷积神经网络CNN</vt:lpstr>
      <vt:lpstr>项目介绍</vt:lpstr>
      <vt:lpstr>PowerPoint 演示文稿</vt:lpstr>
      <vt:lpstr>教学目标和重难点</vt:lpstr>
      <vt:lpstr>视觉感知</vt:lpstr>
      <vt:lpstr>视觉感知</vt:lpstr>
      <vt:lpstr>视觉感知</vt:lpstr>
      <vt:lpstr>第二节  图像表达</vt:lpstr>
      <vt:lpstr>图像表达</vt:lpstr>
      <vt:lpstr>图像表达</vt:lpstr>
      <vt:lpstr>图像表达</vt:lpstr>
      <vt:lpstr>图像表达</vt:lpstr>
      <vt:lpstr>图像表达</vt:lpstr>
      <vt:lpstr>图像表达</vt:lpstr>
      <vt:lpstr>图像表达</vt:lpstr>
      <vt:lpstr>图像表达</vt:lpstr>
      <vt:lpstr>图像表达</vt:lpstr>
      <vt:lpstr>图像表达</vt:lpstr>
      <vt:lpstr>小结</vt:lpstr>
      <vt:lpstr>第三节  卷积的实现原理</vt:lpstr>
      <vt:lpstr>卷积的实现原理</vt:lpstr>
      <vt:lpstr>卷积的实现原理</vt:lpstr>
      <vt:lpstr>卷积的实现原理</vt:lpstr>
      <vt:lpstr>卷积的实现原理</vt:lpstr>
      <vt:lpstr>卷积的实现原理</vt:lpstr>
      <vt:lpstr>卷积的实现原理</vt:lpstr>
      <vt:lpstr>卷积的实现原理</vt:lpstr>
      <vt:lpstr>卷积的实现原理</vt:lpstr>
      <vt:lpstr>卷积</vt:lpstr>
      <vt:lpstr>小结</vt:lpstr>
      <vt:lpstr>第四节  池化和全链接</vt:lpstr>
      <vt:lpstr>池化和全链接</vt:lpstr>
      <vt:lpstr>池化和全链接</vt:lpstr>
      <vt:lpstr>池化和全链接</vt:lpstr>
      <vt:lpstr>池化和全链接</vt:lpstr>
      <vt:lpstr>池化和全链接</vt:lpstr>
      <vt:lpstr>卷积神经网络结构及框架介绍</vt:lpstr>
      <vt:lpstr>卷积神经网络结构及框架介绍</vt:lpstr>
      <vt:lpstr>卷积神经网络结构及框架介绍</vt:lpstr>
      <vt:lpstr>卷积神经网络结构及框架介绍</vt:lpstr>
      <vt:lpstr>卷积神经网络结构及框架介绍</vt:lpstr>
      <vt:lpstr>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阳光下微笑</cp:lastModifiedBy>
  <cp:revision>1627</cp:revision>
  <cp:lastPrinted>2017-09-17T08:02:00Z</cp:lastPrinted>
  <dcterms:created xsi:type="dcterms:W3CDTF">2015-02-06T04:35:00Z</dcterms:created>
  <dcterms:modified xsi:type="dcterms:W3CDTF">2025-08-29T01:59:33Z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F4CD0D09F7AF41D39422C00DD5BCF470</vt:lpwstr>
  </property>
</Properties>
</file>