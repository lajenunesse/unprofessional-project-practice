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  <p:sldMasterId id="2147483748" r:id="rId12"/>
    <p:sldMasterId id="2147483758" r:id="rId13"/>
    <p:sldMasterId id="2147483768" r:id="rId14"/>
    <p:sldMasterId id="2147483778" r:id="rId15"/>
    <p:sldMasterId id="2147483788" r:id="rId16"/>
    <p:sldMasterId id="2147483798" r:id="rId17"/>
    <p:sldMasterId id="2147483808" r:id="rId18"/>
    <p:sldMasterId id="2147483818" r:id="rId19"/>
    <p:sldMasterId id="2147483828" r:id="rId20"/>
    <p:sldMasterId id="2147483838" r:id="rId21"/>
    <p:sldMasterId id="2147483848" r:id="rId22"/>
    <p:sldMasterId id="2147483858" r:id="rId23"/>
    <p:sldMasterId id="2147483868" r:id="rId24"/>
    <p:sldMasterId id="2147483878" r:id="rId25"/>
  </p:sldMasterIdLst>
  <p:notesMasterIdLst>
    <p:notesMasterId r:id="rId27"/>
  </p:notesMasterIdLst>
  <p:handoutMasterIdLst>
    <p:handoutMasterId r:id="rId54"/>
  </p:handoutMasterIdLst>
  <p:sldIdLst>
    <p:sldId id="423" r:id="rId26"/>
    <p:sldId id="6661148" r:id="rId28"/>
    <p:sldId id="6661155" r:id="rId29"/>
    <p:sldId id="6661257" r:id="rId30"/>
    <p:sldId id="6661258" r:id="rId31"/>
    <p:sldId id="6661269" r:id="rId32"/>
    <p:sldId id="6661259" r:id="rId33"/>
    <p:sldId id="6661260" r:id="rId34"/>
    <p:sldId id="6661261" r:id="rId35"/>
    <p:sldId id="6661270" r:id="rId36"/>
    <p:sldId id="6661262" r:id="rId37"/>
    <p:sldId id="6661263" r:id="rId38"/>
    <p:sldId id="6661264" r:id="rId39"/>
    <p:sldId id="6661266" r:id="rId40"/>
    <p:sldId id="6661267" r:id="rId41"/>
    <p:sldId id="6661268" r:id="rId42"/>
    <p:sldId id="6661254" r:id="rId43"/>
    <p:sldId id="6661255" r:id="rId44"/>
    <p:sldId id="6661256" r:id="rId45"/>
    <p:sldId id="6661271" r:id="rId46"/>
    <p:sldId id="6661272" r:id="rId47"/>
    <p:sldId id="6661273" r:id="rId48"/>
    <p:sldId id="6661274" r:id="rId49"/>
    <p:sldId id="6661275" r:id="rId50"/>
    <p:sldId id="6661276" r:id="rId51"/>
    <p:sldId id="6661277" r:id="rId52"/>
    <p:sldId id="595" r:id="rId53"/>
  </p:sldIdLst>
  <p:sldSz cx="9144000" cy="5143500" type="screen16x9"/>
  <p:notesSz cx="6858000" cy="9144000"/>
  <p:custDataLst>
    <p:tags r:id="rId5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5" pos="4150" userDrawn="1">
          <p15:clr>
            <a:srgbClr val="A4A3A4"/>
          </p15:clr>
        </p15:guide>
        <p15:guide id="3" orient="horz" pos="2964" userDrawn="1">
          <p15:clr>
            <a:srgbClr val="A4A3A4"/>
          </p15:clr>
        </p15:guide>
        <p15:guide id="4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YG" initials="W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7DFF"/>
    <a:srgbClr val="3AFF24"/>
    <a:srgbClr val="2473D4"/>
    <a:srgbClr val="A934EA"/>
    <a:srgbClr val="39F024"/>
    <a:srgbClr val="3AFD24"/>
    <a:srgbClr val="EB8642"/>
    <a:srgbClr val="38B92A"/>
    <a:srgbClr val="38FF22"/>
    <a:srgbClr val="38F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57" autoAdjust="0"/>
    <p:restoredTop sz="81181" autoAdjust="0"/>
  </p:normalViewPr>
  <p:slideViewPr>
    <p:cSldViewPr snapToGrid="0" showGuides="1">
      <p:cViewPr>
        <p:scale>
          <a:sx n="112" d="100"/>
          <a:sy n="112" d="100"/>
        </p:scale>
        <p:origin x="186" y="360"/>
      </p:cViewPr>
      <p:guideLst>
        <p:guide orient="horz" pos="2173"/>
        <p:guide pos="4150"/>
        <p:guide orient="horz" pos="2964"/>
        <p:guide pos="38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549"/>
    </p:cViewPr>
  </p:sorterViewPr>
  <p:notesViewPr>
    <p:cSldViewPr snapToGrid="0">
      <p:cViewPr varScale="1">
        <p:scale>
          <a:sx n="80" d="100"/>
          <a:sy n="80" d="100"/>
        </p:scale>
        <p:origin x="2727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9" Type="http://schemas.openxmlformats.org/officeDocument/2006/relationships/tags" Target="tags/tag51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27.xml"/><Relationship Id="rId52" Type="http://schemas.openxmlformats.org/officeDocument/2006/relationships/slide" Target="slides/slide26.xml"/><Relationship Id="rId51" Type="http://schemas.openxmlformats.org/officeDocument/2006/relationships/slide" Target="slides/slide25.xml"/><Relationship Id="rId50" Type="http://schemas.openxmlformats.org/officeDocument/2006/relationships/slide" Target="slides/slide2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3.xml"/><Relationship Id="rId48" Type="http://schemas.openxmlformats.org/officeDocument/2006/relationships/slide" Target="slides/slide22.xml"/><Relationship Id="rId47" Type="http://schemas.openxmlformats.org/officeDocument/2006/relationships/slide" Target="slides/slide21.xml"/><Relationship Id="rId46" Type="http://schemas.openxmlformats.org/officeDocument/2006/relationships/slide" Target="slides/slide20.xml"/><Relationship Id="rId45" Type="http://schemas.openxmlformats.org/officeDocument/2006/relationships/slide" Target="slides/slide19.xml"/><Relationship Id="rId44" Type="http://schemas.openxmlformats.org/officeDocument/2006/relationships/slide" Target="slides/slide18.xml"/><Relationship Id="rId43" Type="http://schemas.openxmlformats.org/officeDocument/2006/relationships/slide" Target="slides/slide17.xml"/><Relationship Id="rId42" Type="http://schemas.openxmlformats.org/officeDocument/2006/relationships/slide" Target="slides/slide16.xml"/><Relationship Id="rId41" Type="http://schemas.openxmlformats.org/officeDocument/2006/relationships/slide" Target="slides/slide15.xml"/><Relationship Id="rId40" Type="http://schemas.openxmlformats.org/officeDocument/2006/relationships/slide" Target="slides/slide1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3.xml"/><Relationship Id="rId38" Type="http://schemas.openxmlformats.org/officeDocument/2006/relationships/slide" Target="slides/slide12.xml"/><Relationship Id="rId37" Type="http://schemas.openxmlformats.org/officeDocument/2006/relationships/slide" Target="slides/slide11.xml"/><Relationship Id="rId36" Type="http://schemas.openxmlformats.org/officeDocument/2006/relationships/slide" Target="slides/slide10.xml"/><Relationship Id="rId35" Type="http://schemas.openxmlformats.org/officeDocument/2006/relationships/slide" Target="slides/slide9.xml"/><Relationship Id="rId34" Type="http://schemas.openxmlformats.org/officeDocument/2006/relationships/slide" Target="slides/slide8.xml"/><Relationship Id="rId33" Type="http://schemas.openxmlformats.org/officeDocument/2006/relationships/slide" Target="slides/slide7.xml"/><Relationship Id="rId32" Type="http://schemas.openxmlformats.org/officeDocument/2006/relationships/slide" Target="slides/slide6.xml"/><Relationship Id="rId31" Type="http://schemas.openxmlformats.org/officeDocument/2006/relationships/slide" Target="slides/slide5.xml"/><Relationship Id="rId30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3.xml"/><Relationship Id="rId28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2E2A184-F121-1047-8EE2-16CE569B1E9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B5E0062-7739-D649-9234-308A386869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4068CC4-66C6-444B-AE35-DDB0F6141FA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A68A802-B4B4-F544-815E-49C88522108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大家好，欢迎大家学习：深度学习原理与应用课程，今天是我们的内容是第二章卷积神经网络</a:t>
            </a:r>
            <a:r>
              <a:rPr lang="en-US" altLang="zh-CN" dirty="0" smtClean="0"/>
              <a:t>CNN</a:t>
            </a:r>
            <a:r>
              <a:rPr lang="zh-CN" altLang="en-US" dirty="0" smtClean="0"/>
              <a:t>，基于</a:t>
            </a:r>
            <a:r>
              <a:rPr lang="en-US" altLang="zh-CN" dirty="0" smtClean="0"/>
              <a:t>CNN</a:t>
            </a:r>
            <a:r>
              <a:rPr lang="zh-CN" altLang="en-US" dirty="0" smtClean="0"/>
              <a:t>实现猫狗识别。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接下来我们来看今天的内容：本章内容分为</a:t>
            </a:r>
            <a:r>
              <a:rPr lang="en-US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个小节，首先认识人或动物视觉感知系统是如何感知图像的</a:t>
            </a:r>
            <a:r>
              <a:rPr lang="en-US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然后了解计算机如何实现图片表达，最后我们介绍卷积神经网络模拟视觉过程，学习相关概念：卷积、池化、全链接、并通过代码实现网络模型完成猫狗的识别</a:t>
            </a:r>
            <a:endParaRPr lang="zh-CN" altLang="zh-CN" sz="9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9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8362F-9F43-4429-AF5E-7A10B40324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j-ea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前面肿瘤预测的力资，使用逻辑回归进行分类，计算样本属于每个类别的概率值（可能性）</a:t>
            </a:r>
            <a:endParaRPr lang="zh-CN" alt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68A802-B4B4-F544-815E-49C8852210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1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7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1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8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16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6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7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0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18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8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2.xml"/></Relationships>
</file>

<file path=ppt/slideLayouts/_rels/slideLayout19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2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2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9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20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0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20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4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619426" y="1932318"/>
            <a:ext cx="5216813" cy="577081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j-cs"/>
              </a:rPr>
              <a:t>人工智能高等教育系列课程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标题页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392" y="1995175"/>
            <a:ext cx="934640" cy="49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 userDrawn="1"/>
        </p:nvSpPr>
        <p:spPr>
          <a:xfrm>
            <a:off x="0" y="1099780"/>
            <a:ext cx="9142200" cy="297000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1534" y="1311112"/>
            <a:ext cx="3018267" cy="252731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622680" y="1585810"/>
            <a:ext cx="7886700" cy="99417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课程标题</a:t>
            </a:r>
            <a:endParaRPr lang="zh-CN" altLang="en-US" dirty="0"/>
          </a:p>
        </p:txBody>
      </p:sp>
      <p:pic>
        <p:nvPicPr>
          <p:cNvPr id="6" name="图片 5" descr="联合伟世横logo副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4"/>
          <p:cNvGrpSpPr>
            <a:grpSpLocks noChangeAspect="1"/>
          </p:cNvGrpSpPr>
          <p:nvPr userDrawn="1"/>
        </p:nvGrpSpPr>
        <p:grpSpPr bwMode="auto">
          <a:xfrm>
            <a:off x="4820841" y="1647906"/>
            <a:ext cx="161925" cy="161925"/>
            <a:chOff x="8753432" y="1170125"/>
            <a:chExt cx="2194655" cy="2194655"/>
          </a:xfrm>
        </p:grpSpPr>
        <p:sp>
          <p:nvSpPr>
            <p:cNvPr id="3" name="椭圆 2"/>
            <p:cNvSpPr/>
            <p:nvPr/>
          </p:nvSpPr>
          <p:spPr>
            <a:xfrm>
              <a:off x="8753432" y="1170125"/>
              <a:ext cx="2194655" cy="2194655"/>
            </a:xfrm>
            <a:prstGeom prst="ellipse">
              <a:avLst/>
            </a:prstGeom>
            <a:solidFill>
              <a:srgbClr val="0065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9124582" y="1541285"/>
              <a:ext cx="1452345" cy="14523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/>
            </a:p>
          </p:txBody>
        </p:sp>
      </p:grp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3852634" y="82950"/>
            <a:ext cx="1885373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700" dirty="0">
                <a:solidFill>
                  <a:srgbClr val="0065FA"/>
                </a:solidFill>
                <a:latin typeface="Century Gothic" panose="020B0502020202020204" pitchFamily="34" charset="0"/>
                <a:ea typeface="等线" panose="02010600030101010101" pitchFamily="2" charset="-122"/>
              </a:rPr>
              <a:t>CONTENTS</a:t>
            </a:r>
            <a:endParaRPr lang="de-DE" altLang="zh-CN" sz="2700" dirty="0">
              <a:solidFill>
                <a:srgbClr val="0065FA"/>
              </a:solidFill>
              <a:latin typeface="Century Gothic" panose="020B0502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4901804" y="1204913"/>
            <a:ext cx="0" cy="3502819"/>
          </a:xfrm>
          <a:prstGeom prst="line">
            <a:avLst/>
          </a:prstGeom>
          <a:noFill/>
          <a:ln w="6350">
            <a:solidFill>
              <a:srgbClr val="B4B4B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椭圆 24"/>
          <p:cNvSpPr>
            <a:spLocks noChangeArrowheads="1"/>
          </p:cNvSpPr>
          <p:nvPr userDrawn="1"/>
        </p:nvSpPr>
        <p:spPr bwMode="auto">
          <a:xfrm>
            <a:off x="4852988" y="2835968"/>
            <a:ext cx="97631" cy="98822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25"/>
          <p:cNvSpPr>
            <a:spLocks noChangeArrowheads="1"/>
          </p:cNvSpPr>
          <p:nvPr userDrawn="1"/>
        </p:nvSpPr>
        <p:spPr bwMode="auto">
          <a:xfrm>
            <a:off x="4852988" y="3431260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25"/>
          <p:cNvSpPr>
            <a:spLocks noChangeArrowheads="1"/>
          </p:cNvSpPr>
          <p:nvPr userDrawn="1"/>
        </p:nvSpPr>
        <p:spPr bwMode="auto">
          <a:xfrm>
            <a:off x="4852988" y="3997897"/>
            <a:ext cx="97631" cy="97631"/>
          </a:xfrm>
          <a:prstGeom prst="ellipse">
            <a:avLst/>
          </a:prstGeom>
          <a:solidFill>
            <a:srgbClr val="0065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24"/>
          <p:cNvSpPr>
            <a:spLocks noChangeArrowheads="1"/>
          </p:cNvSpPr>
          <p:nvPr userDrawn="1"/>
        </p:nvSpPr>
        <p:spPr bwMode="auto">
          <a:xfrm>
            <a:off x="4852988" y="2260937"/>
            <a:ext cx="97631" cy="97631"/>
          </a:xfrm>
          <a:prstGeom prst="ellipse">
            <a:avLst/>
          </a:prstGeom>
          <a:solidFill>
            <a:srgbClr val="0065FA"/>
          </a:solidFill>
          <a:ln w="9525">
            <a:solidFill>
              <a:srgbClr val="0065FA"/>
            </a:solidFill>
            <a:round/>
          </a:ln>
        </p:spPr>
        <p:txBody>
          <a:bodyPr lIns="68580" tIns="34290" rIns="68580" bIns="3429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0"/>
          <a:stretch>
            <a:fillRect/>
          </a:stretch>
        </p:blipFill>
        <p:spPr>
          <a:xfrm>
            <a:off x="-44725" y="-1"/>
            <a:ext cx="3850606" cy="5143501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>
            <p:ph type="title" hasCustomPrompt="1"/>
          </p:nvPr>
        </p:nvSpPr>
        <p:spPr>
          <a:xfrm>
            <a:off x="4463170" y="440825"/>
            <a:ext cx="4434344" cy="644529"/>
          </a:xfrm>
        </p:spPr>
        <p:txBody>
          <a:bodyPr/>
          <a:lstStyle>
            <a:lvl1pPr algn="ctr"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 hasCustomPrompt="1"/>
          </p:nvPr>
        </p:nvSpPr>
        <p:spPr>
          <a:xfrm>
            <a:off x="5188177" y="1437603"/>
            <a:ext cx="3500615" cy="3005189"/>
          </a:xfrm>
        </p:spPr>
        <p:txBody>
          <a:bodyPr/>
          <a:lstStyle>
            <a:lvl1pPr>
              <a:lnSpc>
                <a:spcPct val="15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一、分节内容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  <a:endParaRPr lang="en-US" altLang="zh-CN" dirty="0"/>
          </a:p>
          <a:p>
            <a:pPr lvl="0"/>
            <a:r>
              <a:rPr lang="zh-CN" altLang="en-US" dirty="0"/>
              <a:t>五、</a:t>
            </a:r>
            <a:endParaRPr lang="zh-CN" altLang="en-US" dirty="0"/>
          </a:p>
        </p:txBody>
      </p:sp>
      <p:pic>
        <p:nvPicPr>
          <p:cNvPr id="14" name="图片 13" descr="联合伟世横logo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 hasCustomPrompt="1"/>
          </p:nvPr>
        </p:nvSpPr>
        <p:spPr>
          <a:xfrm>
            <a:off x="1257300" y="1913797"/>
            <a:ext cx="6709907" cy="994172"/>
          </a:xfrm>
        </p:spPr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/>
          <p:cNvSpPr/>
          <p:nvPr userDrawn="1"/>
        </p:nvSpPr>
        <p:spPr>
          <a:xfrm>
            <a:off x="470224" y="45141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/>
          <p:cNvSpPr/>
          <p:nvPr userDrawn="1"/>
        </p:nvSpPr>
        <p:spPr>
          <a:xfrm>
            <a:off x="470224" y="600437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470224" y="749462"/>
            <a:ext cx="93698" cy="93698"/>
          </a:xfrm>
          <a:prstGeom prst="round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71094"/>
            <a:ext cx="6110081" cy="513327"/>
          </a:xfrm>
        </p:spPr>
        <p:txBody>
          <a:bodyPr/>
          <a:lstStyle>
            <a:lvl1pPr>
              <a:defRPr sz="27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 hasCustomPrompt="1"/>
          </p:nvPr>
        </p:nvSpPr>
        <p:spPr>
          <a:xfrm>
            <a:off x="643612" y="596748"/>
            <a:ext cx="6118973" cy="452831"/>
          </a:xfrm>
        </p:spPr>
        <p:txBody>
          <a:bodyPr/>
          <a:lstStyle>
            <a:lvl1pPr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887411"/>
            <a:ext cx="9144000" cy="25609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628650" y="401947"/>
            <a:ext cx="6110081" cy="513327"/>
          </a:xfrm>
        </p:spPr>
        <p:txBody>
          <a:bodyPr/>
          <a:lstStyle>
            <a:lvl1pPr>
              <a:defRPr sz="2400" b="1">
                <a:solidFill>
                  <a:srgbClr val="177DFF"/>
                </a:solidFill>
              </a:defRPr>
            </a:lvl1pPr>
          </a:lstStyle>
          <a:p>
            <a:r>
              <a:rPr lang="zh-CN" altLang="en-US" dirty="0"/>
              <a:t>节标题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1"/>
          </p:nvPr>
        </p:nvSpPr>
        <p:spPr>
          <a:xfrm>
            <a:off x="6286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6457950" y="4862675"/>
            <a:ext cx="20574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3"/>
          </p:nvPr>
        </p:nvSpPr>
        <p:spPr>
          <a:xfrm>
            <a:off x="3028950" y="4862675"/>
            <a:ext cx="3086100" cy="273844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矩形 29"/>
          <p:cNvSpPr/>
          <p:nvPr userDrawn="1"/>
        </p:nvSpPr>
        <p:spPr>
          <a:xfrm>
            <a:off x="0" y="961454"/>
            <a:ext cx="9144000" cy="270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548382" y="1252061"/>
            <a:ext cx="8110589" cy="3220547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  <p:pic>
        <p:nvPicPr>
          <p:cNvPr id="15" name="图片 14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  <p:pic>
        <p:nvPicPr>
          <p:cNvPr id="16" name="图片 6" descr="32313533383437353b32313533383435313bcdbcb2e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" y="433080"/>
            <a:ext cx="451485" cy="451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/>
          <p:nvPr userDrawn="1"/>
        </p:nvSpPr>
        <p:spPr>
          <a:xfrm>
            <a:off x="0" y="3065860"/>
            <a:ext cx="9142810" cy="2152650"/>
          </a:xfrm>
          <a:prstGeom prst="rect">
            <a:avLst/>
          </a:prstGeom>
          <a:solidFill>
            <a:srgbClr val="247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171450">
              <a:defRPr/>
            </a:pPr>
            <a:endParaRPr lang="de-DE" sz="700">
              <a:solidFill>
                <a:srgbClr val="F9F9F9">
                  <a:lumMod val="50000"/>
                </a:srgbClr>
              </a:solidFill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F11EC-01F9-5244-80E1-C6DCC51603F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F7D74-83AF-0E45-A0D9-15E45F534703}" type="slidenum">
              <a:rPr lang="zh-CN" altLang="en-US"/>
            </a:fld>
            <a:endParaRPr lang="zh-CN" altLang="en-US"/>
          </a:p>
        </p:txBody>
      </p:sp>
      <p:pic>
        <p:nvPicPr>
          <p:cNvPr id="8" name="图片 7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 userDrawn="1"/>
        </p:nvSpPr>
        <p:spPr>
          <a:xfrm>
            <a:off x="0" y="4892675"/>
            <a:ext cx="9144000" cy="255600"/>
          </a:xfrm>
          <a:prstGeom prst="rect">
            <a:avLst/>
          </a:prstGeom>
          <a:solidFill>
            <a:srgbClr val="177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07" tIns="25704" rIns="51407" bIns="25704"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043670"/>
              </a:solidFill>
            </a:endParaRPr>
          </a:p>
        </p:txBody>
      </p:sp>
      <p:pic>
        <p:nvPicPr>
          <p:cNvPr id="3" name="图片 2" descr="联合伟世横logo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1390" y="268392"/>
            <a:ext cx="631911" cy="267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542C-6648-40F1-8D31-3900F6849C8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78DB5-A7B6-472E-BF96-D2A795C4BAF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0" Type="http://schemas.openxmlformats.org/officeDocument/2006/relationships/theme" Target="../theme/theme5.xml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4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5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0" Type="http://schemas.openxmlformats.org/officeDocument/2006/relationships/theme" Target="../theme/theme8.xml"/><Relationship Id="rId1" Type="http://schemas.openxmlformats.org/officeDocument/2006/relationships/slideLayout" Target="../slideLayouts/slideLayout64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0" Type="http://schemas.openxmlformats.org/officeDocument/2006/relationships/theme" Target="../theme/theme9.xml"/><Relationship Id="rId1" Type="http://schemas.openxmlformats.org/officeDocument/2006/relationships/slideLayout" Target="../slideLayouts/slideLayout7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slideLayout" Target="../slideLayouts/slideLayout89.xml"/><Relationship Id="rId7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0" Type="http://schemas.openxmlformats.org/officeDocument/2006/relationships/theme" Target="../theme/theme10.xml"/><Relationship Id="rId1" Type="http://schemas.openxmlformats.org/officeDocument/2006/relationships/slideLayout" Target="../slideLayouts/slideLayout8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0" Type="http://schemas.openxmlformats.org/officeDocument/2006/relationships/theme" Target="../theme/theme11.xml"/><Relationship Id="rId1" Type="http://schemas.openxmlformats.org/officeDocument/2006/relationships/slideLayout" Target="../slideLayouts/slideLayout9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0" Type="http://schemas.openxmlformats.org/officeDocument/2006/relationships/theme" Target="../theme/theme12.xml"/><Relationship Id="rId1" Type="http://schemas.openxmlformats.org/officeDocument/2006/relationships/slideLayout" Target="../slideLayouts/slideLayout100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0" Type="http://schemas.openxmlformats.org/officeDocument/2006/relationships/theme" Target="../theme/theme13.xml"/><Relationship Id="rId1" Type="http://schemas.openxmlformats.org/officeDocument/2006/relationships/slideLayout" Target="../slideLayouts/slideLayout109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0" Type="http://schemas.openxmlformats.org/officeDocument/2006/relationships/theme" Target="../theme/theme14.xml"/><Relationship Id="rId1" Type="http://schemas.openxmlformats.org/officeDocument/2006/relationships/slideLayout" Target="../slideLayouts/slideLayout11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28.xml"/><Relationship Id="rId10" Type="http://schemas.openxmlformats.org/officeDocument/2006/relationships/theme" Target="../theme/theme15.xml"/><Relationship Id="rId1" Type="http://schemas.openxmlformats.org/officeDocument/2006/relationships/slideLayout" Target="../slideLayouts/slideLayout127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7.xml"/><Relationship Id="rId10" Type="http://schemas.openxmlformats.org/officeDocument/2006/relationships/theme" Target="../theme/theme16.xml"/><Relationship Id="rId1" Type="http://schemas.openxmlformats.org/officeDocument/2006/relationships/slideLayout" Target="../slideLayouts/slideLayout13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0" Type="http://schemas.openxmlformats.org/officeDocument/2006/relationships/theme" Target="../theme/theme17.xml"/><Relationship Id="rId1" Type="http://schemas.openxmlformats.org/officeDocument/2006/relationships/slideLayout" Target="../slideLayouts/slideLayout145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0" Type="http://schemas.openxmlformats.org/officeDocument/2006/relationships/theme" Target="../theme/theme18.xml"/><Relationship Id="rId1" Type="http://schemas.openxmlformats.org/officeDocument/2006/relationships/slideLayout" Target="../slideLayouts/slideLayout154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4.xml"/><Relationship Id="rId10" Type="http://schemas.openxmlformats.org/officeDocument/2006/relationships/theme" Target="../theme/theme19.xml"/><Relationship Id="rId1" Type="http://schemas.openxmlformats.org/officeDocument/2006/relationships/slideLayout" Target="../slideLayouts/slideLayout163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0.xml"/><Relationship Id="rId8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73.xml"/><Relationship Id="rId10" Type="http://schemas.openxmlformats.org/officeDocument/2006/relationships/theme" Target="../theme/theme20.xml"/><Relationship Id="rId1" Type="http://schemas.openxmlformats.org/officeDocument/2006/relationships/slideLayout" Target="../slideLayouts/slideLayout172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0" Type="http://schemas.openxmlformats.org/officeDocument/2006/relationships/theme" Target="../theme/theme21.xml"/><Relationship Id="rId1" Type="http://schemas.openxmlformats.org/officeDocument/2006/relationships/slideLayout" Target="../slideLayouts/slideLayout18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91.xml"/><Relationship Id="rId10" Type="http://schemas.openxmlformats.org/officeDocument/2006/relationships/theme" Target="../theme/theme22.xml"/><Relationship Id="rId1" Type="http://schemas.openxmlformats.org/officeDocument/2006/relationships/slideLayout" Target="../slideLayouts/slideLayout190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0" Type="http://schemas.openxmlformats.org/officeDocument/2006/relationships/theme" Target="../theme/theme23.xml"/><Relationship Id="rId1" Type="http://schemas.openxmlformats.org/officeDocument/2006/relationships/slideLayout" Target="../slideLayouts/slideLayout199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6.xml"/><Relationship Id="rId8" Type="http://schemas.openxmlformats.org/officeDocument/2006/relationships/slideLayout" Target="../slideLayouts/slideLayout215.xml"/><Relationship Id="rId7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9.xml"/><Relationship Id="rId10" Type="http://schemas.openxmlformats.org/officeDocument/2006/relationships/theme" Target="../theme/theme24.xml"/><Relationship Id="rId1" Type="http://schemas.openxmlformats.org/officeDocument/2006/relationships/slideLayout" Target="../slideLayouts/slideLayout2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C550A40-DB64-6D45-94F1-59D7256C5D4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2EC91F-B89F-3748-A14E-77B87DA9E48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7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8.jpeg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1.xml"/><Relationship Id="rId2" Type="http://schemas.openxmlformats.org/officeDocument/2006/relationships/image" Target="../media/image9.png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0.xml"/><Relationship Id="rId2" Type="http://schemas.openxmlformats.org/officeDocument/2006/relationships/image" Target="../media/image10.png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9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23.xml"/><Relationship Id="rId2" Type="http://schemas.openxmlformats.org/officeDocument/2006/relationships/image" Target="../media/image10.png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0.xml"/><Relationship Id="rId2" Type="http://schemas.openxmlformats.org/officeDocument/2006/relationships/image" Target="../media/image15.png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87.xml"/><Relationship Id="rId3" Type="http://schemas.openxmlformats.org/officeDocument/2006/relationships/image" Target="../media/image16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5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14.xml"/><Relationship Id="rId2" Type="http://schemas.openxmlformats.org/officeDocument/2006/relationships/image" Target="../media/image18.png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3.xml"/><Relationship Id="rId3" Type="http://schemas.openxmlformats.org/officeDocument/2006/relationships/image" Target="../media/image19.pn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0.png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1.png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33.xml"/><Relationship Id="rId5" Type="http://schemas.openxmlformats.org/officeDocument/2006/relationships/image" Target="../media/image23.png"/><Relationship Id="rId4" Type="http://schemas.openxmlformats.org/officeDocument/2006/relationships/tags" Target="../tags/tag36.xml"/><Relationship Id="rId3" Type="http://schemas.openxmlformats.org/officeDocument/2006/relationships/image" Target="../media/image22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59.xml"/><Relationship Id="rId2" Type="http://schemas.openxmlformats.org/officeDocument/2006/relationships/image" Target="../media/image24.png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68.xml"/><Relationship Id="rId3" Type="http://schemas.openxmlformats.org/officeDocument/2006/relationships/image" Target="../media/image25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77.xml"/><Relationship Id="rId4" Type="http://schemas.openxmlformats.org/officeDocument/2006/relationships/image" Target="../media/image27.png"/><Relationship Id="rId3" Type="http://schemas.openxmlformats.org/officeDocument/2006/relationships/tags" Target="../tags/tag41.xml"/><Relationship Id="rId2" Type="http://schemas.openxmlformats.org/officeDocument/2006/relationships/image" Target="../media/image26.png"/><Relationship Id="rId1" Type="http://schemas.openxmlformats.org/officeDocument/2006/relationships/tags" Target="../tags/tag40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86.xml"/><Relationship Id="rId5" Type="http://schemas.openxmlformats.org/officeDocument/2006/relationships/image" Target="../media/image26.png"/><Relationship Id="rId4" Type="http://schemas.openxmlformats.org/officeDocument/2006/relationships/tags" Target="../tags/tag44.xml"/><Relationship Id="rId3" Type="http://schemas.openxmlformats.org/officeDocument/2006/relationships/image" Target="../media/image27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95.xml"/><Relationship Id="rId3" Type="http://schemas.openxmlformats.org/officeDocument/2006/relationships/image" Target="../media/image28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04.xml"/><Relationship Id="rId3" Type="http://schemas.openxmlformats.org/officeDocument/2006/relationships/image" Target="../media/image28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13.xml"/><Relationship Id="rId3" Type="http://schemas.openxmlformats.org/officeDocument/2006/relationships/image" Target="../media/image28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2904" y="1560410"/>
            <a:ext cx="4982805" cy="146219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神经网络介绍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55544" y="3544501"/>
            <a:ext cx="2616835" cy="391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2100" b="1" dirty="0">
                <a:solidFill>
                  <a:schemeClr val="bg1"/>
                </a:solidFill>
                <a:latin typeface="+mj-ea"/>
                <a:ea typeface="+mj-ea"/>
              </a:rPr>
              <a:t>主讲</a:t>
            </a:r>
            <a:r>
              <a:rPr lang="zh-CN" altLang="en-US" sz="2100" b="1" dirty="0" smtClean="0">
                <a:solidFill>
                  <a:schemeClr val="bg1"/>
                </a:solidFill>
                <a:latin typeface="+mj-ea"/>
                <a:ea typeface="+mj-ea"/>
              </a:rPr>
              <a:t>：王书敏</a:t>
            </a:r>
            <a:r>
              <a:rPr lang="en-US" altLang="zh-CN" sz="21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100" b="1" dirty="0" smtClean="0">
                <a:solidFill>
                  <a:schemeClr val="bg1"/>
                </a:solidFill>
                <a:latin typeface="+mj-ea"/>
                <a:ea typeface="+mj-ea"/>
              </a:rPr>
              <a:t>胡天慧</a:t>
            </a:r>
            <a:endParaRPr lang="zh-CN" altLang="en-US" sz="2100" b="1" dirty="0" smtClean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MH_Others_1"/>
          <p:cNvSpPr txBox="1"/>
          <p:nvPr>
            <p:custDataLst>
              <p:tags r:id="rId1"/>
            </p:custDataLst>
          </p:nvPr>
        </p:nvSpPr>
        <p:spPr>
          <a:xfrm>
            <a:off x="1260164" y="1326288"/>
            <a:ext cx="914096" cy="2023894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950" b="1" dirty="0">
                <a:solidFill>
                  <a:srgbClr val="177D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目录</a:t>
            </a:r>
            <a:endParaRPr lang="zh-CN" altLang="en-US" sz="4950" b="1" dirty="0">
              <a:solidFill>
                <a:srgbClr val="177D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9" name="MH_Others_2"/>
          <p:cNvSpPr txBox="1"/>
          <p:nvPr>
            <p:custDataLst>
              <p:tags r:id="rId2"/>
            </p:custDataLst>
          </p:nvPr>
        </p:nvSpPr>
        <p:spPr>
          <a:xfrm rot="5400000">
            <a:off x="259755" y="2225033"/>
            <a:ext cx="1759721" cy="251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500" b="1" dirty="0">
                <a:solidFill>
                  <a:srgbClr val="177D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zh-CN" altLang="en-US" sz="1500" b="1" dirty="0">
              <a:solidFill>
                <a:srgbClr val="177D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1" name="MH_Entry_1"/>
          <p:cNvSpPr/>
          <p:nvPr>
            <p:custDataLst>
              <p:tags r:id="rId3"/>
            </p:custDataLst>
          </p:nvPr>
        </p:nvSpPr>
        <p:spPr>
          <a:xfrm>
            <a:off x="2835390" y="1169100"/>
            <a:ext cx="2388368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什么是神经网络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4" name="MH_Number_3"/>
          <p:cNvSpPr/>
          <p:nvPr>
            <p:custDataLst>
              <p:tags r:id="rId4"/>
            </p:custDataLst>
          </p:nvPr>
        </p:nvSpPr>
        <p:spPr>
          <a:xfrm>
            <a:off x="2415987" y="1217288"/>
            <a:ext cx="253266" cy="25328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5" name="MH_Entry_3"/>
          <p:cNvSpPr/>
          <p:nvPr>
            <p:custDataLst>
              <p:tags r:id="rId5"/>
            </p:custDataLst>
          </p:nvPr>
        </p:nvSpPr>
        <p:spPr>
          <a:xfrm>
            <a:off x="2835390" y="1648548"/>
            <a:ext cx="2388368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单层神经网络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6" name="MH_Number_4"/>
          <p:cNvSpPr/>
          <p:nvPr>
            <p:custDataLst>
              <p:tags r:id="rId6"/>
            </p:custDataLst>
          </p:nvPr>
        </p:nvSpPr>
        <p:spPr>
          <a:xfrm>
            <a:off x="2421136" y="1688026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9" name="MH_Entry_3"/>
          <p:cNvSpPr/>
          <p:nvPr>
            <p:custDataLst>
              <p:tags r:id="rId7"/>
            </p:custDataLst>
          </p:nvPr>
        </p:nvSpPr>
        <p:spPr>
          <a:xfrm>
            <a:off x="2835390" y="2097293"/>
            <a:ext cx="2439147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多层神经网络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" name="MH_Entry_3"/>
          <p:cNvSpPr/>
          <p:nvPr>
            <p:custDataLst>
              <p:tags r:id="rId8"/>
            </p:custDataLst>
          </p:nvPr>
        </p:nvSpPr>
        <p:spPr>
          <a:xfrm>
            <a:off x="2835389" y="2509728"/>
            <a:ext cx="2439147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什么是深度学习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3" name="MH_Entry_3"/>
          <p:cNvSpPr/>
          <p:nvPr>
            <p:custDataLst>
              <p:tags r:id="rId9"/>
            </p:custDataLst>
          </p:nvPr>
        </p:nvSpPr>
        <p:spPr>
          <a:xfrm>
            <a:off x="2860777" y="3020190"/>
            <a:ext cx="2439147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相互关系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49849" y="1114292"/>
            <a:ext cx="0" cy="2858032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H_Number_4"/>
          <p:cNvSpPr/>
          <p:nvPr>
            <p:custDataLst>
              <p:tags r:id="rId10"/>
            </p:custDataLst>
          </p:nvPr>
        </p:nvSpPr>
        <p:spPr>
          <a:xfrm>
            <a:off x="2421130" y="2136771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MH_Number_4"/>
          <p:cNvSpPr/>
          <p:nvPr>
            <p:custDataLst>
              <p:tags r:id="rId11"/>
            </p:custDataLst>
          </p:nvPr>
        </p:nvSpPr>
        <p:spPr>
          <a:xfrm>
            <a:off x="2429597" y="2593989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7" name="MH_Number_4"/>
          <p:cNvSpPr/>
          <p:nvPr>
            <p:custDataLst>
              <p:tags r:id="rId12"/>
            </p:custDataLst>
          </p:nvPr>
        </p:nvSpPr>
        <p:spPr>
          <a:xfrm>
            <a:off x="2421124" y="3059668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MH_Entry_3"/>
          <p:cNvSpPr/>
          <p:nvPr>
            <p:custDataLst>
              <p:tags r:id="rId13"/>
            </p:custDataLst>
          </p:nvPr>
        </p:nvSpPr>
        <p:spPr>
          <a:xfrm>
            <a:off x="2850515" y="3536315"/>
            <a:ext cx="3584575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如何将数据输入到神经网络中？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4" name="MH_Number_4"/>
          <p:cNvSpPr/>
          <p:nvPr>
            <p:custDataLst>
              <p:tags r:id="rId14"/>
            </p:custDataLst>
          </p:nvPr>
        </p:nvSpPr>
        <p:spPr>
          <a:xfrm>
            <a:off x="2422394" y="3586718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6</a:t>
            </a:r>
            <a:endParaRPr lang="en-US" altLang="zh-CN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3"/>
          <p:cNvSpPr/>
          <p:nvPr>
            <p:custDataLst>
              <p:tags r:id="rId15"/>
            </p:custDataLst>
          </p:nvPr>
        </p:nvSpPr>
        <p:spPr>
          <a:xfrm>
            <a:off x="2828925" y="4063048"/>
            <a:ext cx="3705860" cy="3321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神经网络是如何进行预测的?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6" name="MH_Number_4"/>
          <p:cNvSpPr/>
          <p:nvPr>
            <p:custDataLst>
              <p:tags r:id="rId16"/>
            </p:custDataLst>
          </p:nvPr>
        </p:nvSpPr>
        <p:spPr>
          <a:xfrm>
            <a:off x="2435094" y="4113768"/>
            <a:ext cx="253136" cy="253150"/>
          </a:xfrm>
          <a:prstGeom prst="ellipse">
            <a:avLst/>
          </a:prstGeom>
          <a:solidFill>
            <a:srgbClr val="177DF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20204" pitchFamily="34" charset="0"/>
              </a:rPr>
              <a:t>7</a:t>
            </a:r>
            <a:endParaRPr lang="en-US" altLang="zh-CN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867" y="420087"/>
            <a:ext cx="7116105" cy="513327"/>
          </a:xfrm>
        </p:spPr>
        <p:txBody>
          <a:bodyPr/>
          <a:lstStyle/>
          <a:p>
            <a:r>
              <a:rPr lang="zh-CN" altLang="en-US" sz="2400" dirty="0"/>
              <a:t>教学目标和重难点</a:t>
            </a:r>
            <a:endParaRPr lang="zh-CN" altLang="en-US" sz="2400" dirty="0"/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643612" y="1085869"/>
            <a:ext cx="5782588" cy="372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500" dirty="0">
                <a:solidFill>
                  <a:srgbClr val="177DFF"/>
                </a:solidFill>
                <a:latin typeface="+mj-ea"/>
                <a:ea typeface="+mj-ea"/>
              </a:rPr>
              <a:t>教学目标</a:t>
            </a:r>
            <a:endParaRPr lang="en-US" altLang="zh-CN" sz="1500" dirty="0">
              <a:solidFill>
                <a:srgbClr val="177DFF"/>
              </a:solidFill>
              <a:latin typeface="+mj-ea"/>
              <a:ea typeface="+mj-ea"/>
            </a:endParaRPr>
          </a:p>
          <a:p>
            <a:pPr marL="5378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理解什么是神经网络</a:t>
            </a:r>
            <a:endParaRPr lang="en-US" altLang="zh-CN" sz="1500" b="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pPr marL="5378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理解图像卷积的原理、通道的概念</a:t>
            </a:r>
            <a:endParaRPr lang="en-US" altLang="zh-CN" sz="1500" b="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pPr marL="5378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 smtClean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理解池化和全链接的</a:t>
            </a: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原理</a:t>
            </a:r>
            <a:endParaRPr lang="en-US" altLang="zh-CN" sz="1500" b="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pPr marL="5378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理解</a:t>
            </a:r>
            <a:r>
              <a:rPr lang="en-US" altLang="zh-CN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padding</a:t>
            </a: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、</a:t>
            </a:r>
            <a:r>
              <a:rPr lang="en-US" altLang="zh-CN" sz="1500" b="0" dirty="0" smtClean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striding</a:t>
            </a:r>
            <a:r>
              <a:rPr lang="zh-CN" altLang="en-US" sz="1500" b="0" dirty="0" smtClean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的概念</a:t>
            </a:r>
            <a:endParaRPr lang="en-US" altLang="zh-CN" sz="1500" b="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pPr marL="5378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500" b="0" dirty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利用</a:t>
            </a:r>
            <a:r>
              <a:rPr lang="zh-CN" altLang="en-US" sz="1500" b="0" dirty="0" smtClean="0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卷积算法实现猫狗识别</a:t>
            </a:r>
            <a:endParaRPr lang="en-US" altLang="zh-CN" sz="1500" b="0" dirty="0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9" name="矩形: 圆角 15"/>
          <p:cNvSpPr/>
          <p:nvPr/>
        </p:nvSpPr>
        <p:spPr>
          <a:xfrm>
            <a:off x="4664921" y="2574165"/>
            <a:ext cx="587872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难点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矩形: 圆角 15"/>
          <p:cNvSpPr/>
          <p:nvPr/>
        </p:nvSpPr>
        <p:spPr>
          <a:xfrm>
            <a:off x="4664922" y="2087378"/>
            <a:ext cx="587872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难点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矩形: 圆角 15"/>
          <p:cNvSpPr/>
          <p:nvPr/>
        </p:nvSpPr>
        <p:spPr>
          <a:xfrm>
            <a:off x="4664922" y="3534809"/>
            <a:ext cx="587873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重点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73874" y="1938329"/>
            <a:ext cx="422746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173874" y="2384188"/>
            <a:ext cx="422746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173874" y="2847768"/>
            <a:ext cx="422746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173874" y="3311347"/>
            <a:ext cx="422746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173874" y="3817204"/>
            <a:ext cx="4227466" cy="0"/>
          </a:xfrm>
          <a:prstGeom prst="line">
            <a:avLst/>
          </a:prstGeom>
          <a:ln w="19050"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5"/>
          <p:cNvSpPr/>
          <p:nvPr/>
        </p:nvSpPr>
        <p:spPr>
          <a:xfrm>
            <a:off x="4664923" y="2993788"/>
            <a:ext cx="587872" cy="26722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难点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什么是神经网络</a:t>
            </a:r>
            <a:endParaRPr lang="zh-CN" altLang="en-US" dirty="0"/>
          </a:p>
        </p:txBody>
      </p:sp>
      <p:pic>
        <p:nvPicPr>
          <p:cNvPr id="4" name="图片 3" descr="201810141931558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015" y="1173480"/>
            <a:ext cx="3303905" cy="330390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31470" y="1323975"/>
            <a:ext cx="4857750" cy="255333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什么是人工智能？通俗来讲，就是让机器能像人一样思考。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从1956年夏季首次提出“人工智能”这一术语开始，科学家们尝试了各种方法来实现它。这些方法包括专家系统，决策树、归纳逻辑、聚类等等，但这些都是假智能。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直到人工神经网络技术的出现，才让机器拥有了“真智能”。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1470" y="1323975"/>
            <a:ext cx="412115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人工神经网络是受到人类大脑结构的启发而创造出来的，这也是它能拥有真智能的根本原因。在我们的大脑中，有数十亿个称为神经元的细胞，它们连接成了一个神经网络。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latinLnBrk="0">
              <a:lnSpc>
                <a:spcPct val="150000"/>
              </a:lnSpc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latinLnBrk="0">
              <a:lnSpc>
                <a:spcPct val="150000"/>
              </a:lnSpc>
            </a:pPr>
            <a:r>
              <a:rPr lang="zh-CN" altLang="en-US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人工神经网络（</a:t>
            </a:r>
            <a:r>
              <a:rPr lang="en-US" altLang="zh-CN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Artificial Neural NetWork</a:t>
            </a:r>
            <a:r>
              <a:rPr lang="zh-CN" altLang="en-US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，既</a:t>
            </a:r>
            <a:r>
              <a:rPr lang="en-US" altLang="zh-CN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RNN</a:t>
            </a:r>
            <a:r>
              <a:rPr lang="zh-CN" altLang="en-US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是对人脑神经元网络的抽象与模拟。</a:t>
            </a:r>
            <a:endParaRPr lang="zh-CN" altLang="en-US" sz="1600" b="1" dirty="0">
              <a:solidFill>
                <a:srgbClr val="177D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latinLnBrk="0">
              <a:lnSpc>
                <a:spcPct val="150000"/>
              </a:lnSpc>
            </a:pPr>
            <a:endParaRPr lang="zh-CN" altLang="en-US" sz="1600" b="1" dirty="0">
              <a:solidFill>
                <a:srgbClr val="177D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timg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70" y="1162685"/>
            <a:ext cx="4364990" cy="3058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8650" y="1088390"/>
            <a:ext cx="7324725" cy="3495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1470" y="1323975"/>
            <a:ext cx="412115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人工神经网络正是模仿了上面的网络结构。下面是一个人工神经网络的构造图。每一个圆代表着一个神经元，他们连接起来构成了一个网络。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TIM图片201808271125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40" y="1323975"/>
            <a:ext cx="4412615" cy="3056255"/>
          </a:xfrm>
          <a:prstGeom prst="rect">
            <a:avLst/>
          </a:prstGeom>
        </p:spPr>
      </p:pic>
      <p:pic>
        <p:nvPicPr>
          <p:cNvPr id="5" name="图片 4" descr="TIM图片201808271125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40" y="1323975"/>
            <a:ext cx="4412615" cy="3056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450850" y="3773805"/>
            <a:ext cx="787463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人类大脑神经元细胞的树突接收来自外部的多个强度不同的刺激，并在神经元细胞体内进行处理，然后将其转化为一个输出结果。如上图所示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printcom1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310" y="1123315"/>
            <a:ext cx="3083560" cy="2167890"/>
          </a:xfrm>
          <a:prstGeom prst="rect">
            <a:avLst/>
          </a:prstGeom>
        </p:spPr>
      </p:pic>
      <p:pic>
        <p:nvPicPr>
          <p:cNvPr id="8" name="图片 7" descr="微信截图_20230906002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" y="1123315"/>
            <a:ext cx="4688840" cy="2442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TIM图片201808271125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98845" y="1261110"/>
            <a:ext cx="3007995" cy="20834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450850" y="3970020"/>
            <a:ext cx="787463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人工神经元也有相似的工作原理，上面的x是神经元的输入，相当于树突接收的多个外部刺激。w是每个输入对应的权重，它影响着每个输入x的刺激强度。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微信截图_202309060040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130300"/>
            <a:ext cx="5275580" cy="2456180"/>
          </a:xfrm>
          <a:prstGeom prst="rect">
            <a:avLst/>
          </a:prstGeom>
        </p:spPr>
      </p:pic>
      <p:pic>
        <p:nvPicPr>
          <p:cNvPr id="3" name="图片 2" descr="2018101419373889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925" y="2762885"/>
            <a:ext cx="2059305" cy="1207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3590" y="995680"/>
            <a:ext cx="7162800" cy="3819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20345" y="1496060"/>
            <a:ext cx="453580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大脑的结构越简单，那么智商就越低。单细胞生物是智商最低的了。人工神经网络也是一样的，网络越复杂它就越强大，所以我们需要深度神经网络。这里的深度是指层数多，层数越多那么构造的神经网络就越复杂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latinLnBrk="0">
              <a:lnSpc>
                <a:spcPct val="150000"/>
              </a:lnSpc>
            </a:pPr>
            <a:endParaRPr lang="zh-CN" altLang="en-US" sz="1600" b="1" dirty="0">
              <a:solidFill>
                <a:srgbClr val="177D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 latinLnBrk="0">
              <a:lnSpc>
                <a:spcPct val="150000"/>
              </a:lnSpc>
            </a:pPr>
            <a:r>
              <a:rPr lang="zh-CN" altLang="en-US" sz="16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训练深度神经网络的过程就叫做深度学习</a:t>
            </a:r>
            <a:endParaRPr lang="zh-CN" altLang="en-US" sz="1600" b="1" dirty="0">
              <a:solidFill>
                <a:srgbClr val="177D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90160" y="1062355"/>
            <a:ext cx="3903345" cy="3737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20345" y="1231265"/>
            <a:ext cx="8416290" cy="33572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网络构建好了后，我们只需要负责不停地将训练数据输入到神经网络中，它内部就会自己不停地发生变化不停地学习。打比方说我们想要训练一个深度神经网络来识别猫。我们只需要不停地将猫的图片输入到神经网络中去。训练成功后，我们任意拿来一张新的图片，它都能判断出里面是否有猫。但我们并不知道他的分析过程是怎样的，它是如何判断里面是否有猫的。就像当我们教小孩子认识猫时，我们拿来一些白猫，告诉他这是猫，拿来一些黑猫，告诉他这也是猫，他脑子里会自己不停地学习猫的特征。最后我们拿来一些花猫，问他，他会告诉你这也是猫。但他是怎么知道的？他脑子里的分析过程是怎么样的？我们无从知道~~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什么是神经网络</a:t>
            </a:r>
            <a:endParaRPr lang="zh-CN" altLang="en-US" dirty="0"/>
          </a:p>
        </p:txBody>
      </p:sp>
      <p:pic>
        <p:nvPicPr>
          <p:cNvPr id="4" name="图片 3" descr="微信截图_202309060036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440" y="1162685"/>
            <a:ext cx="6410960" cy="3582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单层神经网络诞生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20345" y="1231265"/>
            <a:ext cx="3950970" cy="34740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在1958年,美国心理学家Frank Rosenblatt提出一种具有单层计算单元的神经网络,称为感知器(Perceptron)。它其实就是基于M-P模型的结构，单层感知器结构如下图所示。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感知器是最早被设计并实现的人工神经网络，通过误差修正学习，可以自动获取参数，这是感知器引发的一场巨大变革。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微信截图_202309060043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315" y="1082040"/>
            <a:ext cx="4594225" cy="36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多层神经网络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98425" y="1231265"/>
            <a:ext cx="4172585" cy="34740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单层感知器的局限在于它只能解决线性可分问题，对于线性不可分问题，它已经不在适用。为了解决线性不可分问题等更复杂的任务，人们提出了多层感知器模型（multilayer perceptron），如图所示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多层感知器模型由输入层，隐藏层，输出层组成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71315" y="1333500"/>
            <a:ext cx="4551680" cy="283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多层神经网络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20345" y="1231265"/>
            <a:ext cx="8476615" cy="34740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2011年，Glorot等人提出ReLU激活函数，有效地抑制了深层网络的梯度消失问题，现在最好的激活函数都是来自于ReLU家族，简单而有效。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2012年Hinton的学生Alex Krizhevsky提出AlexNet网络，碾压第二名（SVM方法）的分类性能。也正是由于该比赛，CNN吸引到了众多研究者的注意。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从此之后，各种神经网络的提出，使得机器学习及深度学习技术越来越火。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4225" y="1059815"/>
            <a:ext cx="6784975" cy="3629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相互关系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8650" y="1052195"/>
            <a:ext cx="6810375" cy="3752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如何将数据输入到神经网络中？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46050" y="3182620"/>
            <a:ext cx="811085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计算机要表示整张图片，就是用数字去表示整张图片的所有像素，但是每个像素需要三个数值来表示，于是就有了图片的3通道。每个通道分别表示RGB三种颜色。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87670" y="3711575"/>
            <a:ext cx="3215005" cy="1113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8145" y="1069975"/>
            <a:ext cx="6570980" cy="1957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如何将数据输入到神经网络中？</a:t>
            </a:r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20345" y="3754755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为了存储图像，计算机要存储三个独立的矩阵，为了更加方便后面的处理，我们一般把上面那3个矩阵转化成1个矩阵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向量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1627005269.3407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95" y="1080770"/>
            <a:ext cx="6710680" cy="250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r>
              <a:rPr sz="1400" dirty="0">
                <a:latin typeface="微软雅黑" panose="020B0503020204020204" charset="-122"/>
                <a:ea typeface="微软雅黑" panose="020B0503020204020204" charset="-122"/>
              </a:rPr>
              <a:t>神经网络是如何预测这张图中是否有猫的呢？</a:t>
            </a: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sz="1400" dirty="0">
                <a:latin typeface="微软雅黑" panose="020B0503020204020204" charset="-122"/>
                <a:ea typeface="微软雅黑" panose="020B0503020204020204" charset="-122"/>
              </a:rPr>
              <a:t>这个预测的过程其实只是基于一个简单的公式：z = dot(w,x) + b。</a:t>
            </a: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sz="1400" dirty="0">
                <a:latin typeface="微软雅黑" panose="020B0503020204020204" charset="-122"/>
                <a:ea typeface="微软雅黑" panose="020B0503020204020204" charset="-122"/>
              </a:rPr>
              <a:t>上面公式中的x代表着输入特征向量，假设只有3个特征，那么x就可以用（x1，x2，x3）来表示。如下图所示。w表示权重，它对应于每个输入特征，代表了每个特征的重要程度。b表示阈值，用来影响预测结果。z就是预测结果。公式中的dot()函数表示将w和x进行向量相乘。</a:t>
            </a: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 algn="just" latinLnBrk="0">
              <a:lnSpc>
                <a:spcPct val="200000"/>
              </a:lnSpc>
            </a:pPr>
            <a:r>
              <a:rPr sz="1400" dirty="0">
                <a:latin typeface="微软雅黑" panose="020B0503020204020204" charset="-122"/>
                <a:ea typeface="微软雅黑" panose="020B0503020204020204" charset="-122"/>
              </a:rPr>
              <a:t>我们现在只需要知道上面的公式展开后就变成了</a:t>
            </a:r>
            <a:r>
              <a:rPr sz="1400" b="1" dirty="0">
                <a:solidFill>
                  <a:srgbClr val="177DFF"/>
                </a:solidFill>
                <a:latin typeface="微软雅黑" panose="020B0503020204020204" charset="-122"/>
                <a:ea typeface="微软雅黑" panose="020B0503020204020204" charset="-122"/>
              </a:rPr>
              <a:t>z = (x1 * w1 + x2 * w2 + x3 * w3) + b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78320" y="3787775"/>
            <a:ext cx="1859280" cy="92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1627005269.36269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470" y="2687320"/>
            <a:ext cx="2738120" cy="2146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650" y="1342390"/>
            <a:ext cx="45789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/>
              <a:t>是否去看音乐节假设有</a:t>
            </a:r>
            <a:r>
              <a:rPr lang="en-US" altLang="zh-CN"/>
              <a:t>3</a:t>
            </a:r>
            <a:r>
              <a:rPr lang="zh-CN" altLang="en-US"/>
              <a:t>个影响因素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1. </a:t>
            </a:r>
            <a:r>
              <a:rPr lang="zh-CN" altLang="en-US"/>
              <a:t>距离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陪女朋友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3. </a:t>
            </a:r>
            <a:r>
              <a:rPr lang="zh-CN" altLang="en-US"/>
              <a:t>天气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zh-CN" altLang="en-US"/>
              <a:t>三个因素重视度就是权重！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zh-CN" altLang="en-US"/>
              <a:t>假设结果</a:t>
            </a:r>
            <a:r>
              <a:rPr lang="en-US" altLang="zh-CN"/>
              <a:t> Z&gt;0</a:t>
            </a:r>
            <a:r>
              <a:rPr lang="zh-CN" altLang="en-US"/>
              <a:t>，表示去，</a:t>
            </a:r>
            <a:r>
              <a:rPr lang="en-US" altLang="zh-CN"/>
              <a:t>Z&lt;0</a:t>
            </a:r>
            <a:r>
              <a:rPr lang="zh-CN" altLang="en-US"/>
              <a:t>表示不去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98515" y="1526540"/>
            <a:ext cx="2076450" cy="123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650" y="1117600"/>
            <a:ext cx="772096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z = (x1 * w1 + x2 * w2 + x3 * w3) + b = (0 * 2 + 0 * 2 + 1 * 7) + (-5) = 2。预测结果z是2，2大于0，所以预测你会去音乐节。</a:t>
            </a:r>
          </a:p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</a:p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如果你想陪老婆，并且对其它两个因素并不在意，</a:t>
            </a:r>
          </a:p>
          <a:p>
            <a:pPr marL="0" indent="0" latinLnBrk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/>
              <a:t>     </a:t>
            </a:r>
            <a:r>
              <a:t>那么我们预测你将不会去音乐节</a:t>
            </a:r>
            <a:r>
              <a:rPr lang="en-US"/>
              <a:t>  </a:t>
            </a:r>
            <a:endParaRPr lang="en-US"/>
          </a:p>
          <a:p>
            <a:pPr marL="0" indent="0" latinLnBrk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/>
              <a:t>     设三个权重(w1,w2,w3)是(2,7,2)，w2是7表示你想陪老婆意愿强烈</a:t>
            </a:r>
            <a:endParaRPr lang="en-US"/>
          </a:p>
          <a:p>
            <a:pPr marL="0" indent="0" latinLnBrk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/>
              <a:t>   </a:t>
            </a:r>
            <a:r>
              <a:t>z = (x1 * w1 + x2 * w2 + x3 * w3) + b = (0 * 2 + 0 * 7 + 1 * 2) + (-5) = -3。预测结果z是-3，-3小于0，所以预测你不会去，会呆在家里</a:t>
            </a:r>
          </a:p>
          <a:p>
            <a:pPr marL="0" indent="0" latinLnBrk="0">
              <a:lnSpc>
                <a:spcPct val="150000"/>
              </a:lnSpc>
            </a:pPr>
          </a:p>
          <a:p>
            <a:pPr marL="0" indent="0" latinLnBrk="0">
              <a:lnSpc>
                <a:spcPct val="150000"/>
              </a:lnSpc>
            </a:p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24880" y="1618615"/>
            <a:ext cx="2076450" cy="1238250"/>
          </a:xfrm>
          <a:prstGeom prst="rect">
            <a:avLst/>
          </a:prstGeom>
        </p:spPr>
      </p:pic>
      <p:pic>
        <p:nvPicPr>
          <p:cNvPr id="7" name="图片 6" descr="1627005269.36269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491730" y="4091305"/>
            <a:ext cx="857885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650" y="1117600"/>
            <a:ext cx="77209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最后再稍微提一下激活函数。在实际的神经网络中，我们不能直接用逻辑回归。必须要在逻辑回归外面再套上一个函数。这个函数我们就称它为激活函数。激活函数非常非常重要，如果没有它，那么神经网络的智商永远高不起来。而且激活函数又分好多种。我只给大家简单介绍一种叫做sigmoid的激活函数。它的公式和图像如下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51880" y="2834005"/>
            <a:ext cx="2658110" cy="1973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650" y="1117600"/>
            <a:ext cx="77209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最后再稍微提一下激活函数。在实际的神经网络中，我们不能直接用逻辑回归。必须要在逻辑回归外面再套上一个函数。这个函数我们就称它为激活函数。激活函数非常非常重要，如果没有它，那么神经网络的智商永远高不起来。而且激活函数又分好多种。我只给大家简单介绍一种叫做sigmoid的激活函数。它的公式和图像如下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51880" y="2834005"/>
            <a:ext cx="2658110" cy="1973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神经网络是如何进行预测的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33375" y="1117600"/>
            <a:ext cx="8476615" cy="8636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just" latinLnBrk="0">
              <a:lnSpc>
                <a:spcPct val="200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8650" y="1117600"/>
            <a:ext cx="77209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我们在这里先只介绍它的一个用途——把z映射到[0,1]之间</a:t>
            </a:r>
          </a:p>
          <a:p>
            <a:pPr marL="285750" indent="-285750" latinLnBrk="0">
              <a:lnSpc>
                <a:spcPct val="150000"/>
              </a:lnSpc>
              <a:buFont typeface="Wingdings" panose="05000000000000000000" charset="0"/>
              <a:buChar char="Ø"/>
            </a:pPr>
            <a:r>
              <a:t>纵坐标我们用y’来表示，y’就代表了我们最终的预测结果。从图像可以看出，z越大那么y’就越靠近1，z越小那么y’就越靠近0。那为什么要把预测结果映射到[0,1]之间呢？因为这样不仅便于神经网络进行计算，也便于我们人类进行理解。例如在预测是否有猫的例子中，如果y’是0.8，就说明有80%的概率是有猫的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16930" y="3225800"/>
            <a:ext cx="2097405" cy="1557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Textfeld 50"/>
          <p:cNvSpPr txBox="1">
            <a:spLocks noChangeArrowheads="1"/>
          </p:cNvSpPr>
          <p:nvPr/>
        </p:nvSpPr>
        <p:spPr bwMode="auto">
          <a:xfrm>
            <a:off x="1341240" y="2280048"/>
            <a:ext cx="6184106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改变生活</a:t>
            </a:r>
            <a:endParaRPr lang="zh-CN" altLang="en-US" sz="1400" b="1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94" name="Textfeld 33"/>
          <p:cNvSpPr txBox="1">
            <a:spLocks noChangeArrowheads="1"/>
          </p:cNvSpPr>
          <p:nvPr/>
        </p:nvSpPr>
        <p:spPr bwMode="auto">
          <a:xfrm>
            <a:off x="1339454" y="994173"/>
            <a:ext cx="6187678" cy="1177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 defTabSz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defTabSz="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de-DE" altLang="zh-CN" sz="3600" dirty="0">
              <a:solidFill>
                <a:srgbClr val="0065FA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de-DE" altLang="zh-CN" sz="3600" b="1" dirty="0" err="1">
                <a:solidFill>
                  <a:srgbClr val="2473D4"/>
                </a:solidFill>
                <a:latin typeface="Century Gothic" panose="020B0502020202020204" pitchFamily="34" charset="0"/>
              </a:rPr>
              <a:t>Thank</a:t>
            </a:r>
            <a:r>
              <a:rPr lang="de-DE" altLang="zh-CN" sz="3600" b="1" dirty="0">
                <a:solidFill>
                  <a:srgbClr val="2473D4"/>
                </a:solidFill>
                <a:latin typeface="Century Gothic" panose="020B0502020202020204" pitchFamily="34" charset="0"/>
              </a:rPr>
              <a:t> </a:t>
            </a:r>
            <a:r>
              <a:rPr lang="de-DE" altLang="zh-CN" sz="3600" b="1" dirty="0" err="1">
                <a:solidFill>
                  <a:srgbClr val="2473D4"/>
                </a:solidFill>
                <a:latin typeface="Century Gothic" panose="020B0502020202020204" pitchFamily="34" charset="0"/>
              </a:rPr>
              <a:t>You</a:t>
            </a:r>
            <a:endParaRPr lang="de-DE" altLang="zh-CN" sz="3600" dirty="0">
              <a:solidFill>
                <a:srgbClr val="2473D4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1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2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</p:tagLst>
</file>

<file path=ppt/tags/tag14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BEAUTIFY_FLAG" val=""/>
</p:tagLst>
</file>

<file path=ppt/tags/tag1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</p:tagLst>
</file>

<file path=ppt/tags/tag1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COMMONDATA" val="eyJoZGlkIjoiYzdhOTFjYzQ2YmI3N2MxOTk3NzUzOGVjMTg2YTkxZT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0325">
          <a:solidFill>
            <a:srgbClr val="EB864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演示</Application>
  <PresentationFormat>全屏显示(16:9)</PresentationFormat>
  <Paragraphs>170</Paragraphs>
  <Slides>27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24</vt:i4>
      </vt:variant>
      <vt:variant>
        <vt:lpstr>幻灯片标题</vt:lpstr>
      </vt:variant>
      <vt:variant>
        <vt:i4>27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Calibri Light</vt:lpstr>
      <vt:lpstr>Times New Roman</vt:lpstr>
      <vt:lpstr>微软雅黑</vt:lpstr>
      <vt:lpstr>Century Gothic</vt:lpstr>
      <vt:lpstr>等线</vt:lpstr>
      <vt:lpstr>Times New Roman</vt:lpstr>
      <vt:lpstr>黑体</vt:lpstr>
      <vt:lpstr>Arial Unicode MS</vt:lpstr>
      <vt:lpstr>Wingdings</vt:lpstr>
      <vt:lpstr>Office 主题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13_Office 主题</vt:lpstr>
      <vt:lpstr>12_Office 主题</vt:lpstr>
      <vt:lpstr>14_Office 主题</vt:lpstr>
      <vt:lpstr>15_Office 主题</vt:lpstr>
      <vt:lpstr>16_Office 主题</vt:lpstr>
      <vt:lpstr>17_Office 主题</vt:lpstr>
      <vt:lpstr>18_Office 主题</vt:lpstr>
      <vt:lpstr>19_Office 主题</vt:lpstr>
      <vt:lpstr>20_Office 主题</vt:lpstr>
      <vt:lpstr>21_Office 主题</vt:lpstr>
      <vt:lpstr>22_Office 主题</vt:lpstr>
      <vt:lpstr>23_Office 主题</vt:lpstr>
      <vt:lpstr>神经网络介绍</vt:lpstr>
      <vt:lpstr>PowerPoint 演示文稿</vt:lpstr>
      <vt:lpstr>教学目标和重难点</vt:lpstr>
      <vt:lpstr>什么是神经网络</vt:lpstr>
      <vt:lpstr>什么是神经网络</vt:lpstr>
      <vt:lpstr>什么是神经网络</vt:lpstr>
      <vt:lpstr>什么是神经网络</vt:lpstr>
      <vt:lpstr>什么是神经网络</vt:lpstr>
      <vt:lpstr>什么是神经网络</vt:lpstr>
      <vt:lpstr>什么是神经网络</vt:lpstr>
      <vt:lpstr>什么是神经网络</vt:lpstr>
      <vt:lpstr>什么是神经网络</vt:lpstr>
      <vt:lpstr>什么是神经网络</vt:lpstr>
      <vt:lpstr>单层神经网络诞生</vt:lpstr>
      <vt:lpstr>多层神经网络</vt:lpstr>
      <vt:lpstr>多层神经网络</vt:lpstr>
      <vt:lpstr>什么是深度学习</vt:lpstr>
      <vt:lpstr>相互关系</vt:lpstr>
      <vt:lpstr>如何将数据输入到神经网络中？</vt:lpstr>
      <vt:lpstr>如何将数据输入到神经网络中？</vt:lpstr>
      <vt:lpstr>神经网络是如何进行预测的?</vt:lpstr>
      <vt:lpstr>神经网络是如何进行预测的?</vt:lpstr>
      <vt:lpstr>神经网络是如何进行预测的?</vt:lpstr>
      <vt:lpstr>神经网络是如何进行预测的?</vt:lpstr>
      <vt:lpstr>神经网络是如何进行预测的?</vt:lpstr>
      <vt:lpstr>神经网络是如何进行预测的?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阳光下微笑</cp:lastModifiedBy>
  <cp:revision>1764</cp:revision>
  <cp:lastPrinted>2017-09-17T08:02:00Z</cp:lastPrinted>
  <dcterms:created xsi:type="dcterms:W3CDTF">2015-02-06T04:35:00Z</dcterms:created>
  <dcterms:modified xsi:type="dcterms:W3CDTF">2025-08-29T01:45:28Z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F4CD0D09F7AF41D39422C00DD5BCF470</vt:lpwstr>
  </property>
</Properties>
</file>