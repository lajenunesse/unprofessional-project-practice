
<file path=[Content_Types].xml><?xml version="1.0" encoding="utf-8"?>
<Types xmlns="http://schemas.openxmlformats.org/package/2006/content-types">
  <Default Extension="png" ContentType="image/png"/>
  <Default Extension="tiff" ContentType="image/tif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ink/ink1.xml" ContentType="application/inkml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56"/>
  </p:handoutMasterIdLst>
  <p:sldIdLst>
    <p:sldId id="423" r:id="rId3"/>
    <p:sldId id="6661148" r:id="rId5"/>
    <p:sldId id="6661187" r:id="rId6"/>
    <p:sldId id="6661245" r:id="rId7"/>
    <p:sldId id="601" r:id="rId8"/>
    <p:sldId id="6661190" r:id="rId9"/>
    <p:sldId id="6661263" r:id="rId10"/>
    <p:sldId id="6661264" r:id="rId11"/>
    <p:sldId id="6661266" r:id="rId12"/>
    <p:sldId id="6661267" r:id="rId13"/>
    <p:sldId id="6661268" r:id="rId14"/>
    <p:sldId id="6661270" r:id="rId15"/>
    <p:sldId id="6661271" r:id="rId16"/>
    <p:sldId id="6661272" r:id="rId17"/>
    <p:sldId id="6661275" r:id="rId18"/>
    <p:sldId id="6661276" r:id="rId19"/>
    <p:sldId id="6661277" r:id="rId20"/>
    <p:sldId id="6661250" r:id="rId21"/>
    <p:sldId id="6661278" r:id="rId22"/>
    <p:sldId id="6661280" r:id="rId23"/>
    <p:sldId id="6661281" r:id="rId24"/>
    <p:sldId id="6661282" r:id="rId25"/>
    <p:sldId id="6661283" r:id="rId26"/>
    <p:sldId id="6661284" r:id="rId27"/>
    <p:sldId id="6661287" r:id="rId28"/>
    <p:sldId id="6661285" r:id="rId29"/>
    <p:sldId id="6661288" r:id="rId30"/>
    <p:sldId id="6661289" r:id="rId31"/>
    <p:sldId id="6661290" r:id="rId32"/>
    <p:sldId id="6661291" r:id="rId33"/>
    <p:sldId id="6661294" r:id="rId34"/>
    <p:sldId id="6661293" r:id="rId35"/>
    <p:sldId id="6661295" r:id="rId36"/>
    <p:sldId id="6661251" r:id="rId37"/>
    <p:sldId id="6661296" r:id="rId38"/>
    <p:sldId id="6661297" r:id="rId39"/>
    <p:sldId id="6661298" r:id="rId40"/>
    <p:sldId id="6661299" r:id="rId41"/>
    <p:sldId id="6661300" r:id="rId42"/>
    <p:sldId id="6661301" r:id="rId43"/>
    <p:sldId id="6661302" r:id="rId44"/>
    <p:sldId id="6661303" r:id="rId45"/>
    <p:sldId id="6661304" r:id="rId46"/>
    <p:sldId id="6661305" r:id="rId47"/>
    <p:sldId id="6661306" r:id="rId48"/>
    <p:sldId id="6661307" r:id="rId49"/>
    <p:sldId id="6661308" r:id="rId50"/>
    <p:sldId id="6661309" r:id="rId51"/>
    <p:sldId id="6661252" r:id="rId52"/>
    <p:sldId id="6661310" r:id="rId53"/>
    <p:sldId id="6661156" r:id="rId54"/>
    <p:sldId id="595" r:id="rId55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6pPr>
    <a:lvl7pPr marL="2057400" algn="l" defTabSz="6858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7pPr>
    <a:lvl8pPr marL="2400300" algn="l" defTabSz="6858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8pPr>
    <a:lvl9pPr marL="2743200" algn="l" defTabSz="6858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YG" initials="W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177DFF"/>
    <a:srgbClr val="A934EA"/>
    <a:srgbClr val="3AFF24"/>
    <a:srgbClr val="2473D4"/>
    <a:srgbClr val="39F024"/>
    <a:srgbClr val="3AFD24"/>
    <a:srgbClr val="EB8642"/>
    <a:srgbClr val="38B92A"/>
    <a:srgbClr val="38F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85240" autoAdjust="0"/>
  </p:normalViewPr>
  <p:slideViewPr>
    <p:cSldViewPr snapToGrid="0">
      <p:cViewPr varScale="1">
        <p:scale>
          <a:sx n="80" d="100"/>
          <a:sy n="80" d="100"/>
        </p:scale>
        <p:origin x="-1098" y="-90"/>
      </p:cViewPr>
      <p:guideLst>
        <p:guide orient="horz" pos="2940"/>
        <p:guide orient="horz" pos="2941"/>
        <p:guide orient="horz" pos="2893"/>
        <p:guide pos="4148"/>
        <p:guide pos="4151"/>
        <p:guide pos="414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549"/>
    </p:cViewPr>
  </p:sorterViewPr>
  <p:notesViewPr>
    <p:cSldViewPr snapToGrid="0">
      <p:cViewPr varScale="1">
        <p:scale>
          <a:sx n="80" d="100"/>
          <a:sy n="80" d="100"/>
        </p:scale>
        <p:origin x="2727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commentAuthors" Target="commentAuthors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2E2A184-F121-1047-8EE2-16CE569B1E91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B5E0062-7739-D649-9234-308A3868690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11" min="-69" units="cm"/>
        </inkml:traceFormat>
        <inkml:channelProperties>
          <inkml:channelProperty channel="X" name="resolution" value="112.15017" units="1/cm"/>
          <inkml:channelProperty channel="Y" name="resolution" value="65.45454" units="1/cm"/>
        </inkml:channelProperties>
      </inkml:inkSource>
      <inkml:timestamp xml:id="ts0" timeString="2021-11-09T08:20: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5305 7183,'13'0,"0"0,1 0,-1 0,13 0,-12 0,12 0,-13 0,14 0,-14 0,13 0,-12 0,-1 0,13 0,-13 0,1 0,-1 14,0-14,0 0,1 0,-1 0,0 0,14 0,-1 0,14 0,-27 0,13 0,1 0,-1 0,-12 0,12 0,-13 0,14 0,-14 0,27 0,-14 0,-13 0,1 0,-1 0,0 0,0 0,0 0,1 0,12 0,-13 0,14 0,-14 0,13 0,-12 0,-1 0,13 0,-12 0,-1 0,0 0,14 0,-1 0,-13-14,0 14,1 0,12 0,-13 0,14 0,-14 0,14 0,-1 0,0-13,1 13,-1 0,-12 0,-1 0,0 0,0 0,1 0,-1 0,0 0,0 0,14-13,-14 13,13 0,1 0,-14 0,13-13,-12 13,25 0,-25-13,12 13,-13 0,27 0,-27 0,14 0,-14 0,0 0,0 0,1 0,12 0,1 0,-14 0,0 0,0 0,0 0,14 0,-1 0,-12 0,25 0,-12 0,-14 0,27 0,-14 0,1 0,-14 0,13 0,1 0,-1 0,-13 0,14 0,-14 0,27 0,-1 0,-12 0,-1 0,-12 0,25-27,-25 27,-1 0,0 0,13 0,-12 0,25 0,-25 0,12 0,-13 0,1 0,-1 0,13 0,-13 0,1 0,-1 0,0 0,0 0,1 0,12 0,-13 0,14 0,12 0,-25 0,12 0,1 0,-14 0,0 0,0 0,14 0,-14 0,13 0,-12 0,12 0,1 0,-14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4068CC4-66C6-444B-AE35-DDB0F6141FAF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A68A802-B4B4-F544-815E-49C88522108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8362F-9F43-4429-AF5E-7A10B40324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sv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8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0.png"/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1" Type="http://schemas.openxmlformats.org/officeDocument/2006/relationships/hyperlink" Target="https://github.com/tzutalin/labelIm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jpe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1" Type="http://schemas.openxmlformats.org/officeDocument/2006/relationships/image" Target="../media/image2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4.jpeg"/><Relationship Id="rId1" Type="http://schemas.openxmlformats.org/officeDocument/2006/relationships/image" Target="../media/image33.jpe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0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0" y="1652760"/>
            <a:ext cx="6067424" cy="1691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3200" dirty="0" smtClean="0"/>
              <a:t>图像数据标注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MH_Others_1"/>
          <p:cNvSpPr txBox="1"/>
          <p:nvPr>
            <p:custDataLst>
              <p:tags r:id="rId1"/>
            </p:custDataLst>
          </p:nvPr>
        </p:nvSpPr>
        <p:spPr>
          <a:xfrm>
            <a:off x="1260164" y="1326288"/>
            <a:ext cx="914096" cy="2023894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950" b="1" dirty="0">
                <a:solidFill>
                  <a:srgbClr val="177D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目录</a:t>
            </a:r>
            <a:endParaRPr lang="zh-CN" altLang="en-US" sz="4950" b="1" dirty="0">
              <a:solidFill>
                <a:srgbClr val="177D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9" name="MH_Others_2"/>
          <p:cNvSpPr txBox="1"/>
          <p:nvPr>
            <p:custDataLst>
              <p:tags r:id="rId2"/>
            </p:custDataLst>
          </p:nvPr>
        </p:nvSpPr>
        <p:spPr>
          <a:xfrm rot="5400000">
            <a:off x="259755" y="2225033"/>
            <a:ext cx="1759721" cy="251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500" b="1" dirty="0">
                <a:solidFill>
                  <a:srgbClr val="177D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CONTENTS</a:t>
            </a:r>
            <a:endParaRPr lang="zh-CN" altLang="en-US" sz="1500" b="1" dirty="0">
              <a:solidFill>
                <a:srgbClr val="177D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1" name="MH_Entry_1"/>
          <p:cNvSpPr/>
          <p:nvPr>
            <p:custDataLst>
              <p:tags r:id="rId3"/>
            </p:custDataLst>
          </p:nvPr>
        </p:nvSpPr>
        <p:spPr>
          <a:xfrm>
            <a:off x="2737193" y="1383453"/>
            <a:ext cx="3082694" cy="332399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数据标注环境搭建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5" name="MH_Entry_3"/>
          <p:cNvSpPr/>
          <p:nvPr>
            <p:custDataLst>
              <p:tags r:id="rId4"/>
            </p:custDataLst>
          </p:nvPr>
        </p:nvSpPr>
        <p:spPr>
          <a:xfrm>
            <a:off x="2706711" y="1895458"/>
            <a:ext cx="3876651" cy="30405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LabelImg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工具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使用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MH_Entry_3"/>
          <p:cNvSpPr/>
          <p:nvPr>
            <p:custDataLst>
              <p:tags r:id="rId5"/>
            </p:custDataLst>
          </p:nvPr>
        </p:nvSpPr>
        <p:spPr>
          <a:xfrm>
            <a:off x="2728783" y="2372779"/>
            <a:ext cx="4100488" cy="332399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 smtClean="0">
                <a:solidFill>
                  <a:schemeClr val="accent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Labelme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工具使用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MH_Number_3"/>
          <p:cNvSpPr/>
          <p:nvPr>
            <p:custDataLst>
              <p:tags r:id="rId6"/>
            </p:custDataLst>
          </p:nvPr>
        </p:nvSpPr>
        <p:spPr>
          <a:xfrm>
            <a:off x="2342990" y="1408092"/>
            <a:ext cx="283105" cy="28312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sz="12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3" name="MH_Number_3"/>
          <p:cNvSpPr/>
          <p:nvPr>
            <p:custDataLst>
              <p:tags r:id="rId7"/>
            </p:custDataLst>
          </p:nvPr>
        </p:nvSpPr>
        <p:spPr>
          <a:xfrm>
            <a:off x="2342991" y="1905927"/>
            <a:ext cx="283105" cy="28312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sz="12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4" name="MH_Number_3"/>
          <p:cNvSpPr/>
          <p:nvPr>
            <p:custDataLst>
              <p:tags r:id="rId8"/>
            </p:custDataLst>
          </p:nvPr>
        </p:nvSpPr>
        <p:spPr>
          <a:xfrm>
            <a:off x="2342989" y="2390005"/>
            <a:ext cx="283105" cy="28312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sz="12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7" name="MH_Entry_3"/>
          <p:cNvSpPr/>
          <p:nvPr>
            <p:custDataLst>
              <p:tags r:id="rId9"/>
            </p:custDataLst>
          </p:nvPr>
        </p:nvSpPr>
        <p:spPr>
          <a:xfrm>
            <a:off x="2728785" y="2923017"/>
            <a:ext cx="4100488" cy="30405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标注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应用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MH_Number_3"/>
          <p:cNvSpPr/>
          <p:nvPr>
            <p:custDataLst>
              <p:tags r:id="rId10"/>
            </p:custDataLst>
          </p:nvPr>
        </p:nvSpPr>
        <p:spPr>
          <a:xfrm>
            <a:off x="2342991" y="2926073"/>
            <a:ext cx="283105" cy="28312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endParaRPr lang="zh-CN" altLang="en-US" sz="12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867" y="420087"/>
            <a:ext cx="7116105" cy="513327"/>
          </a:xfrm>
        </p:spPr>
        <p:txBody>
          <a:bodyPr/>
          <a:lstStyle/>
          <a:p>
            <a:r>
              <a:rPr lang="zh-CN" altLang="en-US" sz="2400" dirty="0"/>
              <a:t>教学目标和重难点</a:t>
            </a:r>
            <a:endParaRPr lang="zh-CN" altLang="en-US" sz="2400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2" y="1085869"/>
            <a:ext cx="5782588" cy="3200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500" dirty="0">
                <a:solidFill>
                  <a:srgbClr val="177DFF"/>
                </a:solidFill>
                <a:latin typeface="+mj-ea"/>
                <a:ea typeface="+mj-ea"/>
              </a:rPr>
              <a:t>教学目标</a:t>
            </a:r>
            <a:endParaRPr lang="en-US" altLang="zh-CN" sz="1500" dirty="0">
              <a:solidFill>
                <a:srgbClr val="177DFF"/>
              </a:solidFill>
              <a:latin typeface="+mj-ea"/>
              <a:ea typeface="+mj-ea"/>
            </a:endParaRPr>
          </a:p>
          <a:p>
            <a:pPr marL="59499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500" b="0" dirty="0" smtClean="0">
                <a:cs typeface="黑体" panose="02010609060101010101" charset="-122"/>
              </a:rPr>
              <a:t>理解数据标注的概念和意义</a:t>
            </a:r>
            <a:endParaRPr lang="en-US" altLang="zh-CN" sz="1500" b="0" dirty="0" smtClean="0">
              <a:cs typeface="黑体" panose="02010609060101010101" charset="-122"/>
            </a:endParaRPr>
          </a:p>
          <a:p>
            <a:pPr marL="59499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500" b="0" dirty="0" smtClean="0">
                <a:cs typeface="黑体" panose="02010609060101010101" charset="-122"/>
              </a:rPr>
              <a:t>熟悉数据标注的常见分类</a:t>
            </a:r>
            <a:endParaRPr lang="en-US" altLang="zh-CN" sz="1500" b="0" dirty="0" smtClean="0">
              <a:cs typeface="黑体" panose="02010609060101010101" charset="-122"/>
            </a:endParaRPr>
          </a:p>
          <a:p>
            <a:pPr marL="59499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500" b="0" dirty="0" smtClean="0">
                <a:cs typeface="黑体" panose="02010609060101010101" charset="-122"/>
              </a:rPr>
              <a:t>掌握数据标注环境搭建</a:t>
            </a:r>
            <a:endParaRPr lang="en-US" altLang="zh-CN" sz="1500" b="0" dirty="0" smtClean="0">
              <a:cs typeface="黑体" panose="02010609060101010101" charset="-122"/>
            </a:endParaRPr>
          </a:p>
          <a:p>
            <a:pPr marL="59499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 smtClean="0"/>
              <a:t>熟悉数据标注的流程</a:t>
            </a:r>
            <a:endParaRPr lang="en-US" altLang="zh-CN" sz="1600" b="0" dirty="0" smtClean="0"/>
          </a:p>
          <a:p>
            <a:pPr marL="594995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b="0" dirty="0" smtClean="0"/>
          </a:p>
        </p:txBody>
      </p:sp>
      <p:sp>
        <p:nvSpPr>
          <p:cNvPr id="11" name="矩形: 圆角 15"/>
          <p:cNvSpPr/>
          <p:nvPr/>
        </p:nvSpPr>
        <p:spPr>
          <a:xfrm>
            <a:off x="4983521" y="3067669"/>
            <a:ext cx="587872" cy="26722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重点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003099" y="1917398"/>
            <a:ext cx="4568294" cy="0"/>
          </a:xfrm>
          <a:prstGeom prst="line">
            <a:avLst/>
          </a:prstGeom>
          <a:ln w="19050"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95468" y="2403284"/>
            <a:ext cx="4575925" cy="0"/>
          </a:xfrm>
          <a:prstGeom prst="line">
            <a:avLst/>
          </a:prstGeom>
          <a:ln w="19050"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95467" y="2863516"/>
            <a:ext cx="4575926" cy="0"/>
          </a:xfrm>
          <a:prstGeom prst="line">
            <a:avLst/>
          </a:prstGeom>
          <a:ln w="19050"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5"/>
          <p:cNvSpPr/>
          <p:nvPr/>
        </p:nvSpPr>
        <p:spPr>
          <a:xfrm>
            <a:off x="4983521" y="2567465"/>
            <a:ext cx="587872" cy="26722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重点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999283" y="3334892"/>
            <a:ext cx="4575926" cy="0"/>
          </a:xfrm>
          <a:prstGeom prst="line">
            <a:avLst/>
          </a:prstGeom>
          <a:ln w="19050"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68769" y="762697"/>
            <a:ext cx="5214594" cy="189271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dirty="0" smtClean="0"/>
              <a:t>数据标注环境搭建</a:t>
            </a:r>
            <a:endParaRPr lang="zh-CN" altLang="en-US" dirty="0"/>
          </a:p>
        </p:txBody>
      </p:sp>
      <p:sp>
        <p:nvSpPr>
          <p:cNvPr id="4" name="MH_Number_3"/>
          <p:cNvSpPr/>
          <p:nvPr>
            <p:custDataLst>
              <p:tags r:id="rId1"/>
            </p:custDataLst>
          </p:nvPr>
        </p:nvSpPr>
        <p:spPr>
          <a:xfrm>
            <a:off x="804414" y="1532153"/>
            <a:ext cx="429981" cy="430004"/>
          </a:xfrm>
          <a:prstGeom prst="ellipse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sz="2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4" name="文本占位符 3"/>
          <p:cNvSpPr txBox="1"/>
          <p:nvPr/>
        </p:nvSpPr>
        <p:spPr bwMode="auto">
          <a:xfrm>
            <a:off x="766919" y="1812360"/>
            <a:ext cx="4778263" cy="2050144"/>
          </a:xfrm>
          <a:prstGeom prst="rect">
            <a:avLst/>
          </a:prstGeom>
          <a:noFill/>
          <a:ln w="9525">
            <a:solidFill>
              <a:srgbClr val="00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ts val="2000"/>
              </a:lnSpc>
              <a:buAutoNum type="arabicParenBoth"/>
            </a:pPr>
            <a:r>
              <a:rPr lang="zh-CN" altLang="en-US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操作系统版本：</a:t>
            </a:r>
            <a:r>
              <a:rPr lang="en-US" altLang="zh-CN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Windows 10 64</a:t>
            </a:r>
            <a:r>
              <a:rPr lang="zh-CN" altLang="en-US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位</a:t>
            </a:r>
            <a:endParaRPr lang="en-US" altLang="zh-CN" sz="1400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 algn="just">
              <a:lnSpc>
                <a:spcPts val="2000"/>
              </a:lnSpc>
              <a:buAutoNum type="arabicParenBoth"/>
            </a:pPr>
            <a:r>
              <a:rPr lang="zh-CN" altLang="en-US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安装环境：</a:t>
            </a:r>
            <a:r>
              <a:rPr lang="en-US" altLang="zh-CN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Python3.6 </a:t>
            </a:r>
            <a:r>
              <a:rPr lang="zh-CN" altLang="en-US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及以上版本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+ PyQt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</a:t>
            </a:r>
            <a:endParaRPr lang="en-US" altLang="zh-CN" sz="1400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 algn="just">
              <a:lnSpc>
                <a:spcPts val="2000"/>
              </a:lnSpc>
              <a:buAutoNum type="arabicParenBoth"/>
            </a:pPr>
            <a:r>
              <a:rPr lang="zh-CN" altLang="en-US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标注工具：</a:t>
            </a:r>
            <a:r>
              <a:rPr lang="en-US" altLang="zh-CN" sz="1400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LabelImg</a:t>
            </a:r>
            <a:r>
              <a:rPr lang="en-US" altLang="zh-CN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zh-CN" altLang="en-US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和 </a:t>
            </a:r>
            <a:r>
              <a:rPr lang="en-US" altLang="zh-CN" sz="1400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Labelme</a:t>
            </a:r>
            <a:endParaRPr lang="en-US" altLang="zh-CN" sz="1400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AutoShape 3" descr="D:\课程\6自动驾驶\课程\实验指导书\image\红绿灯数据采集流程图.png?lastModify=163609008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AutoShape 5" descr="D:\课程\6自动驾驶\课程\实验指导书\image\红绿灯数据采集流程图.png?lastModify=1636090089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占位符 3"/>
          <p:cNvSpPr txBox="1"/>
          <p:nvPr/>
        </p:nvSpPr>
        <p:spPr bwMode="auto">
          <a:xfrm>
            <a:off x="643612" y="1238270"/>
            <a:ext cx="5778704" cy="358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1600" dirty="0" smtClean="0">
                <a:latin typeface="+mj-ea"/>
                <a:ea typeface="+mj-ea"/>
              </a:rPr>
              <a:t>Window</a:t>
            </a:r>
            <a:r>
              <a:rPr lang="zh-CN" altLang="en-US" sz="1500" dirty="0" smtClean="0">
                <a:latin typeface="+mj-ea"/>
                <a:ea typeface="+mj-ea"/>
              </a:rPr>
              <a:t>平台搭数据标注环境</a:t>
            </a:r>
            <a:endParaRPr lang="en-US" altLang="zh-CN" sz="150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2" y="1238270"/>
            <a:ext cx="5778704" cy="675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smtClean="0">
                <a:latin typeface="+mj-ea"/>
                <a:ea typeface="+mj-ea"/>
              </a:rPr>
              <a:t>Python3.8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/>
            <a:r>
              <a:rPr lang="en-US" altLang="zh-CN" sz="1400" b="0" dirty="0">
                <a:latin typeface="+mj-ea"/>
                <a:ea typeface="+mj-ea"/>
              </a:rPr>
              <a:t> </a:t>
            </a:r>
            <a:r>
              <a:rPr lang="en-US" altLang="zh-CN" sz="1400" b="0" dirty="0" smtClean="0">
                <a:latin typeface="+mj-ea"/>
                <a:ea typeface="+mj-ea"/>
              </a:rPr>
              <a:t>    </a:t>
            </a:r>
            <a:r>
              <a:rPr lang="zh-CN" altLang="en-US" sz="1400" b="0" dirty="0" smtClean="0">
                <a:latin typeface="+mj-ea"/>
                <a:ea typeface="+mj-ea"/>
              </a:rPr>
              <a:t>下载地址：</a:t>
            </a:r>
            <a:r>
              <a:rPr lang="zh-CN" alt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https://www.python.org/downloads/release/python-383/</a:t>
            </a:r>
            <a:endParaRPr lang="zh-CN" altLang="en-US" sz="1400" b="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6532" y="1913709"/>
            <a:ext cx="5052863" cy="1923355"/>
          </a:xfrm>
          <a:prstGeom prst="rect">
            <a:avLst/>
          </a:prstGeom>
        </p:spPr>
      </p:pic>
      <p:sp>
        <p:nvSpPr>
          <p:cNvPr id="8" name="文本占位符 3"/>
          <p:cNvSpPr txBox="1"/>
          <p:nvPr/>
        </p:nvSpPr>
        <p:spPr bwMode="auto">
          <a:xfrm>
            <a:off x="1006532" y="4140926"/>
            <a:ext cx="4778263" cy="346165"/>
          </a:xfrm>
          <a:prstGeom prst="rect">
            <a:avLst/>
          </a:prstGeom>
          <a:noFill/>
          <a:ln w="9525">
            <a:solidFill>
              <a:srgbClr val="00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ts val="2000"/>
              </a:lnSpc>
            </a:pPr>
            <a:r>
              <a:rPr lang="zh-CN" altLang="en-US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下载相应版本，双击安装文件进行安装。</a:t>
            </a:r>
            <a:endParaRPr lang="en-US" altLang="zh-CN" sz="1400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2" y="1238270"/>
            <a:ext cx="5778704" cy="337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smtClean="0">
                <a:latin typeface="+mj-ea"/>
                <a:ea typeface="+mj-ea"/>
              </a:rPr>
              <a:t>Python3.8</a:t>
            </a:r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sp>
        <p:nvSpPr>
          <p:cNvPr id="8" name="文本占位符 3"/>
          <p:cNvSpPr txBox="1"/>
          <p:nvPr/>
        </p:nvSpPr>
        <p:spPr bwMode="auto">
          <a:xfrm>
            <a:off x="1005786" y="4121333"/>
            <a:ext cx="4778263" cy="346165"/>
          </a:xfrm>
          <a:prstGeom prst="rect">
            <a:avLst/>
          </a:prstGeom>
          <a:noFill/>
          <a:ln w="9525">
            <a:solidFill>
              <a:srgbClr val="00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ts val="2000"/>
              </a:lnSpc>
            </a:pPr>
            <a:r>
              <a:rPr lang="zh-CN" altLang="en-US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选择</a:t>
            </a:r>
            <a:r>
              <a:rPr lang="en-US" altLang="zh-CN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Next </a:t>
            </a:r>
            <a:r>
              <a:rPr lang="zh-CN" altLang="en-US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进入下一步</a:t>
            </a:r>
            <a:endParaRPr lang="en-US" altLang="zh-CN" sz="1400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786" y="1717765"/>
            <a:ext cx="2789114" cy="17151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900" y="1717764"/>
            <a:ext cx="2789114" cy="17151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2" y="1238270"/>
            <a:ext cx="5778704" cy="337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smtClean="0">
                <a:latin typeface="+mj-ea"/>
                <a:ea typeface="+mj-ea"/>
              </a:rPr>
              <a:t>Python3.8</a:t>
            </a:r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sp>
        <p:nvSpPr>
          <p:cNvPr id="8" name="文本占位符 3"/>
          <p:cNvSpPr txBox="1"/>
          <p:nvPr/>
        </p:nvSpPr>
        <p:spPr bwMode="auto">
          <a:xfrm>
            <a:off x="1005786" y="4121333"/>
            <a:ext cx="4778263" cy="346165"/>
          </a:xfrm>
          <a:prstGeom prst="rect">
            <a:avLst/>
          </a:prstGeom>
          <a:noFill/>
          <a:ln w="9525">
            <a:solidFill>
              <a:srgbClr val="00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ts val="2000"/>
              </a:lnSpc>
            </a:pPr>
            <a:r>
              <a:rPr lang="zh-CN" altLang="en-US" sz="1400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勾选添加环境变量，选择安装目录</a:t>
            </a:r>
            <a:endParaRPr lang="en-US" altLang="zh-CN" sz="1400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786" y="1783081"/>
            <a:ext cx="3066428" cy="188568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214" y="1783081"/>
            <a:ext cx="3066320" cy="18856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1909800" y="2557440"/>
              <a:ext cx="1124280" cy="3384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1909800" y="2557440"/>
                <a:ext cx="1124280" cy="3384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1" y="1238270"/>
            <a:ext cx="5378366" cy="1493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smtClean="0">
                <a:latin typeface="+mj-ea"/>
                <a:ea typeface="+mj-ea"/>
              </a:rPr>
              <a:t>Python3.8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0" dirty="0" smtClean="0">
                <a:latin typeface="+mj-ea"/>
                <a:ea typeface="+mj-ea"/>
              </a:rPr>
              <a:t> </a:t>
            </a:r>
            <a:r>
              <a:rPr lang="zh-CN" altLang="en-US" sz="1200" b="0" dirty="0" smtClean="0">
                <a:latin typeface="+mj-ea"/>
                <a:ea typeface="+mj-ea"/>
              </a:rPr>
              <a:t>环境变量的配置：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右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击此电脑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更改配置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高级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环境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在安装过程中，没有选择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Python 3.8 to PATH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，我们需要点击新建，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分别   添加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：C:\Python38和C:\Python38\Scripts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2139" r="2125" b="58699"/>
          <a:stretch>
            <a:fillRect/>
          </a:stretch>
        </p:blipFill>
        <p:spPr>
          <a:xfrm>
            <a:off x="1182133" y="2731952"/>
            <a:ext cx="4434205" cy="2015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1" y="1238270"/>
            <a:ext cx="5378366" cy="8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smtClean="0">
                <a:latin typeface="+mj-ea"/>
                <a:ea typeface="+mj-ea"/>
              </a:rPr>
              <a:t>Python3.8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0" dirty="0" smtClean="0">
                <a:latin typeface="+mj-ea"/>
                <a:ea typeface="+mj-ea"/>
              </a:rPr>
              <a:t> </a:t>
            </a:r>
            <a:r>
              <a:rPr lang="en-US" altLang="zh-CN" sz="1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Windows+r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打开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运行，输入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回车。在命令行窗口输入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</a:pP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223" r="4650" b="63931"/>
          <a:stretch>
            <a:fillRect/>
          </a:stretch>
        </p:blipFill>
        <p:spPr>
          <a:xfrm>
            <a:off x="1029517" y="2116183"/>
            <a:ext cx="4855300" cy="15960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1" y="1238270"/>
            <a:ext cx="5378366" cy="330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smtClean="0">
                <a:latin typeface="+mj-ea"/>
                <a:ea typeface="+mj-ea"/>
              </a:rPr>
              <a:t>PyQt5</a:t>
            </a:r>
            <a:r>
              <a:rPr lang="zh-CN" altLang="en-US" sz="1600" dirty="0" smtClean="0">
                <a:latin typeface="+mj-ea"/>
                <a:ea typeface="+mj-ea"/>
              </a:rPr>
              <a:t>与</a:t>
            </a:r>
            <a:r>
              <a:rPr lang="en-US" altLang="zh-CN" sz="1600" dirty="0" err="1" smtClean="0">
                <a:latin typeface="+mj-ea"/>
                <a:ea typeface="+mj-ea"/>
              </a:rPr>
              <a:t>lxml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457200" lvl="1" indent="0" algn="just">
              <a:lnSpc>
                <a:spcPct val="150000"/>
              </a:lnSpc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</a:pP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586" y="1732328"/>
            <a:ext cx="5300980" cy="1157516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71" y="3020473"/>
            <a:ext cx="5285195" cy="7969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1" y="1238270"/>
            <a:ext cx="5378366" cy="1955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err="1" smtClean="0">
                <a:latin typeface="+mj-ea"/>
                <a:ea typeface="+mj-ea"/>
              </a:rPr>
              <a:t>LabelImg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4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LabelImg</a:t>
            </a:r>
            <a:r>
              <a:rPr lang="zh-CN" alt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是一款免费的图像标注工具，通过创建矩形框及标签标注相应区域内容。最终得到标注的矩形框的位置和大小，以及标签属性的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zh-CN" alt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文件。机器学习模型可以获取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zh-CN" alt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文件中的标注信息，从而获取图像内容，最终达到学习的目的。</a:t>
            </a:r>
            <a:endParaRPr lang="zh-CN" alt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161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err="1" smtClean="0">
                <a:latin typeface="+mj-ea"/>
                <a:ea typeface="+mj-ea"/>
              </a:rPr>
              <a:t>LabelImg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1. </a:t>
            </a:r>
            <a:r>
              <a:rPr lang="en-US" altLang="zh-CN" sz="1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LabelImg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下载地址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https://github.com/tzutalin/labelImg</a:t>
            </a:r>
            <a:endParaRPr lang="en-US" altLang="zh-CN" sz="12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2.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将下载的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zip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文件解压，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将解压的目录</a:t>
            </a:r>
            <a:r>
              <a:rPr lang="en-US" altLang="zh-CN" sz="1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labelImg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-master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放到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盘。</a:t>
            </a:r>
            <a:r>
              <a:rPr lang="en-US" altLang="zh-CN" sz="1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LabelImg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不用安装，直接解压就可以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注意：解压目录任意，不要包含中文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97" y="2856749"/>
            <a:ext cx="5051794" cy="19018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161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err="1" smtClean="0">
                <a:latin typeface="+mj-ea"/>
                <a:ea typeface="+mj-ea"/>
              </a:rPr>
              <a:t>LabelImg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3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在命令行窗口执行：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pyrcc5 -o resources.py </a:t>
            </a:r>
            <a:r>
              <a:rPr lang="en-US" altLang="zh-CN" sz="1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resources.qrc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将 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文件格式转为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格式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4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C:\labelImg-master\resources.py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拷贝到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C:\labelImg-master\libs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目录中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5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打开命令行窗口，进入 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labelImg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-master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目录，执行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labelImg.py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启动软件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377" y="2687705"/>
            <a:ext cx="2437719" cy="2165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1" y="1238270"/>
            <a:ext cx="5378366" cy="1955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err="1" smtClean="0">
                <a:latin typeface="+mj-ea"/>
                <a:ea typeface="+mj-ea"/>
              </a:rPr>
              <a:t>Labelme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4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Labelme</a:t>
            </a:r>
            <a:r>
              <a:rPr lang="en-US" altLang="zh-CN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是一款免费多边形图像标注软件，可以用来标注图像中不同形状的内容，通过选择标注位置的转折位置，形成闭合区域，并标注标签。最终生成含有多层区域标注信息和信息 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</a:t>
            </a:r>
            <a:r>
              <a:rPr lang="zh-CN" alt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文件，通过解析 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</a:t>
            </a:r>
            <a:r>
              <a:rPr lang="zh-CN" alt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文件的内容来获得图像内容。</a:t>
            </a:r>
            <a:endParaRPr lang="zh-CN" alt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161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err="1" smtClean="0">
                <a:latin typeface="+mj-ea"/>
                <a:ea typeface="+mj-ea"/>
              </a:rPr>
              <a:t>Labelme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1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Labelme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下载地址：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github.com/wkentaro/labelme</a:t>
            </a:r>
            <a:endParaRPr lang="en-US" altLang="zh-CN" sz="12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将下载的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zip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文件解压，将解压的目录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labelme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-master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放到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盘。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Labelme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需要安装后才能使用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注意：解压目录任意，不要包含中文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121" y="2745701"/>
            <a:ext cx="5674045" cy="21024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数据标注环境搭建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1"/>
            <a:ext cx="7527207" cy="1187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安装</a:t>
            </a:r>
            <a:r>
              <a:rPr lang="en-US" altLang="zh-CN" sz="1600" dirty="0" err="1" smtClean="0">
                <a:latin typeface="+mj-ea"/>
                <a:ea typeface="+mj-ea"/>
              </a:rPr>
              <a:t>Labelme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3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打开命令行界面，进入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C:\labelme-master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目录，执行命令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labelme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4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安装完成后，在命令行输入 </a:t>
            </a:r>
            <a:r>
              <a:rPr lang="en-US" altLang="zh-CN" sz="1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labelme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打开软件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47" y="2299221"/>
            <a:ext cx="2870077" cy="2540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68769" y="762697"/>
            <a:ext cx="5214594" cy="189271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dirty="0" err="1" smtClean="0"/>
              <a:t>LabelImg</a:t>
            </a:r>
            <a:r>
              <a:rPr lang="zh-CN" altLang="en-US" dirty="0" smtClean="0"/>
              <a:t>工具使用</a:t>
            </a:r>
            <a:endParaRPr lang="zh-CN" altLang="en-US" dirty="0"/>
          </a:p>
        </p:txBody>
      </p:sp>
      <p:sp>
        <p:nvSpPr>
          <p:cNvPr id="4" name="MH_Number_3"/>
          <p:cNvSpPr/>
          <p:nvPr>
            <p:custDataLst>
              <p:tags r:id="rId1"/>
            </p:custDataLst>
          </p:nvPr>
        </p:nvSpPr>
        <p:spPr>
          <a:xfrm>
            <a:off x="804414" y="1532153"/>
            <a:ext cx="429981" cy="430004"/>
          </a:xfrm>
          <a:prstGeom prst="ellipse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sz="2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LabelImg</a:t>
            </a:r>
            <a:r>
              <a:rPr lang="zh-CN" altLang="en-US" dirty="0"/>
              <a:t>工具使用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348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LabelImg</a:t>
            </a:r>
            <a:r>
              <a:rPr lang="zh-CN" altLang="en-US" sz="1600" dirty="0" smtClean="0">
                <a:latin typeface="+mj-ea"/>
                <a:ea typeface="+mj-ea"/>
              </a:rPr>
              <a:t>功能介绍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" y="1658610"/>
            <a:ext cx="4815840" cy="2991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LabelImg</a:t>
            </a:r>
            <a:r>
              <a:rPr lang="zh-CN" altLang="en-US" dirty="0"/>
              <a:t>工具使用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143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LabelImg</a:t>
            </a:r>
            <a:r>
              <a:rPr lang="zh-CN" altLang="en-US" sz="1600" dirty="0" smtClean="0">
                <a:latin typeface="+mj-ea"/>
                <a:ea typeface="+mj-ea"/>
              </a:rPr>
              <a:t>功能介绍：数据集格式</a:t>
            </a:r>
            <a:endParaRPr lang="en-US" altLang="zh-CN" sz="1600" dirty="0">
              <a:latin typeface="+mj-ea"/>
              <a:ea typeface="+mj-ea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PascalVOC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：生成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文件，以像素来描述选框的角点</a:t>
            </a:r>
            <a:endParaRPr lang="zh-CN" altLang="en-US" sz="12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YOLO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：生成两个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文件，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classes.txt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保存标签，选框数据依次为标签下标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归一化后的中心点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X/Y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坐标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归一化后的选框宽度</a:t>
            </a: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高度</a:t>
            </a:r>
            <a:endParaRPr lang="zh-CN" altLang="en-US" sz="12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" y="2402681"/>
            <a:ext cx="2689225" cy="205798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262" y="2670810"/>
            <a:ext cx="4186555" cy="8585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文本框 22"/>
          <p:cNvSpPr txBox="1"/>
          <p:nvPr/>
        </p:nvSpPr>
        <p:spPr>
          <a:xfrm>
            <a:off x="1036320" y="4514007"/>
            <a:ext cx="1706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PascalVOC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3"/>
          <p:cNvSpPr txBox="1"/>
          <p:nvPr/>
        </p:nvSpPr>
        <p:spPr>
          <a:xfrm>
            <a:off x="3984262" y="3615824"/>
            <a:ext cx="1275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YOLO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LabelImg</a:t>
            </a:r>
            <a:r>
              <a:rPr lang="zh-CN" altLang="en-US" dirty="0"/>
              <a:t>工具使用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2678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LabelImg</a:t>
            </a:r>
            <a:r>
              <a:rPr lang="zh-CN" altLang="en-US" sz="1600" dirty="0" smtClean="0">
                <a:latin typeface="+mj-ea"/>
                <a:ea typeface="+mj-ea"/>
              </a:rPr>
              <a:t>功能介绍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628650" lvl="1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Image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：标记为已验证状态，背景会被改变；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Label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：对标注错误的标签进行修改；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：可将难以分辨的选框标签标注为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模式，在训练的时候我们可以对这些标签选择用还是不用。此选项对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格式不起作用；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default label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：如果我们在数据集中只标注一种标签，比如“桌子”，可以使用此选项为选框自动标注成“桌子”。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LabelImg</a:t>
            </a:r>
            <a:r>
              <a:rPr lang="zh-CN" altLang="en-US" dirty="0"/>
              <a:t>工具使用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2678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LabelImg</a:t>
            </a:r>
            <a:r>
              <a:rPr lang="zh-CN" altLang="en-US" sz="1600" dirty="0" smtClean="0">
                <a:latin typeface="+mj-ea"/>
                <a:ea typeface="+mj-ea"/>
              </a:rPr>
              <a:t>功能介绍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628650" lvl="1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Image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：标记为已验证状态，背景会被改变；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Label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：对标注错误的标签进行修改；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：可将难以分辨的选框标签标注为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模式，在训练的时候我们可以对这些标签选择用还是不用。此选项对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格式不起作用；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default label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：如果我们在数据集中只标注一种标签，比如“桌子”，可以使用此选项为选框自动标注成“桌子”。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LabelImg</a:t>
            </a:r>
            <a:r>
              <a:rPr lang="zh-CN" altLang="en-US" dirty="0"/>
              <a:t>工具使用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339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LabelImg</a:t>
            </a:r>
            <a:r>
              <a:rPr lang="zh-CN" altLang="en-US" sz="1600" dirty="0" smtClean="0">
                <a:latin typeface="+mj-ea"/>
                <a:ea typeface="+mj-ea"/>
              </a:rPr>
              <a:t>功能介绍：快捷键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75360" y="1707969"/>
          <a:ext cx="6096000" cy="292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2628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快捷键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说明</a:t>
                      </a:r>
                      <a:endParaRPr lang="zh-CN" altLang="en-US" sz="1200" dirty="0"/>
                    </a:p>
                  </a:txBody>
                  <a:tcPr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Ctrl + u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打开文件夹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Ctrl + r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更改保存路径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Ctrl + s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保存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Ctrl + d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复制选框和标签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Space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标记为已验证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w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创建选框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d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下一张图片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 smtClean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a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上一张图片图片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 smtClean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del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删除选框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 smtClean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Ctrl+</a:t>
                      </a:r>
                      <a:r>
                        <a:rPr lang="en-US" altLang="zh-CN" sz="1200" b="0" baseline="0" dirty="0" smtClean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  +/-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放大</a:t>
                      </a:r>
                      <a:r>
                        <a:rPr lang="en-US" altLang="zh-CN" sz="1200" b="0" dirty="0" smtClean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缩小图片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 smtClean="0">
                          <a:solidFill>
                            <a:srgbClr val="333333"/>
                          </a:solidFill>
                          <a:latin typeface="Times New Roman" panose="02020603050405020304" charset="-122"/>
                        </a:rPr>
                        <a:t>↑→↓←</a:t>
                      </a:r>
                      <a:endParaRPr lang="en-US" altLang="en-US" sz="1200" b="0" dirty="0" smtClean="0">
                        <a:solidFill>
                          <a:srgbClr val="333333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移动选框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LabelImg</a:t>
            </a:r>
            <a:r>
              <a:rPr lang="zh-CN" altLang="en-US" dirty="0"/>
              <a:t>工具使用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339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LabelImg</a:t>
            </a:r>
            <a:r>
              <a:rPr lang="zh-CN" altLang="en-US" sz="1600" dirty="0" smtClean="0">
                <a:latin typeface="+mj-ea"/>
                <a:ea typeface="+mj-ea"/>
              </a:rPr>
              <a:t>标注人脸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498" y="1577340"/>
            <a:ext cx="5917474" cy="3166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331" y="1642653"/>
            <a:ext cx="3116840" cy="2619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LabelImg</a:t>
            </a:r>
            <a:r>
              <a:rPr lang="zh-CN" altLang="en-US" dirty="0"/>
              <a:t>工具使用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339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LabelImg</a:t>
            </a:r>
            <a:r>
              <a:rPr lang="zh-CN" altLang="en-US" sz="1600" dirty="0" smtClean="0">
                <a:latin typeface="+mj-ea"/>
                <a:ea typeface="+mj-ea"/>
              </a:rPr>
              <a:t>标注人脸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543" y="1776549"/>
            <a:ext cx="3116840" cy="2619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55" y="1776549"/>
            <a:ext cx="3680358" cy="134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68769" y="762697"/>
            <a:ext cx="5214594" cy="189271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dirty="0" err="1" smtClean="0"/>
              <a:t>Labelme</a:t>
            </a:r>
            <a:r>
              <a:rPr lang="zh-CN" altLang="en-US" dirty="0" smtClean="0"/>
              <a:t>工具使用</a:t>
            </a:r>
            <a:endParaRPr lang="zh-CN" altLang="en-US" dirty="0"/>
          </a:p>
        </p:txBody>
      </p:sp>
      <p:sp>
        <p:nvSpPr>
          <p:cNvPr id="4" name="MH_Number_3"/>
          <p:cNvSpPr/>
          <p:nvPr>
            <p:custDataLst>
              <p:tags r:id="rId1"/>
            </p:custDataLst>
          </p:nvPr>
        </p:nvSpPr>
        <p:spPr>
          <a:xfrm>
            <a:off x="804414" y="1532153"/>
            <a:ext cx="429981" cy="430004"/>
          </a:xfrm>
          <a:prstGeom prst="ellipse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sz="2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Labelme</a:t>
            </a:r>
            <a:r>
              <a:rPr lang="zh-CN" altLang="en-US" dirty="0" smtClean="0"/>
              <a:t>工具</a:t>
            </a:r>
            <a:r>
              <a:rPr lang="zh-CN" altLang="en-US" dirty="0"/>
              <a:t>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348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Labelme</a:t>
            </a:r>
            <a:r>
              <a:rPr lang="zh-CN" altLang="en-US" sz="1600" dirty="0" smtClean="0">
                <a:latin typeface="+mj-ea"/>
                <a:ea typeface="+mj-ea"/>
              </a:rPr>
              <a:t>操作界面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1" name="图片 10" descr="图片1"/>
          <p:cNvPicPr>
            <a:picLocks noChangeAspect="1"/>
          </p:cNvPicPr>
          <p:nvPr/>
        </p:nvPicPr>
        <p:blipFill>
          <a:blip r:embed="rId1"/>
          <a:srcRect t="9033" b="6559"/>
          <a:stretch>
            <a:fillRect/>
          </a:stretch>
        </p:blipFill>
        <p:spPr>
          <a:xfrm>
            <a:off x="1786766" y="1732859"/>
            <a:ext cx="4286457" cy="2568878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783771" y="1699750"/>
            <a:ext cx="5180860" cy="2540875"/>
            <a:chOff x="2211" y="3277"/>
            <a:chExt cx="10806" cy="5931"/>
          </a:xfrm>
        </p:grpSpPr>
        <p:sp>
          <p:nvSpPr>
            <p:cNvPr id="13" name="文本框 3"/>
            <p:cNvSpPr txBox="1"/>
            <p:nvPr/>
          </p:nvSpPr>
          <p:spPr>
            <a:xfrm>
              <a:off x="2571" y="3277"/>
              <a:ext cx="1669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打开文件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4"/>
            <p:cNvSpPr txBox="1"/>
            <p:nvPr/>
          </p:nvSpPr>
          <p:spPr>
            <a:xfrm>
              <a:off x="2211" y="4068"/>
              <a:ext cx="1990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打开文件夹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文本框 6"/>
            <p:cNvSpPr txBox="1"/>
            <p:nvPr/>
          </p:nvSpPr>
          <p:spPr>
            <a:xfrm>
              <a:off x="2211" y="4860"/>
              <a:ext cx="1990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下一张图片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7"/>
            <p:cNvSpPr txBox="1"/>
            <p:nvPr/>
          </p:nvSpPr>
          <p:spPr>
            <a:xfrm>
              <a:off x="2211" y="5666"/>
              <a:ext cx="1990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上一张图片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9"/>
            <p:cNvSpPr txBox="1"/>
            <p:nvPr/>
          </p:nvSpPr>
          <p:spPr>
            <a:xfrm>
              <a:off x="2596" y="7298"/>
              <a:ext cx="1669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删除文件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0"/>
            <p:cNvSpPr txBox="1"/>
            <p:nvPr/>
          </p:nvSpPr>
          <p:spPr>
            <a:xfrm>
              <a:off x="2892" y="6290"/>
              <a:ext cx="1027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保存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文本框 11"/>
            <p:cNvSpPr txBox="1"/>
            <p:nvPr/>
          </p:nvSpPr>
          <p:spPr>
            <a:xfrm>
              <a:off x="2508" y="8561"/>
              <a:ext cx="1669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编辑选框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文本框 12"/>
            <p:cNvSpPr txBox="1"/>
            <p:nvPr/>
          </p:nvSpPr>
          <p:spPr>
            <a:xfrm>
              <a:off x="2483" y="7914"/>
              <a:ext cx="1669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创建选框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文本框 13"/>
            <p:cNvSpPr txBox="1"/>
            <p:nvPr/>
          </p:nvSpPr>
          <p:spPr>
            <a:xfrm>
              <a:off x="6278" y="3425"/>
              <a:ext cx="1669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复制选框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文本框 14"/>
            <p:cNvSpPr txBox="1"/>
            <p:nvPr/>
          </p:nvSpPr>
          <p:spPr>
            <a:xfrm>
              <a:off x="6278" y="4239"/>
              <a:ext cx="1669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删除选框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文本框 15"/>
            <p:cNvSpPr txBox="1"/>
            <p:nvPr/>
          </p:nvSpPr>
          <p:spPr>
            <a:xfrm>
              <a:off x="6411" y="5666"/>
              <a:ext cx="1669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放大图片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16"/>
            <p:cNvSpPr txBox="1"/>
            <p:nvPr/>
          </p:nvSpPr>
          <p:spPr>
            <a:xfrm>
              <a:off x="6482" y="6677"/>
              <a:ext cx="1669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缩小图片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17"/>
            <p:cNvSpPr txBox="1"/>
            <p:nvPr/>
          </p:nvSpPr>
          <p:spPr>
            <a:xfrm>
              <a:off x="6482" y="7455"/>
              <a:ext cx="2471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最大宽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高显示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文本框 18"/>
            <p:cNvSpPr txBox="1"/>
            <p:nvPr/>
          </p:nvSpPr>
          <p:spPr>
            <a:xfrm>
              <a:off x="6482" y="8102"/>
              <a:ext cx="2311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最大宽度显示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文本框 19"/>
            <p:cNvSpPr txBox="1"/>
            <p:nvPr/>
          </p:nvSpPr>
          <p:spPr>
            <a:xfrm>
              <a:off x="10706" y="5587"/>
              <a:ext cx="1669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标签列表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文本框 20"/>
            <p:cNvSpPr txBox="1"/>
            <p:nvPr/>
          </p:nvSpPr>
          <p:spPr>
            <a:xfrm>
              <a:off x="10706" y="7298"/>
              <a:ext cx="2311" cy="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图片文件列表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Labelme</a:t>
            </a:r>
            <a:r>
              <a:rPr lang="zh-CN" altLang="en-US" dirty="0" smtClean="0"/>
              <a:t>工具</a:t>
            </a:r>
            <a:r>
              <a:rPr lang="zh-CN" altLang="en-US" dirty="0"/>
              <a:t>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838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Labelme</a:t>
            </a:r>
            <a:r>
              <a:rPr lang="zh-CN" altLang="en-US" sz="1600" dirty="0" smtClean="0">
                <a:latin typeface="+mj-ea"/>
                <a:ea typeface="+mj-ea"/>
              </a:rPr>
              <a:t>操作功能介绍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Labelme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除了能够创建多边形选框，还能够创建矩形、圆形、直线、点、曲线等标注区域。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29" name="图片 28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989" y="1785494"/>
            <a:ext cx="2463891" cy="2926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Labelme</a:t>
            </a:r>
            <a:r>
              <a:rPr lang="zh-CN" altLang="en-US" dirty="0" smtClean="0"/>
              <a:t>工具</a:t>
            </a:r>
            <a:r>
              <a:rPr lang="zh-CN" altLang="en-US" dirty="0"/>
              <a:t>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69"/>
            <a:ext cx="7527207" cy="314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Labelme</a:t>
            </a:r>
            <a:r>
              <a:rPr lang="zh-CN" altLang="en-US" sz="1600" dirty="0" smtClean="0">
                <a:latin typeface="+mj-ea"/>
                <a:ea typeface="+mj-ea"/>
              </a:rPr>
              <a:t>标注结果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Labelme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标注的结果自动保存为和图片文件相同文件名的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文件。将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文件转换为数据集步骤如下：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打开命令行窗口；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进入到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文件保存的目录；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使用命令 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labelme_json_to_datasest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文件名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在此目录中生成一个文件夹：文件名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zh-CN"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文件夹中生成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个文件分别是：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img.png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：原始图像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label.png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：标签图像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label_viz.png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：可视化的带标签图像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label_names.txt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：标签列表</a:t>
            </a:r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/>
            <a:endParaRPr lang="zh-CN" altLang="en-US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Labelme</a:t>
            </a:r>
            <a:r>
              <a:rPr lang="zh-CN" altLang="en-US" dirty="0"/>
              <a:t>工具使用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339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Labelme</a:t>
            </a:r>
            <a:r>
              <a:rPr lang="zh-CN" altLang="en-US" sz="1600" dirty="0" smtClean="0">
                <a:latin typeface="+mj-ea"/>
                <a:ea typeface="+mj-ea"/>
              </a:rPr>
              <a:t>快捷键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75360" y="1707969"/>
          <a:ext cx="6096000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2628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+mn-lt"/>
                          <a:ea typeface="+mn-ea"/>
                        </a:rPr>
                        <a:t>快捷键</a:t>
                      </a:r>
                      <a:endParaRPr lang="zh-CN" altLang="en-US" sz="120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+mn-lt"/>
                          <a:ea typeface="+mn-ea"/>
                        </a:rPr>
                        <a:t>说明</a:t>
                      </a:r>
                      <a:endParaRPr lang="zh-CN" altLang="en-US" sz="1200" dirty="0">
                        <a:latin typeface="+mn-lt"/>
                        <a:ea typeface="+mn-ea"/>
                      </a:endParaRPr>
                    </a:p>
                  </a:txBody>
                  <a:tcPr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Ctrl + u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打开文件夹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Ctrl + </a:t>
                      </a:r>
                      <a:r>
                        <a:rPr lang="en-US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o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打开文件</a:t>
                      </a:r>
                      <a:endParaRPr lang="zh-CN" altLang="zh-CN" sz="1200" b="0" dirty="0" smtClean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Ctrl + s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保存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Ctrl + d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复制选框和标签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0" dirty="0" err="1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Ctrl+j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编辑选框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0" dirty="0" err="1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Ctrl+n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创建多边形选框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 err="1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Ctrl+r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创建矩形选框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d/a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下一张图片</a:t>
                      </a:r>
                      <a:r>
                        <a:rPr lang="en-US" altLang="zh-CN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上一张图片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Del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删除选框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</a:tr>
              <a:tr h="23125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Ctrl+</a:t>
                      </a:r>
                      <a:r>
                        <a:rPr lang="en-US" altLang="zh-CN" sz="1200" b="0" baseline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  +/-</a:t>
                      </a:r>
                      <a:endParaRPr lang="en-US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放大</a:t>
                      </a:r>
                      <a:r>
                        <a:rPr lang="en-US" altLang="zh-CN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200" b="0" dirty="0" smtClean="0">
                          <a:solidFill>
                            <a:srgbClr val="333333"/>
                          </a:solidFill>
                          <a:latin typeface="+mn-lt"/>
                          <a:ea typeface="+mn-ea"/>
                        </a:rPr>
                        <a:t>缩小图片</a:t>
                      </a:r>
                      <a:endParaRPr lang="zh-CN" altLang="en-US" sz="1200" b="0" dirty="0">
                        <a:solidFill>
                          <a:srgbClr val="333333"/>
                        </a:solidFill>
                        <a:latin typeface="+mn-lt"/>
                        <a:ea typeface="+mn-ea"/>
                      </a:endParaRPr>
                    </a:p>
                  </a:txBody>
                  <a:tcPr marL="12700" marR="12700" marT="127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Labelme</a:t>
            </a:r>
            <a:r>
              <a:rPr lang="zh-CN" altLang="en-US" dirty="0" smtClean="0"/>
              <a:t>工具</a:t>
            </a:r>
            <a:r>
              <a:rPr lang="zh-CN" altLang="en-US" dirty="0"/>
              <a:t>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339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 err="1" smtClean="0">
                <a:latin typeface="+mj-ea"/>
                <a:ea typeface="+mj-ea"/>
              </a:rPr>
              <a:t>Labelme</a:t>
            </a:r>
            <a:r>
              <a:rPr lang="zh-CN" altLang="en-US" sz="1600" dirty="0" smtClean="0">
                <a:latin typeface="+mj-ea"/>
                <a:ea typeface="+mj-ea"/>
              </a:rPr>
              <a:t>标注</a:t>
            </a:r>
            <a:r>
              <a:rPr lang="zh-CN" altLang="en-US" sz="1600" dirty="0">
                <a:latin typeface="+mj-ea"/>
                <a:ea typeface="+mj-ea"/>
              </a:rPr>
              <a:t>行人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1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打开数据集目录</a:t>
            </a:r>
            <a:endParaRPr lang="en-US" altLang="zh-CN" sz="12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1200" b="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创建选框</a:t>
            </a:r>
            <a:endParaRPr lang="en-US" altLang="zh-CN" sz="1200" b="0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lang="zh-CN" altLang="en-US" sz="1200" b="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输入标签名点击</a:t>
            </a:r>
            <a:r>
              <a:rPr lang="en-US" altLang="zh-CN" sz="1200" b="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ok</a:t>
            </a:r>
            <a:endParaRPr lang="en-US" altLang="zh-CN" sz="1200" b="0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r>
              <a:rPr lang="en-US" altLang="zh-CN" sz="1200" b="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 </a:t>
            </a:r>
            <a:r>
              <a:rPr lang="en-US" altLang="zh-CN" sz="1200" b="0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ctrl+s</a:t>
            </a:r>
            <a:r>
              <a:rPr lang="en-US" altLang="zh-CN" sz="1200" b="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1200" b="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保存</a:t>
            </a:r>
            <a:endParaRPr lang="en-US" altLang="zh-CN" sz="1200" b="0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928" y="1577340"/>
            <a:ext cx="4746657" cy="3040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Labelme</a:t>
            </a:r>
            <a:r>
              <a:rPr lang="zh-CN" altLang="en-US" dirty="0" smtClean="0"/>
              <a:t>工具</a:t>
            </a:r>
            <a:r>
              <a:rPr lang="zh-CN" altLang="en-US" dirty="0"/>
              <a:t>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1073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+mj-ea"/>
                <a:ea typeface="+mj-ea"/>
              </a:rPr>
              <a:t>JSON</a:t>
            </a:r>
            <a:r>
              <a:rPr lang="zh-CN" altLang="en-US" sz="1600" dirty="0">
                <a:latin typeface="+mj-ea"/>
                <a:ea typeface="+mj-ea"/>
              </a:rPr>
              <a:t>文件转换为数据</a:t>
            </a:r>
            <a:r>
              <a:rPr lang="zh-CN" altLang="en-US" sz="1600" dirty="0" smtClean="0">
                <a:latin typeface="+mj-ea"/>
                <a:ea typeface="+mj-ea"/>
              </a:rPr>
              <a:t>集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60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grpSp>
        <p:nvGrpSpPr>
          <p:cNvPr id="8" name="组合 7"/>
          <p:cNvGrpSpPr/>
          <p:nvPr/>
        </p:nvGrpSpPr>
        <p:grpSpPr>
          <a:xfrm>
            <a:off x="1127581" y="1805445"/>
            <a:ext cx="3606100" cy="2764341"/>
            <a:chOff x="10176" y="3415"/>
            <a:chExt cx="6079" cy="466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10177" y="7384"/>
              <a:ext cx="6078" cy="6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0" name="图片 9" descr="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176" y="3415"/>
              <a:ext cx="6078" cy="3969"/>
            </a:xfrm>
            <a:prstGeom prst="rect">
              <a:avLst/>
            </a:prstGeom>
            <a:grpFill/>
          </p:spPr>
        </p:pic>
        <p:sp>
          <p:nvSpPr>
            <p:cNvPr id="11" name="文本框 22"/>
            <p:cNvSpPr txBox="1"/>
            <p:nvPr/>
          </p:nvSpPr>
          <p:spPr>
            <a:xfrm>
              <a:off x="10909" y="7455"/>
              <a:ext cx="4572" cy="555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执行JSON文件命令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Labelme</a:t>
            </a:r>
            <a:r>
              <a:rPr lang="zh-CN" altLang="en-US" dirty="0" smtClean="0"/>
              <a:t>工具</a:t>
            </a:r>
            <a:r>
              <a:rPr lang="zh-CN" altLang="en-US" dirty="0"/>
              <a:t>使用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1073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+mj-ea"/>
                <a:ea typeface="+mj-ea"/>
              </a:rPr>
              <a:t>JSON</a:t>
            </a:r>
            <a:r>
              <a:rPr lang="zh-CN" altLang="en-US" sz="1600" dirty="0">
                <a:latin typeface="+mj-ea"/>
                <a:ea typeface="+mj-ea"/>
              </a:rPr>
              <a:t>文件转换为数据</a:t>
            </a:r>
            <a:r>
              <a:rPr lang="zh-CN" altLang="en-US" sz="1600" dirty="0" smtClean="0">
                <a:latin typeface="+mj-ea"/>
                <a:ea typeface="+mj-ea"/>
              </a:rPr>
              <a:t>集</a:t>
            </a: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60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2" name="图片 11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829" y="1775833"/>
            <a:ext cx="2845593" cy="25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</p:pic>
      <p:pic>
        <p:nvPicPr>
          <p:cNvPr id="13" name="图片 12" descr="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504" y="1775198"/>
            <a:ext cx="5049844" cy="25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</p:pic>
      <p:sp>
        <p:nvSpPr>
          <p:cNvPr id="14" name="文本框 27"/>
          <p:cNvSpPr txBox="1"/>
          <p:nvPr/>
        </p:nvSpPr>
        <p:spPr>
          <a:xfrm>
            <a:off x="809937" y="4340916"/>
            <a:ext cx="2903220" cy="3289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JSON文件夹内容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28"/>
          <p:cNvSpPr txBox="1"/>
          <p:nvPr/>
        </p:nvSpPr>
        <p:spPr>
          <a:xfrm>
            <a:off x="5027607" y="4340916"/>
            <a:ext cx="2903220" cy="3289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JSON文件与原文件对比图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68769" y="762697"/>
            <a:ext cx="5214594" cy="189271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4" name="MH_Number_3"/>
          <p:cNvSpPr/>
          <p:nvPr>
            <p:custDataLst>
              <p:tags r:id="rId1"/>
            </p:custDataLst>
          </p:nvPr>
        </p:nvSpPr>
        <p:spPr>
          <a:xfrm>
            <a:off x="804414" y="1532153"/>
            <a:ext cx="429981" cy="430004"/>
          </a:xfrm>
          <a:prstGeom prst="ellipse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endParaRPr lang="zh-CN" altLang="en-US" sz="2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2510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图像数据标注概述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742950" lvl="1" indent="-285750" algn="just">
              <a:buFont typeface="Wingdings" panose="05000000000000000000" pitchFamily="2" charset="2"/>
              <a:buChar char="p"/>
            </a:pPr>
            <a:r>
              <a:rPr lang="zh-CN" altLang="en-US" sz="1200" b="0" dirty="0" smtClean="0">
                <a:latin typeface="+mj-ea"/>
                <a:ea typeface="+mj-ea"/>
                <a:cs typeface="Times New Roman" panose="02020603050405020304" pitchFamily="18" charset="0"/>
              </a:rPr>
              <a:t>数据标注技术应用非常广泛比如：金融行业、医疗行业、家居行业、安防行业、公共服务、电子商务等。</a:t>
            </a:r>
            <a:endParaRPr lang="en-US" altLang="zh-CN" sz="1200" b="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p"/>
            </a:pPr>
            <a:r>
              <a:rPr lang="zh-CN" altLang="en-US" sz="1200" b="0" dirty="0" smtClean="0">
                <a:latin typeface="+mj-ea"/>
                <a:ea typeface="+mj-ea"/>
              </a:rPr>
              <a:t>在深度学习领域，训练数据对训练结果有种至关重要的影响，在计算机视觉领域，除了公开的数据集之外，对很多应用场景比如：车辆识别、行人识别等都需要专门的数据集做迁移学习或者端到端的训练，这种情况需要大量的训练数据，取得这些数据方法有如下几种</a:t>
            </a:r>
            <a:r>
              <a:rPr lang="en-US" altLang="zh-CN" sz="1200" b="0" dirty="0" smtClean="0">
                <a:latin typeface="+mj-ea"/>
                <a:ea typeface="+mj-ea"/>
              </a:rPr>
              <a:t>:</a:t>
            </a:r>
            <a:endParaRPr lang="en-US" altLang="zh-CN" sz="1200" b="0" dirty="0" smtClean="0">
              <a:latin typeface="+mj-ea"/>
              <a:ea typeface="+mj-ea"/>
            </a:endParaRPr>
          </a:p>
          <a:p>
            <a:pPr lvl="2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0" dirty="0" smtClean="0"/>
              <a:t>人工数据标注</a:t>
            </a:r>
            <a:r>
              <a:rPr lang="en-US" altLang="zh-CN" sz="1200" b="0" dirty="0" smtClean="0"/>
              <a:t>: </a:t>
            </a:r>
            <a:r>
              <a:rPr lang="zh-CN" altLang="en-US" sz="1200" b="0" dirty="0" smtClean="0"/>
              <a:t>结果最可靠</a:t>
            </a:r>
            <a:endParaRPr lang="zh-CN" altLang="en-US" sz="1200" b="0" dirty="0" smtClean="0"/>
          </a:p>
          <a:p>
            <a:pPr lvl="2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0" dirty="0" smtClean="0"/>
              <a:t>自动</a:t>
            </a:r>
            <a:r>
              <a:rPr lang="zh-CN" altLang="en-US" sz="1200" b="0" dirty="0"/>
              <a:t>数据</a:t>
            </a:r>
            <a:r>
              <a:rPr lang="zh-CN" altLang="en-US" sz="1200" b="0" dirty="0" smtClean="0"/>
              <a:t>标注：一般需要二次审核</a:t>
            </a:r>
            <a:endParaRPr lang="zh-CN" altLang="en-US" sz="1200" b="0" dirty="0"/>
          </a:p>
          <a:p>
            <a:pPr lvl="2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0" dirty="0"/>
              <a:t>外包数据</a:t>
            </a:r>
            <a:r>
              <a:rPr lang="zh-CN" altLang="en-US" sz="1200" b="0" dirty="0" smtClean="0"/>
              <a:t>标注：数据泄密与流失风险</a:t>
            </a:r>
            <a:endParaRPr lang="zh-CN" altLang="en-US" sz="1200" b="0" dirty="0"/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医疗影像标注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grpSp>
        <p:nvGrpSpPr>
          <p:cNvPr id="4" name="组合 3"/>
          <p:cNvGrpSpPr/>
          <p:nvPr/>
        </p:nvGrpSpPr>
        <p:grpSpPr>
          <a:xfrm>
            <a:off x="915334" y="1855498"/>
            <a:ext cx="3491879" cy="2339025"/>
            <a:chOff x="2412" y="3868"/>
            <a:chExt cx="7370" cy="478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5" name="矩形 4"/>
            <p:cNvSpPr/>
            <p:nvPr/>
          </p:nvSpPr>
          <p:spPr>
            <a:xfrm>
              <a:off x="2412" y="7817"/>
              <a:ext cx="7369" cy="8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21"/>
            <p:cNvSpPr txBox="1"/>
            <p:nvPr/>
          </p:nvSpPr>
          <p:spPr>
            <a:xfrm>
              <a:off x="3401" y="8008"/>
              <a:ext cx="5390" cy="518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LabelImg标注工具打开医疗影像图片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8" name="图片 7" descr="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12" y="3868"/>
              <a:ext cx="7370" cy="3977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</p:pic>
      </p:grpSp>
      <p:grpSp>
        <p:nvGrpSpPr>
          <p:cNvPr id="9" name="组合 8"/>
          <p:cNvGrpSpPr/>
          <p:nvPr/>
        </p:nvGrpSpPr>
        <p:grpSpPr>
          <a:xfrm>
            <a:off x="4459271" y="1837893"/>
            <a:ext cx="3306151" cy="2356630"/>
            <a:chOff x="10205" y="3832"/>
            <a:chExt cx="6978" cy="4819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" name="矩形 9"/>
            <p:cNvSpPr/>
            <p:nvPr/>
          </p:nvSpPr>
          <p:spPr>
            <a:xfrm>
              <a:off x="10205" y="7817"/>
              <a:ext cx="6977" cy="8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25"/>
            <p:cNvSpPr txBox="1"/>
            <p:nvPr/>
          </p:nvSpPr>
          <p:spPr>
            <a:xfrm>
              <a:off x="11537" y="7959"/>
              <a:ext cx="4572" cy="518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对独立细胞进行标框标注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2" name="图片 11" descr="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06" y="3832"/>
              <a:ext cx="6977" cy="3984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医疗影像标注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grpSp>
        <p:nvGrpSpPr>
          <p:cNvPr id="17" name="组合 16"/>
          <p:cNvGrpSpPr/>
          <p:nvPr/>
        </p:nvGrpSpPr>
        <p:grpSpPr>
          <a:xfrm>
            <a:off x="979714" y="1835338"/>
            <a:ext cx="4533384" cy="2424071"/>
            <a:chOff x="1901" y="3869"/>
            <a:chExt cx="8405" cy="527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8" name="矩形 17"/>
            <p:cNvSpPr/>
            <p:nvPr/>
          </p:nvSpPr>
          <p:spPr>
            <a:xfrm>
              <a:off x="1901" y="8311"/>
              <a:ext cx="8405" cy="8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632" y="8383"/>
              <a:ext cx="5789" cy="764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放大医疗影像图片调整标框标注边框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0" name="图片 19" descr="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01" y="3869"/>
              <a:ext cx="8405" cy="4535"/>
            </a:xfrm>
            <a:prstGeom prst="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</p:pic>
      </p:grpSp>
      <p:grpSp>
        <p:nvGrpSpPr>
          <p:cNvPr id="21" name="组合 20"/>
          <p:cNvGrpSpPr/>
          <p:nvPr/>
        </p:nvGrpSpPr>
        <p:grpSpPr>
          <a:xfrm>
            <a:off x="5810694" y="1835338"/>
            <a:ext cx="1824244" cy="2490309"/>
            <a:chOff x="10815" y="3869"/>
            <a:chExt cx="5121" cy="5276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2" name="矩形 21"/>
            <p:cNvSpPr/>
            <p:nvPr/>
          </p:nvSpPr>
          <p:spPr>
            <a:xfrm>
              <a:off x="10815" y="8311"/>
              <a:ext cx="5113" cy="8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文本框 29"/>
            <p:cNvSpPr txBox="1"/>
            <p:nvPr/>
          </p:nvSpPr>
          <p:spPr>
            <a:xfrm>
              <a:off x="11086" y="8453"/>
              <a:ext cx="4850" cy="665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医疗影像标框标</a:t>
              </a:r>
              <a:r>
                <a:rPr lang="zh-CN" altLang="en-US" sz="1200" b="1" dirty="0" smtClean="0">
                  <a:latin typeface="微软雅黑" panose="020B0503020204020204" charset="-122"/>
                  <a:ea typeface="微软雅黑" panose="020B0503020204020204" charset="-122"/>
                </a:rPr>
                <a:t>注结果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4" name="图片 23" descr="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15" y="3869"/>
              <a:ext cx="5121" cy="4535"/>
            </a:xfrm>
            <a:prstGeom prst="rect">
              <a:avLst/>
            </a:prstGeom>
            <a:grp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遥感影像标注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grpSp>
        <p:nvGrpSpPr>
          <p:cNvPr id="12" name="组合 11"/>
          <p:cNvGrpSpPr/>
          <p:nvPr/>
        </p:nvGrpSpPr>
        <p:grpSpPr>
          <a:xfrm>
            <a:off x="702053" y="1831668"/>
            <a:ext cx="2449600" cy="2553715"/>
            <a:chOff x="2475" y="2494"/>
            <a:chExt cx="4635" cy="4832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3" name="矩形 12"/>
            <p:cNvSpPr/>
            <p:nvPr/>
          </p:nvSpPr>
          <p:spPr>
            <a:xfrm>
              <a:off x="2475" y="6492"/>
              <a:ext cx="4635" cy="8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Labelme标注工具打开遥感影像图片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4" name="图片 13" descr="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75" y="2494"/>
              <a:ext cx="4635" cy="3969"/>
            </a:xfrm>
            <a:prstGeom prst="rect">
              <a:avLst/>
            </a:prstGeom>
            <a:grpFill/>
          </p:spPr>
        </p:pic>
      </p:grpSp>
      <p:grpSp>
        <p:nvGrpSpPr>
          <p:cNvPr id="15" name="组合 14"/>
          <p:cNvGrpSpPr/>
          <p:nvPr/>
        </p:nvGrpSpPr>
        <p:grpSpPr>
          <a:xfrm>
            <a:off x="5771363" y="1831668"/>
            <a:ext cx="2453828" cy="2553715"/>
            <a:chOff x="12122" y="2494"/>
            <a:chExt cx="4643" cy="4832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6" name="矩形 15"/>
            <p:cNvSpPr/>
            <p:nvPr/>
          </p:nvSpPr>
          <p:spPr>
            <a:xfrm>
              <a:off x="12130" y="6492"/>
              <a:ext cx="4635" cy="8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保存多边形区域标注文件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5" name="图片 24" descr="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22" y="2494"/>
              <a:ext cx="4626" cy="3969"/>
            </a:xfrm>
            <a:prstGeom prst="rect">
              <a:avLst/>
            </a:prstGeom>
            <a:grpFill/>
          </p:spPr>
        </p:pic>
      </p:grpSp>
      <p:grpSp>
        <p:nvGrpSpPr>
          <p:cNvPr id="26" name="组合 25"/>
          <p:cNvGrpSpPr/>
          <p:nvPr/>
        </p:nvGrpSpPr>
        <p:grpSpPr>
          <a:xfrm>
            <a:off x="3200153" y="1831668"/>
            <a:ext cx="2449600" cy="2553715"/>
            <a:chOff x="7302" y="2494"/>
            <a:chExt cx="4635" cy="4832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7" name="矩形 26"/>
            <p:cNvSpPr/>
            <p:nvPr/>
          </p:nvSpPr>
          <p:spPr>
            <a:xfrm>
              <a:off x="7302" y="6492"/>
              <a:ext cx="4635" cy="8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对不同土地性质的区域进行</a:t>
              </a:r>
              <a:endPara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多边形区域标注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8" name="图片 27" descr="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3" y="2494"/>
              <a:ext cx="4574" cy="3969"/>
            </a:xfrm>
            <a:prstGeom prst="rect">
              <a:avLst/>
            </a:prstGeom>
            <a:grp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遥感影像标注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grpSp>
        <p:nvGrpSpPr>
          <p:cNvPr id="17" name="组合 16"/>
          <p:cNvGrpSpPr/>
          <p:nvPr/>
        </p:nvGrpSpPr>
        <p:grpSpPr>
          <a:xfrm>
            <a:off x="581557" y="2493609"/>
            <a:ext cx="3380527" cy="1091600"/>
            <a:chOff x="576" y="5480"/>
            <a:chExt cx="7111" cy="2587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8" name="矩形 17"/>
            <p:cNvSpPr/>
            <p:nvPr/>
          </p:nvSpPr>
          <p:spPr>
            <a:xfrm>
              <a:off x="576" y="7181"/>
              <a:ext cx="7081" cy="8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文本框 21"/>
            <p:cNvSpPr txBox="1"/>
            <p:nvPr/>
          </p:nvSpPr>
          <p:spPr>
            <a:xfrm>
              <a:off x="576" y="7323"/>
              <a:ext cx="6057" cy="744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执行labelme_json_to_dataset命令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0" name="图片 19" descr="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6" y="5480"/>
              <a:ext cx="7111" cy="1701"/>
            </a:xfrm>
            <a:prstGeom prst="rect">
              <a:avLst/>
            </a:prstGeom>
            <a:grpFill/>
          </p:spPr>
        </p:pic>
      </p:grpSp>
      <p:grpSp>
        <p:nvGrpSpPr>
          <p:cNvPr id="21" name="组合 20"/>
          <p:cNvGrpSpPr/>
          <p:nvPr/>
        </p:nvGrpSpPr>
        <p:grpSpPr>
          <a:xfrm>
            <a:off x="4049319" y="2528475"/>
            <a:ext cx="2657928" cy="929991"/>
            <a:chOff x="8012" y="5818"/>
            <a:chExt cx="5591" cy="2204"/>
          </a:xfrm>
          <a:solidFill>
            <a:schemeClr val="accent3">
              <a:lumMod val="60000"/>
              <a:lumOff val="40000"/>
            </a:schemeClr>
          </a:solidFill>
        </p:grpSpPr>
        <p:pic>
          <p:nvPicPr>
            <p:cNvPr id="22" name="图片 21" descr="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12" y="5818"/>
              <a:ext cx="5590" cy="1205"/>
            </a:xfrm>
            <a:prstGeom prst="rect">
              <a:avLst/>
            </a:prstGeom>
            <a:grpFill/>
          </p:spPr>
        </p:pic>
        <p:sp>
          <p:nvSpPr>
            <p:cNvPr id="23" name="矩形 22"/>
            <p:cNvSpPr/>
            <p:nvPr/>
          </p:nvSpPr>
          <p:spPr>
            <a:xfrm>
              <a:off x="8012" y="7181"/>
              <a:ext cx="5591" cy="8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28"/>
            <p:cNvSpPr txBox="1"/>
            <p:nvPr/>
          </p:nvSpPr>
          <p:spPr>
            <a:xfrm>
              <a:off x="8522" y="7323"/>
              <a:ext cx="4572" cy="699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JSON文件夹内容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758114" y="1380332"/>
            <a:ext cx="1937706" cy="2318648"/>
            <a:chOff x="13919" y="3097"/>
            <a:chExt cx="4076" cy="5495"/>
          </a:xfrm>
          <a:solidFill>
            <a:schemeClr val="accent3">
              <a:lumMod val="60000"/>
              <a:lumOff val="40000"/>
            </a:schemeClr>
          </a:solidFill>
        </p:grpSpPr>
        <p:pic>
          <p:nvPicPr>
            <p:cNvPr id="30" name="图片 29" descr="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19" y="3097"/>
              <a:ext cx="4076" cy="4084"/>
            </a:xfrm>
            <a:prstGeom prst="rect">
              <a:avLst/>
            </a:prstGeom>
            <a:grpFill/>
          </p:spPr>
        </p:pic>
        <p:sp>
          <p:nvSpPr>
            <p:cNvPr id="31" name="矩形 30"/>
            <p:cNvSpPr/>
            <p:nvPr/>
          </p:nvSpPr>
          <p:spPr>
            <a:xfrm>
              <a:off x="13919" y="7181"/>
              <a:ext cx="4076" cy="8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6"/>
            <p:cNvSpPr txBox="1"/>
            <p:nvPr/>
          </p:nvSpPr>
          <p:spPr>
            <a:xfrm>
              <a:off x="13919" y="7323"/>
              <a:ext cx="4076" cy="1269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标注文件与原始图片的对比图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车牌图像标注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432" y="1878247"/>
            <a:ext cx="7225385" cy="2393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车牌图像标注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975" y="1785733"/>
            <a:ext cx="6888475" cy="273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车牌图像分类标注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21" y="1835150"/>
            <a:ext cx="6638925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车牌图像分类标注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14" y="1767840"/>
            <a:ext cx="6275547" cy="279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车牌图像分类标注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1847392"/>
            <a:ext cx="7515225" cy="2496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人像数据标注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0" indent="0" algn="just"/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1708660"/>
            <a:ext cx="7886700" cy="2512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行人图像标注</a:t>
            </a:r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1708660"/>
            <a:ext cx="7594600" cy="2493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+mj-ea"/>
                <a:ea typeface="+mj-ea"/>
              </a:rPr>
              <a:t>人</a:t>
            </a:r>
            <a:r>
              <a:rPr lang="zh-CN" altLang="en-US" sz="1600" dirty="0" smtClean="0">
                <a:latin typeface="+mj-ea"/>
                <a:ea typeface="+mj-ea"/>
              </a:rPr>
              <a:t>脸图像标注：标框标注</a:t>
            </a:r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17" y="1796009"/>
            <a:ext cx="6844937" cy="217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标注应用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+mj-ea"/>
                <a:ea typeface="+mj-ea"/>
              </a:rPr>
              <a:t>人</a:t>
            </a:r>
            <a:r>
              <a:rPr lang="zh-CN" altLang="en-US" sz="1600" dirty="0" smtClean="0">
                <a:latin typeface="+mj-ea"/>
                <a:ea typeface="+mj-ea"/>
              </a:rPr>
              <a:t>脸图像标注：标框标注</a:t>
            </a:r>
            <a:endParaRPr lang="en-US" altLang="zh-CN" sz="1200" b="0" dirty="0" smtClean="0">
              <a:latin typeface="+mj-ea"/>
              <a:ea typeface="+mj-ea"/>
            </a:endParaRPr>
          </a:p>
          <a:p>
            <a:pPr marL="457200" lvl="1" indent="0" algn="just"/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92" y="1708660"/>
            <a:ext cx="6929241" cy="2452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68769" y="762697"/>
            <a:ext cx="5214594" cy="189271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dirty="0" smtClean="0"/>
              <a:t>数据标注应用场景</a:t>
            </a:r>
            <a:endParaRPr lang="zh-CN" altLang="en-US" dirty="0"/>
          </a:p>
        </p:txBody>
      </p:sp>
      <p:sp>
        <p:nvSpPr>
          <p:cNvPr id="4" name="MH_Number_3"/>
          <p:cNvSpPr/>
          <p:nvPr>
            <p:custDataLst>
              <p:tags r:id="rId1"/>
            </p:custDataLst>
          </p:nvPr>
        </p:nvSpPr>
        <p:spPr>
          <a:xfrm>
            <a:off x="804414" y="1532153"/>
            <a:ext cx="429981" cy="430004"/>
          </a:xfrm>
          <a:prstGeom prst="ellipse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endParaRPr lang="zh-CN" altLang="en-US" sz="2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数据标注应用场景</a:t>
            </a:r>
            <a:endParaRPr lang="zh-CN" altLang="en-US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0" y="1238270"/>
            <a:ext cx="7527207" cy="470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+mj-ea"/>
                <a:ea typeface="+mj-ea"/>
              </a:rPr>
              <a:t>交通出行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 algn="just">
              <a:buFont typeface="Wingdings" panose="05000000000000000000" pitchFamily="2" charset="2"/>
              <a:buChar char="n"/>
            </a:pPr>
            <a:endParaRPr lang="en-US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zh-CN" alt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US" altLang="zh-CN" sz="1400" b="0" dirty="0" smtClean="0">
              <a:latin typeface="+mj-ea"/>
              <a:ea typeface="+mj-ea"/>
            </a:endParaRPr>
          </a:p>
          <a:p>
            <a:pPr marL="0" indent="0"/>
            <a:endParaRPr lang="en-US" altLang="zh-CN" sz="1500" b="0" dirty="0" smtClean="0"/>
          </a:p>
          <a:p>
            <a:pPr marL="0" indent="360045" algn="just">
              <a:lnSpc>
                <a:spcPct val="150000"/>
              </a:lnSpc>
            </a:pPr>
            <a:endParaRPr lang="en-US" altLang="zh-CN" sz="1500" b="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51" y="1712874"/>
            <a:ext cx="3978425" cy="2237740"/>
          </a:xfrm>
          <a:prstGeom prst="rect">
            <a:avLst/>
          </a:prstGeom>
        </p:spPr>
      </p:pic>
      <p:sp>
        <p:nvSpPr>
          <p:cNvPr id="7" name="文本占位符 7"/>
          <p:cNvSpPr txBox="1"/>
          <p:nvPr/>
        </p:nvSpPr>
        <p:spPr>
          <a:xfrm>
            <a:off x="5015131" y="1708660"/>
            <a:ext cx="3893737" cy="2367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0C4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常见应用：</a:t>
            </a:r>
            <a:endParaRPr lang="en-US" altLang="zh-CN" sz="1600" b="1" dirty="0">
              <a:solidFill>
                <a:srgbClr val="0C44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以矩形框或描点对车辆进行标注；以矩形框或描点标注人体轮廊；采集地址兴趣点，在地图上做出相应地理位置信息标记的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 of Interest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）标记等。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548382" y="1252061"/>
            <a:ext cx="6171395" cy="3220547"/>
          </a:xfrm>
        </p:spPr>
        <p:txBody>
          <a:bodyPr/>
          <a:lstStyle/>
          <a:p>
            <a:pPr marL="28829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 smtClean="0">
                <a:latin typeface="+mn-ea"/>
              </a:rPr>
              <a:t>本章介绍了两种数据标注常用工具的环境安装和使用，重点掌握</a:t>
            </a:r>
            <a:r>
              <a:rPr lang="en-US" altLang="zh-CN" sz="1400" b="0" dirty="0" err="1" smtClean="0">
                <a:latin typeface="+mn-ea"/>
              </a:rPr>
              <a:t>labelImg</a:t>
            </a:r>
            <a:r>
              <a:rPr lang="zh-CN" altLang="en-US" sz="1400" b="0" dirty="0" smtClean="0">
                <a:latin typeface="+mn-ea"/>
              </a:rPr>
              <a:t>即可。</a:t>
            </a:r>
            <a:endParaRPr lang="en-US" altLang="zh-CN" sz="1400" b="0" dirty="0" smtClean="0">
              <a:latin typeface="+mn-ea"/>
            </a:endParaRPr>
          </a:p>
          <a:p>
            <a:pPr marL="28829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 smtClean="0">
                <a:latin typeface="+mn-ea"/>
              </a:rPr>
              <a:t>数据标注应用场景非常广泛，比如：交通出行、金融行业、医疗行业、家居行业、安防行业、公共服务、电子商务</a:t>
            </a:r>
            <a:endParaRPr lang="en-US" altLang="zh-CN" sz="1400" b="0" dirty="0" smtClean="0">
              <a:latin typeface="+mn-ea"/>
            </a:endParaRPr>
          </a:p>
          <a:p>
            <a:pPr marL="28829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 smtClean="0">
                <a:latin typeface="+mn-ea"/>
              </a:rPr>
              <a:t>高质量的数据越多，智能越好。</a:t>
            </a:r>
            <a:endParaRPr lang="en-US" altLang="zh-CN" sz="1400" b="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Textfeld 50"/>
          <p:cNvSpPr txBox="1">
            <a:spLocks noChangeArrowheads="1"/>
          </p:cNvSpPr>
          <p:nvPr/>
        </p:nvSpPr>
        <p:spPr bwMode="auto">
          <a:xfrm>
            <a:off x="1341240" y="2280048"/>
            <a:ext cx="6184106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改变生活</a:t>
            </a:r>
            <a:endParaRPr lang="zh-CN" altLang="en-US" sz="1400" b="1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94" name="Textfeld 33"/>
          <p:cNvSpPr txBox="1">
            <a:spLocks noChangeArrowheads="1"/>
          </p:cNvSpPr>
          <p:nvPr/>
        </p:nvSpPr>
        <p:spPr bwMode="auto">
          <a:xfrm>
            <a:off x="1339454" y="994173"/>
            <a:ext cx="6187678" cy="1177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de-DE" altLang="zh-CN" sz="3600" dirty="0">
              <a:solidFill>
                <a:srgbClr val="0065FA"/>
              </a:solidFill>
              <a:latin typeface="Century Gothic" panose="020B0502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de-DE" altLang="zh-CN" sz="3600" b="1" dirty="0" err="1">
                <a:solidFill>
                  <a:srgbClr val="2473D4"/>
                </a:solidFill>
                <a:latin typeface="Century Gothic" panose="020B0502020202020204" pitchFamily="34" charset="0"/>
              </a:rPr>
              <a:t>Thank</a:t>
            </a:r>
            <a:r>
              <a:rPr lang="de-DE" altLang="zh-CN" sz="3600" b="1" dirty="0">
                <a:solidFill>
                  <a:srgbClr val="2473D4"/>
                </a:solidFill>
                <a:latin typeface="Century Gothic" panose="020B0502020202020204" pitchFamily="34" charset="0"/>
              </a:rPr>
              <a:t> </a:t>
            </a:r>
            <a:r>
              <a:rPr lang="de-DE" altLang="zh-CN" sz="3600" b="1" dirty="0" err="1">
                <a:solidFill>
                  <a:srgbClr val="2473D4"/>
                </a:solidFill>
                <a:latin typeface="Century Gothic" panose="020B0502020202020204" pitchFamily="34" charset="0"/>
              </a:rPr>
              <a:t>You</a:t>
            </a:r>
            <a:endParaRPr lang="de-DE" altLang="zh-CN" sz="3600" dirty="0">
              <a:solidFill>
                <a:srgbClr val="2473D4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4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6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7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8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9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10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11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12.xml><?xml version="1.0" encoding="utf-8"?>
<p:tagLst xmlns:p="http://schemas.openxmlformats.org/presentationml/2006/main">
  <p:tag name="REFSHAPE" val="357910116"/>
  <p:tag name="KSO_WM_UNIT_PLACING_PICTURE_USER_VIEWPORT" val="{&quot;height&quot;:6600,&quot;width&quot;:17340}"/>
</p:tagLst>
</file>

<file path=ppt/tags/tag13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14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15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16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3817</Words>
  <Application>WPS 演示</Application>
  <PresentationFormat>全屏显示(16:9)</PresentationFormat>
  <Paragraphs>667</Paragraphs>
  <Slides>52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7" baseType="lpstr">
      <vt:lpstr>Arial</vt:lpstr>
      <vt:lpstr>宋体</vt:lpstr>
      <vt:lpstr>Wingdings</vt:lpstr>
      <vt:lpstr>Calibri</vt:lpstr>
      <vt:lpstr>Calibri Light</vt:lpstr>
      <vt:lpstr>Times New Roman</vt:lpstr>
      <vt:lpstr>微软雅黑</vt:lpstr>
      <vt:lpstr>Century Gothic</vt:lpstr>
      <vt:lpstr>Yu Gothic UI</vt:lpstr>
      <vt:lpstr>等线</vt:lpstr>
      <vt:lpstr>Times New Roman</vt:lpstr>
      <vt:lpstr>黑体</vt:lpstr>
      <vt:lpstr>Arial Unicode MS</vt:lpstr>
      <vt:lpstr>Times New Roman</vt:lpstr>
      <vt:lpstr>Office 主题</vt:lpstr>
      <vt:lpstr>PowerPoint 演示文稿</vt:lpstr>
      <vt:lpstr>PowerPoint 演示文稿</vt:lpstr>
      <vt:lpstr>教学目标和重难点</vt:lpstr>
      <vt:lpstr>数据标注环境搭建</vt:lpstr>
      <vt:lpstr>数据标注环境搭建</vt:lpstr>
      <vt:lpstr>数据标注环境搭建</vt:lpstr>
      <vt:lpstr>数据标注环境搭建</vt:lpstr>
      <vt:lpstr>数据标注环境搭建</vt:lpstr>
      <vt:lpstr>数据标注环境搭建</vt:lpstr>
      <vt:lpstr>数据标注环境搭建</vt:lpstr>
      <vt:lpstr>数据标注环境搭建</vt:lpstr>
      <vt:lpstr>数据标注环境搭建</vt:lpstr>
      <vt:lpstr>数据标注环境搭建</vt:lpstr>
      <vt:lpstr>数据标注环境搭建</vt:lpstr>
      <vt:lpstr>数据标注环境搭建</vt:lpstr>
      <vt:lpstr>数据标注环境搭建</vt:lpstr>
      <vt:lpstr>数据标注环境搭建</vt:lpstr>
      <vt:lpstr>LabelImg工具使用</vt:lpstr>
      <vt:lpstr>LabelImg工具使用</vt:lpstr>
      <vt:lpstr>LabelImg工具使用</vt:lpstr>
      <vt:lpstr>LabelImg工具使用</vt:lpstr>
      <vt:lpstr>LabelImg工具使用</vt:lpstr>
      <vt:lpstr>LabelImg工具使用</vt:lpstr>
      <vt:lpstr>LabelImg工具使用</vt:lpstr>
      <vt:lpstr>LabelImg工具使用</vt:lpstr>
      <vt:lpstr>Labelme工具使用</vt:lpstr>
      <vt:lpstr>Labelme工具使用</vt:lpstr>
      <vt:lpstr>Labelme工具使用</vt:lpstr>
      <vt:lpstr>Labelme工具使用</vt:lpstr>
      <vt:lpstr>Labelme工具使用</vt:lpstr>
      <vt:lpstr>Labelme工具使用</vt:lpstr>
      <vt:lpstr>Labelme工具使用</vt:lpstr>
      <vt:lpstr>Labelme工具使用</vt:lpstr>
      <vt:lpstr>标注应用</vt:lpstr>
      <vt:lpstr>标注应用</vt:lpstr>
      <vt:lpstr>标注应用</vt:lpstr>
      <vt:lpstr>标注应用</vt:lpstr>
      <vt:lpstr>标注应用</vt:lpstr>
      <vt:lpstr>标注应用</vt:lpstr>
      <vt:lpstr>标注应用</vt:lpstr>
      <vt:lpstr>标注应用</vt:lpstr>
      <vt:lpstr>标注应用</vt:lpstr>
      <vt:lpstr>标注应用</vt:lpstr>
      <vt:lpstr>标注应用</vt:lpstr>
      <vt:lpstr>标注应用</vt:lpstr>
      <vt:lpstr>标注应用</vt:lpstr>
      <vt:lpstr>标注应用</vt:lpstr>
      <vt:lpstr>标注应用</vt:lpstr>
      <vt:lpstr>数据标注应用场景</vt:lpstr>
      <vt:lpstr>数据标注应用场景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正杨</cp:lastModifiedBy>
  <cp:revision>1425</cp:revision>
  <cp:lastPrinted>2017-09-17T08:02:00Z</cp:lastPrinted>
  <dcterms:created xsi:type="dcterms:W3CDTF">2015-02-06T04:35:00Z</dcterms:created>
  <dcterms:modified xsi:type="dcterms:W3CDTF">2024-09-05T00:00:12Z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2052-11.1.0.9021</vt:lpwstr>
  </property>
  <property fmtid="{D5CDD505-2E9C-101B-9397-08002B2CF9AE}" pid="3" name="ICV">
    <vt:lpwstr>F4CD0D09F7AF41D39422C00DD5BCF470</vt:lpwstr>
  </property>
</Properties>
</file>